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36"/>
  </p:notesMasterIdLst>
  <p:sldIdLst>
    <p:sldId id="256" r:id="rId2"/>
    <p:sldId id="299" r:id="rId3"/>
    <p:sldId id="258" r:id="rId4"/>
    <p:sldId id="260" r:id="rId5"/>
    <p:sldId id="259" r:id="rId6"/>
    <p:sldId id="262" r:id="rId7"/>
    <p:sldId id="263" r:id="rId8"/>
    <p:sldId id="270" r:id="rId9"/>
    <p:sldId id="271" r:id="rId10"/>
    <p:sldId id="272" r:id="rId11"/>
    <p:sldId id="273" r:id="rId12"/>
    <p:sldId id="274" r:id="rId13"/>
    <p:sldId id="275" r:id="rId14"/>
    <p:sldId id="276" r:id="rId15"/>
    <p:sldId id="278" r:id="rId16"/>
    <p:sldId id="279" r:id="rId17"/>
    <p:sldId id="280" r:id="rId18"/>
    <p:sldId id="281" r:id="rId19"/>
    <p:sldId id="282" r:id="rId20"/>
    <p:sldId id="284" r:id="rId21"/>
    <p:sldId id="285" r:id="rId22"/>
    <p:sldId id="287" r:id="rId23"/>
    <p:sldId id="288" r:id="rId24"/>
    <p:sldId id="290" r:id="rId25"/>
    <p:sldId id="303" r:id="rId26"/>
    <p:sldId id="293" r:id="rId27"/>
    <p:sldId id="294" r:id="rId28"/>
    <p:sldId id="295" r:id="rId29"/>
    <p:sldId id="297" r:id="rId30"/>
    <p:sldId id="298" r:id="rId31"/>
    <p:sldId id="296" r:id="rId32"/>
    <p:sldId id="302" r:id="rId33"/>
    <p:sldId id="283" r:id="rId34"/>
    <p:sldId id="27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81477" autoAdjust="0"/>
  </p:normalViewPr>
  <p:slideViewPr>
    <p:cSldViewPr snapToGrid="0">
      <p:cViewPr varScale="1">
        <p:scale>
          <a:sx n="90" d="100"/>
          <a:sy n="90" d="100"/>
        </p:scale>
        <p:origin x="140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FADB-A898-4AB3-B0D3-4F0A43424A9B}" type="datetimeFigureOut">
              <a:rPr lang="en-GB" smtClean="0"/>
              <a:t>09/09/2026</a:t>
            </a:fld>
            <a:endParaRPr lang="en-GB"/>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788A2B-3E54-474E-A563-8EF0DB319102}" type="slidenum">
              <a:rPr lang="en-GB" smtClean="0"/>
              <a:t>‹Nº›</a:t>
            </a:fld>
            <a:endParaRPr lang="en-GB"/>
          </a:p>
        </p:txBody>
      </p:sp>
    </p:spTree>
    <p:extLst>
      <p:ext uri="{BB962C8B-B14F-4D97-AF65-F5344CB8AC3E}">
        <p14:creationId xmlns:p14="http://schemas.microsoft.com/office/powerpoint/2010/main" val="118651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Buenas tardes</a:t>
            </a:r>
            <a:endParaRPr lang="en-GB"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1</a:t>
            </a:fld>
            <a:endParaRPr lang="en-GB"/>
          </a:p>
        </p:txBody>
      </p:sp>
    </p:spTree>
    <p:extLst>
      <p:ext uri="{BB962C8B-B14F-4D97-AF65-F5344CB8AC3E}">
        <p14:creationId xmlns:p14="http://schemas.microsoft.com/office/powerpoint/2010/main" val="920673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Estos son los puntos que vamos a tratar</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2</a:t>
            </a:fld>
            <a:endParaRPr lang="en-GB"/>
          </a:p>
        </p:txBody>
      </p:sp>
    </p:spTree>
    <p:extLst>
      <p:ext uri="{BB962C8B-B14F-4D97-AF65-F5344CB8AC3E}">
        <p14:creationId xmlns:p14="http://schemas.microsoft.com/office/powerpoint/2010/main" val="46571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3</a:t>
            </a:fld>
            <a:endParaRPr lang="en-GB"/>
          </a:p>
        </p:txBody>
      </p:sp>
    </p:spTree>
    <p:extLst>
      <p:ext uri="{BB962C8B-B14F-4D97-AF65-F5344CB8AC3E}">
        <p14:creationId xmlns:p14="http://schemas.microsoft.com/office/powerpoint/2010/main" val="293795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noProof="0" dirty="0"/>
              <a:t>1: adquirir una base sólida de todos los conceptos que forman el núcleo del estudio</a:t>
            </a:r>
          </a:p>
          <a:p>
            <a:pPr marL="171450" indent="-171450">
              <a:buFontTx/>
              <a:buChar char="-"/>
            </a:pPr>
            <a:r>
              <a:rPr lang="es-ES" noProof="0" dirty="0"/>
              <a:t>2: profundizar en el estudio de las dos tecnologías de paralelización que se emplearán en el desarrollo del proyecto:</a:t>
            </a:r>
          </a:p>
          <a:p>
            <a:pPr marL="171450" indent="-171450">
              <a:buFontTx/>
              <a:buChar char="-"/>
            </a:pPr>
            <a:r>
              <a:rPr lang="es-ES" dirty="0"/>
              <a:t>3: implementación eficiente y rigurosa de los métodos numéricos y de los problemas seleccionados</a:t>
            </a:r>
          </a:p>
          <a:p>
            <a:pPr marL="171450" indent="-171450">
              <a:buFontTx/>
              <a:buChar char="-"/>
            </a:pPr>
            <a:r>
              <a:rPr lang="es-ES" dirty="0"/>
              <a:t>4: realizar experimentos exhaustivos del rendimiento</a:t>
            </a:r>
          </a:p>
          <a:p>
            <a:pPr marL="171450" indent="-171450">
              <a:buFontTx/>
              <a:buChar char="-"/>
            </a:pPr>
            <a:r>
              <a:rPr lang="es-ES" dirty="0"/>
              <a:t>5: análisis crítico de los resultados obtenidos, evaluando qué conclusiones pueden extraerse.</a:t>
            </a:r>
            <a:endParaRPr lang="es-ES" noProof="0"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4</a:t>
            </a:fld>
            <a:endParaRPr lang="en-GB"/>
          </a:p>
        </p:txBody>
      </p:sp>
    </p:spTree>
    <p:extLst>
      <p:ext uri="{BB962C8B-B14F-4D97-AF65-F5344CB8AC3E}">
        <p14:creationId xmlns:p14="http://schemas.microsoft.com/office/powerpoint/2010/main" val="3300365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métodos numéricos -&gt; conjunto de herramientas matemáticas cuyo propósito es aproximar soluciones allí donde las técnicas analíticas no alcanzan</a:t>
            </a:r>
          </a:p>
          <a:p>
            <a:pPr marL="171450" indent="-171450">
              <a:buFontTx/>
              <a:buChar char="-"/>
            </a:pPr>
            <a:r>
              <a:rPr lang="es-ES" dirty="0"/>
              <a:t>ecuaciones diferenciales -&gt; relación entre una función desconocida y sus derivadas</a:t>
            </a:r>
          </a:p>
          <a:p>
            <a:pPr marL="171450" indent="-171450">
              <a:buFontTx/>
              <a:buChar char="-"/>
            </a:pPr>
            <a:r>
              <a:rPr lang="es-ES" dirty="0"/>
              <a:t>ecuaciones en derivadas parciales -&gt; la función depende de </a:t>
            </a:r>
            <a:r>
              <a:rPr lang="es-ES" b="0" dirty="0"/>
              <a:t>dos o más variables</a:t>
            </a:r>
            <a:r>
              <a:rPr lang="es-ES" dirty="0"/>
              <a:t>, como espacio y tiempo.</a:t>
            </a:r>
          </a:p>
          <a:p>
            <a:pPr marL="171450" indent="-171450">
              <a:buFontTx/>
              <a:buChar char="-"/>
            </a:pPr>
            <a:r>
              <a:rPr lang="es-ES" dirty="0"/>
              <a:t>ecuaciones de advección-reacción-difusión -&gt; que son modelos matemáticos que describen cómo evoluciona en el espacio y en el tiempo una cantidad física, química o biológica cuando está sometida simultáneamente a tres procesos fundamentales: transporte, mezcla y transformación interna.</a:t>
            </a:r>
          </a:p>
          <a:p>
            <a:pPr marL="171450" indent="-171450">
              <a:buFontTx/>
              <a:buChar char="-"/>
            </a:pPr>
            <a:r>
              <a:rPr lang="es-ES" dirty="0"/>
              <a:t>Y si las ecuaciones ARD se discretizan en el espacio, conseguimos los sistemas de Ecuaciones Diferenciales Ordinarias (</a:t>
            </a:r>
            <a:r>
              <a:rPr lang="es-ES" dirty="0" err="1"/>
              <a:t>EDOs</a:t>
            </a:r>
            <a:r>
              <a:rPr lang="es-ES" dirty="0"/>
              <a:t>) que buscamos.</a:t>
            </a:r>
          </a:p>
          <a:p>
            <a:pPr marL="171450" indent="-171450">
              <a:buFontTx/>
              <a:buChar char="-"/>
            </a:pPr>
            <a:r>
              <a:rPr lang="es-ES" dirty="0" err="1"/>
              <a:t>EDOs</a:t>
            </a:r>
            <a:r>
              <a:rPr lang="es-ES" dirty="0"/>
              <a:t> -&gt; contienen derivadas respecto a una sola variable independiente</a:t>
            </a:r>
          </a:p>
          <a:p>
            <a:pPr marL="171450" indent="-171450">
              <a:buFontTx/>
              <a:buChar char="-"/>
            </a:pPr>
            <a:r>
              <a:rPr lang="es-ES" dirty="0"/>
              <a:t>El caso más habitual de EDO suelen ser los Problemas de Valor Inicial (PVI) para </a:t>
            </a:r>
            <a:r>
              <a:rPr lang="es-ES" dirty="0" err="1"/>
              <a:t>EDOs</a:t>
            </a:r>
            <a:r>
              <a:rPr lang="es-ES" dirty="0"/>
              <a:t>. En un PVI no solo se especifica la EDO, sino también el valor de la solución en un punto concreto. Los métodos numéricos toman ese valor inicial y, mediante un proceso iterativo, generan una secuencia de aproximaciones en puntos espaciados en la variable independiente, que representa generalmente el tiempo, y se puede plantear de la siguiente manera [pantalla].</a:t>
            </a:r>
          </a:p>
          <a:p>
            <a:pPr marL="171450" indent="-171450">
              <a:buFontTx/>
              <a:buChar char="-"/>
            </a:pPr>
            <a:r>
              <a:rPr lang="es-ES" dirty="0"/>
              <a:t>En este proceso, discretizamos el dominio de la variable t en N puntos igualmente espaciados. Cuando hablamos de discretización en el tiempo, convertimos ese eje continuo en una sucesión de instantes discretos. La discretización en el tiempo consiste en sustituir el intervalo [t0, </a:t>
            </a:r>
            <a:r>
              <a:rPr lang="es-ES" dirty="0" err="1"/>
              <a:t>tf</a:t>
            </a:r>
            <a:r>
              <a:rPr lang="es-ES" dirty="0"/>
              <a:t>] por una secuencia de puntos t0, t1, ..., </a:t>
            </a:r>
            <a:r>
              <a:rPr lang="es-ES" dirty="0" err="1"/>
              <a:t>tf</a:t>
            </a:r>
            <a:r>
              <a:rPr lang="es-ES" dirty="0"/>
              <a:t> , separados por un tamaño de paso ∆t</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5</a:t>
            </a:fld>
            <a:endParaRPr lang="en-GB"/>
          </a:p>
        </p:txBody>
      </p:sp>
    </p:spTree>
    <p:extLst>
      <p:ext uri="{BB962C8B-B14F-4D97-AF65-F5344CB8AC3E}">
        <p14:creationId xmlns:p14="http://schemas.microsoft.com/office/powerpoint/2010/main" val="2910321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Expresión general. Función incremento</a:t>
            </a:r>
          </a:p>
          <a:p>
            <a:pPr marL="171450" indent="-171450">
              <a:buFontTx/>
              <a:buChar char="-"/>
            </a:pPr>
            <a:r>
              <a:rPr lang="es-ES" dirty="0"/>
              <a:t>Podemos dividir a los métodos para resolver </a:t>
            </a:r>
            <a:r>
              <a:rPr lang="es-ES" dirty="0" err="1"/>
              <a:t>PVIs-EDOs</a:t>
            </a:r>
            <a:r>
              <a:rPr lang="es-ES" dirty="0"/>
              <a:t> en dos grandes grupos, explícitos, e implícitos. La división se hará en función de cómo se consigue el siguiente paso, es decir, de cómo obtenemos y(</a:t>
            </a:r>
            <a:r>
              <a:rPr lang="es-ES" dirty="0" err="1"/>
              <a:t>tn</a:t>
            </a:r>
            <a:r>
              <a:rPr lang="es-ES" dirty="0"/>
              <a:t> + ∆t) = yn+1 a partir de y(</a:t>
            </a:r>
            <a:r>
              <a:rPr lang="es-ES" dirty="0" err="1"/>
              <a:t>tn</a:t>
            </a:r>
            <a:r>
              <a:rPr lang="es-ES" dirty="0"/>
              <a:t>) = </a:t>
            </a:r>
            <a:r>
              <a:rPr lang="es-ES" dirty="0" err="1"/>
              <a:t>yn</a:t>
            </a:r>
            <a:r>
              <a:rPr lang="es-ES" dirty="0"/>
              <a:t>; de si aparecen valores futuros o no en la fórmula que lo calcula.</a:t>
            </a:r>
          </a:p>
          <a:p>
            <a:pPr marL="171450" indent="-171450">
              <a:buFontTx/>
              <a:buChar char="-"/>
            </a:pPr>
            <a:r>
              <a:rPr lang="es-ES" dirty="0"/>
              <a:t>Métodos explícitos: son aquellos en los que el siguiente término se puede obtener directamente, sólo haciendo cálculos con datos de los que ya se dispone. Ejemplos: Euler explícito, Runge-</a:t>
            </a:r>
            <a:r>
              <a:rPr lang="es-ES" dirty="0" err="1"/>
              <a:t>Kutta</a:t>
            </a:r>
            <a:r>
              <a:rPr lang="es-ES" dirty="0"/>
              <a:t> explícito, Adams-Bashforth</a:t>
            </a:r>
          </a:p>
          <a:p>
            <a:pPr marL="171450" indent="-171450">
              <a:buFontTx/>
              <a:buChar char="-"/>
            </a:pPr>
            <a:r>
              <a:rPr lang="es-ES" dirty="0"/>
              <a:t>Métodos Implícitos: aquellos en los que yn+1 sí aparece en la parte de la derecha de la igualdad, lo cuál nos obligaría a resolver una ecuación que podrá ser, o no, lineal, y son más costosos de resolver. Ejemplos: Runge-</a:t>
            </a:r>
            <a:r>
              <a:rPr lang="es-ES" dirty="0" err="1"/>
              <a:t>Kutta</a:t>
            </a:r>
            <a:r>
              <a:rPr lang="es-ES" dirty="0"/>
              <a:t> implícito, Adams-Moulton</a:t>
            </a:r>
          </a:p>
          <a:p>
            <a:pPr marL="171450" indent="-171450">
              <a:buFontTx/>
              <a:buChar char="-"/>
            </a:pPr>
            <a:r>
              <a:rPr lang="es-ES" dirty="0"/>
              <a:t>Métodos de un solo paso: para obtener el siguiente valor con el que se tratará, el siguiente paso, sólo se utiliza información relativa al paso anterior. Ejemplo: Euler </a:t>
            </a:r>
            <a:r>
              <a:rPr lang="es-ES" dirty="0" err="1"/>
              <a:t>eplícito</a:t>
            </a:r>
            <a:r>
              <a:rPr lang="es-ES" dirty="0"/>
              <a:t>, Runge-</a:t>
            </a:r>
            <a:r>
              <a:rPr lang="es-ES" dirty="0" err="1"/>
              <a:t>Kutta</a:t>
            </a:r>
            <a:endParaRPr lang="es-ES" dirty="0"/>
          </a:p>
          <a:p>
            <a:pPr marL="171450" indent="-171450">
              <a:buFontTx/>
              <a:buChar char="-"/>
            </a:pPr>
            <a:r>
              <a:rPr lang="es-ES" dirty="0"/>
              <a:t>Métodos </a:t>
            </a:r>
            <a:r>
              <a:rPr lang="es-ES" dirty="0" err="1"/>
              <a:t>multipaso</a:t>
            </a:r>
            <a:r>
              <a:rPr lang="es-ES" dirty="0"/>
              <a:t>: usan varios valores anteriores de la solución para calcular el siguiente paso en el tiempo, en lugar de basarse solo en el valor actual. Ejemplo: Adams</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6</a:t>
            </a:fld>
            <a:endParaRPr lang="en-GB"/>
          </a:p>
        </p:txBody>
      </p:sp>
    </p:spTree>
    <p:extLst>
      <p:ext uri="{BB962C8B-B14F-4D97-AF65-F5344CB8AC3E}">
        <p14:creationId xmlns:p14="http://schemas.microsoft.com/office/powerpoint/2010/main" val="1620766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Se trata de un método explícito de un solo paso que se construye a partir de una sencilla idea geométrica: aproximar el valor de la solución en cada nodo por el valor que proporciona la recta tangente a la solución trazada desde el punto correspondiente al nodo anterior.</a:t>
            </a:r>
          </a:p>
          <a:p>
            <a:pPr marL="171450" indent="-171450">
              <a:buFontTx/>
              <a:buChar char="-"/>
            </a:pPr>
            <a:r>
              <a:rPr lang="es-ES" dirty="0"/>
              <a:t>Aplicando el método de Euler a un caso práctico del cual sí conocemos la solución analítica, podemos comparar la exactitud de sus resultados.</a:t>
            </a:r>
          </a:p>
          <a:p>
            <a:pPr marL="171450" indent="-171450">
              <a:buFontTx/>
              <a:buChar char="-"/>
            </a:pPr>
            <a:r>
              <a:rPr lang="es-ES" dirty="0"/>
              <a:t>Para este problema, quizás el método numérico que hemos utilizado o el ∆t que hemos considerado no son los más indicados</a:t>
            </a:r>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7</a:t>
            </a:fld>
            <a:endParaRPr lang="en-GB"/>
          </a:p>
        </p:txBody>
      </p:sp>
    </p:spTree>
    <p:extLst>
      <p:ext uri="{BB962C8B-B14F-4D97-AF65-F5344CB8AC3E}">
        <p14:creationId xmlns:p14="http://schemas.microsoft.com/office/powerpoint/2010/main" val="2295040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C0342-CED3-9B78-97D3-4EE962DF84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BC5603-ACD2-D28D-0F00-99BF503E581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DEFA82-8BE3-918E-2D06-B81E246CD4B5}"/>
              </a:ext>
            </a:extLst>
          </p:cNvPr>
          <p:cNvSpPr>
            <a:spLocks noGrp="1"/>
          </p:cNvSpPr>
          <p:nvPr>
            <p:ph type="body" idx="1"/>
          </p:nvPr>
        </p:nvSpPr>
        <p:spPr/>
        <p:txBody>
          <a:bodyPr/>
          <a:lstStyle/>
          <a:p>
            <a:pPr marL="171450" indent="-171450">
              <a:buFontTx/>
              <a:buChar char="-"/>
            </a:pPr>
            <a:r>
              <a:rPr lang="es-ES" dirty="0"/>
              <a:t>En cada uno de los órdenes de la familia de métodos de Runge-</a:t>
            </a:r>
            <a:r>
              <a:rPr lang="es-ES" dirty="0" err="1"/>
              <a:t>Kutta</a:t>
            </a:r>
            <a:r>
              <a:rPr lang="es-ES" dirty="0"/>
              <a:t> resolveremos una serie de etapas intermedias para hallar el valor final. </a:t>
            </a:r>
          </a:p>
          <a:p>
            <a:pPr marL="171450" indent="-171450">
              <a:buFontTx/>
              <a:buChar char="-"/>
            </a:pPr>
            <a:r>
              <a:rPr lang="es-ES" dirty="0"/>
              <a:t>Partiendo de una </a:t>
            </a:r>
            <a:r>
              <a:rPr lang="es-ES" dirty="0" err="1"/>
              <a:t>ecuacion</a:t>
            </a:r>
            <a:r>
              <a:rPr lang="es-ES" dirty="0"/>
              <a:t> </a:t>
            </a:r>
            <a:r>
              <a:rPr lang="es-ES" dirty="0" err="1"/>
              <a:t>dy</a:t>
            </a:r>
            <a:r>
              <a:rPr lang="es-ES" dirty="0"/>
              <a:t>/</a:t>
            </a:r>
            <a:r>
              <a:rPr lang="es-ES" dirty="0" err="1"/>
              <a:t>dt</a:t>
            </a:r>
            <a:r>
              <a:rPr lang="es-ES" dirty="0"/>
              <a:t> = f(</a:t>
            </a:r>
            <a:r>
              <a:rPr lang="es-ES" dirty="0" err="1"/>
              <a:t>tn</a:t>
            </a:r>
            <a:r>
              <a:rPr lang="es-ES" dirty="0"/>
              <a:t>, </a:t>
            </a:r>
            <a:r>
              <a:rPr lang="es-ES" dirty="0" err="1"/>
              <a:t>yn</a:t>
            </a:r>
            <a:r>
              <a:rPr lang="es-ES" dirty="0"/>
              <a:t>), un valor inicial y(t0) = y0, y de un tamaño de paso ∆t &gt; 0, calcularemos iterativamente los valores tal que[PANTALLA]</a:t>
            </a:r>
          </a:p>
          <a:p>
            <a:pPr marL="171450" indent="-171450">
              <a:buFontTx/>
              <a:buChar char="-"/>
            </a:pPr>
            <a:r>
              <a:rPr lang="es-ES" dirty="0"/>
              <a:t>Aplicado en un contexto de programación, tendremos una clase </a:t>
            </a:r>
            <a:r>
              <a:rPr lang="es-ES" dirty="0" err="1"/>
              <a:t>RungeKutta</a:t>
            </a:r>
            <a:r>
              <a:rPr lang="es-ES" dirty="0"/>
              <a:t> con una función principal que aplicará el cálculo y algunas auxiliares que se explicarán más adelante.</a:t>
            </a:r>
          </a:p>
          <a:p>
            <a:pPr marL="171450" indent="-171450">
              <a:buFontTx/>
              <a:buChar char="-"/>
            </a:pPr>
            <a:r>
              <a:rPr lang="es-ES" dirty="0"/>
              <a:t>Como cada evaluación K depende de la anterior, no podremos hacer una operación vectorial en la que se evalúen los cuatro K en paralelo, sino que será en las otras operaciones, las evaluaciones de cada miembro, las sumas, y las multiplicaciones de cada vector, en las que podremos explotar la concurrencia para mejorar las prestaciones de nuestro código. </a:t>
            </a:r>
          </a:p>
        </p:txBody>
      </p:sp>
      <p:sp>
        <p:nvSpPr>
          <p:cNvPr id="4" name="Marcador de número de diapositiva 3">
            <a:extLst>
              <a:ext uri="{FF2B5EF4-FFF2-40B4-BE49-F238E27FC236}">
                <a16:creationId xmlns:a16="http://schemas.microsoft.com/office/drawing/2014/main" id="{D8A1BBCB-DA28-E4E4-D0CC-3C6AD0DB4683}"/>
              </a:ext>
            </a:extLst>
          </p:cNvPr>
          <p:cNvSpPr>
            <a:spLocks noGrp="1"/>
          </p:cNvSpPr>
          <p:nvPr>
            <p:ph type="sldNum" sz="quarter" idx="5"/>
          </p:nvPr>
        </p:nvSpPr>
        <p:spPr/>
        <p:txBody>
          <a:bodyPr/>
          <a:lstStyle/>
          <a:p>
            <a:fld id="{3A788A2B-3E54-474E-A563-8EF0DB319102}" type="slidenum">
              <a:rPr lang="en-GB" smtClean="0"/>
              <a:t>8</a:t>
            </a:fld>
            <a:endParaRPr lang="en-GB"/>
          </a:p>
        </p:txBody>
      </p:sp>
    </p:spTree>
    <p:extLst>
      <p:ext uri="{BB962C8B-B14F-4D97-AF65-F5344CB8AC3E}">
        <p14:creationId xmlns:p14="http://schemas.microsoft.com/office/powerpoint/2010/main" val="1215141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C784B-557A-86D0-7F09-3970D88423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A47D1B-AE94-9A05-A38A-66C4C24360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0865F6-86E0-92E0-102B-CE07134D4195}"/>
              </a:ext>
            </a:extLst>
          </p:cNvPr>
          <p:cNvSpPr>
            <a:spLocks noGrp="1"/>
          </p:cNvSpPr>
          <p:nvPr>
            <p:ph type="body" idx="1"/>
          </p:nvPr>
        </p:nvSpPr>
        <p:spPr/>
        <p:txBody>
          <a:bodyPr/>
          <a:lstStyle/>
          <a:p>
            <a:pPr marL="171450" indent="-171450">
              <a:buFontTx/>
              <a:buChar char="-"/>
            </a:pPr>
            <a:r>
              <a:rPr lang="es-ES" dirty="0"/>
              <a:t>En la familia de métodos de Adams-Bashforth, al ser </a:t>
            </a:r>
            <a:r>
              <a:rPr lang="es-ES" dirty="0" err="1"/>
              <a:t>multipaso</a:t>
            </a:r>
            <a:r>
              <a:rPr lang="es-ES" dirty="0"/>
              <a:t>, sí tendremos en cuenta más puntos, como yn−1 o yn−3, además de </a:t>
            </a:r>
            <a:r>
              <a:rPr lang="es-ES" dirty="0" err="1"/>
              <a:t>yn</a:t>
            </a:r>
            <a:r>
              <a:rPr lang="es-ES" dirty="0"/>
              <a:t>.</a:t>
            </a:r>
          </a:p>
          <a:p>
            <a:pPr marL="171450" indent="-171450">
              <a:buFontTx/>
              <a:buChar char="-"/>
            </a:pPr>
            <a:r>
              <a:rPr lang="es-ES" dirty="0"/>
              <a:t>Para poder aplicar esta fórmula necesitaremos un número determinado de valores de arranque</a:t>
            </a:r>
          </a:p>
          <a:p>
            <a:pPr marL="171450" indent="-171450">
              <a:buFontTx/>
              <a:buChar char="-"/>
            </a:pPr>
            <a:r>
              <a:rPr lang="es-ES" dirty="0"/>
              <a:t>Llevándonos este método a la programación, tendremos una clase Adams-Bashforth con una función aplicar() que se encargará de, primero, realizar un arranque con Runge-</a:t>
            </a:r>
            <a:r>
              <a:rPr lang="es-ES" dirty="0" err="1"/>
              <a:t>Kutta</a:t>
            </a:r>
            <a:r>
              <a:rPr lang="es-ES" dirty="0"/>
              <a:t> de orden 4 y posteriormente poner en funcionamiento un bucle que evalúe la expresión tantas veces como esté establecido</a:t>
            </a:r>
          </a:p>
        </p:txBody>
      </p:sp>
      <p:sp>
        <p:nvSpPr>
          <p:cNvPr id="4" name="Marcador de número de diapositiva 3">
            <a:extLst>
              <a:ext uri="{FF2B5EF4-FFF2-40B4-BE49-F238E27FC236}">
                <a16:creationId xmlns:a16="http://schemas.microsoft.com/office/drawing/2014/main" id="{94788F40-3990-4A30-0589-C912FAD9E1E8}"/>
              </a:ext>
            </a:extLst>
          </p:cNvPr>
          <p:cNvSpPr>
            <a:spLocks noGrp="1"/>
          </p:cNvSpPr>
          <p:nvPr>
            <p:ph type="sldNum" sz="quarter" idx="5"/>
          </p:nvPr>
        </p:nvSpPr>
        <p:spPr/>
        <p:txBody>
          <a:bodyPr/>
          <a:lstStyle/>
          <a:p>
            <a:fld id="{3A788A2B-3E54-474E-A563-8EF0DB319102}" type="slidenum">
              <a:rPr lang="en-GB" smtClean="0"/>
              <a:t>9</a:t>
            </a:fld>
            <a:endParaRPr lang="en-GB"/>
          </a:p>
        </p:txBody>
      </p:sp>
    </p:spTree>
    <p:extLst>
      <p:ext uri="{BB962C8B-B14F-4D97-AF65-F5344CB8AC3E}">
        <p14:creationId xmlns:p14="http://schemas.microsoft.com/office/powerpoint/2010/main" val="3683588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DC67-B69B-97A5-0625-FAB4B95A61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0DA0A4-E3D2-D183-ADD1-4EEBA7966D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7D534C-B66C-866A-F4CD-9A3630D7616D}"/>
              </a:ext>
            </a:extLst>
          </p:cNvPr>
          <p:cNvSpPr>
            <a:spLocks noGrp="1"/>
          </p:cNvSpPr>
          <p:nvPr>
            <p:ph type="body" idx="1"/>
          </p:nvPr>
        </p:nvSpPr>
        <p:spPr/>
        <p:txBody>
          <a:bodyPr/>
          <a:lstStyle/>
          <a:p>
            <a:pPr marL="171450" indent="-171450">
              <a:buFontTx/>
              <a:buChar char="-"/>
            </a:pPr>
            <a:r>
              <a:rPr lang="es-ES" dirty="0"/>
              <a:t>Para resolver este problema utilizaremos un sistema Predictor-Corrector que nos permite afrontar este método numérico como otro explícito más. </a:t>
            </a:r>
          </a:p>
          <a:p>
            <a:pPr marL="171450" indent="-171450">
              <a:buFontTx/>
              <a:buChar char="-"/>
            </a:pPr>
            <a:r>
              <a:rPr lang="es-ES" dirty="0"/>
              <a:t>Un sistema predictor–corrector es una estrategia de integración numérica para resolver ecuaciones diferenciales ordinarias que combina dos métodos distintos: uno predictor, normalmente explícito, que genera una primera aproximación del valor futuro, y uno corrector, normalmente implícito, que refina esa aproximación utilizando información adicional </a:t>
            </a:r>
          </a:p>
          <a:p>
            <a:pPr marL="171450" indent="-171450">
              <a:buFontTx/>
              <a:buChar char="-"/>
            </a:pPr>
            <a:r>
              <a:rPr lang="es-ES" dirty="0"/>
              <a:t>Adams–Bashforth actúa como predictor porque es explícito y utiliza únicamente valores pasados de la derivada. Adams–Moulton actúa como corrector porque su fórmula implícita incorpora la derivada en el punto futuro, lo que mejora la precisión y la estabilidad.</a:t>
            </a:r>
          </a:p>
        </p:txBody>
      </p:sp>
      <p:sp>
        <p:nvSpPr>
          <p:cNvPr id="4" name="Marcador de número de diapositiva 3">
            <a:extLst>
              <a:ext uri="{FF2B5EF4-FFF2-40B4-BE49-F238E27FC236}">
                <a16:creationId xmlns:a16="http://schemas.microsoft.com/office/drawing/2014/main" id="{F7126D3E-6334-C137-EA40-2E4D4A36905E}"/>
              </a:ext>
            </a:extLst>
          </p:cNvPr>
          <p:cNvSpPr>
            <a:spLocks noGrp="1"/>
          </p:cNvSpPr>
          <p:nvPr>
            <p:ph type="sldNum" sz="quarter" idx="5"/>
          </p:nvPr>
        </p:nvSpPr>
        <p:spPr/>
        <p:txBody>
          <a:bodyPr/>
          <a:lstStyle/>
          <a:p>
            <a:fld id="{3A788A2B-3E54-474E-A563-8EF0DB319102}" type="slidenum">
              <a:rPr lang="en-GB" smtClean="0"/>
              <a:t>10</a:t>
            </a:fld>
            <a:endParaRPr lang="en-GB"/>
          </a:p>
        </p:txBody>
      </p:sp>
    </p:spTree>
    <p:extLst>
      <p:ext uri="{BB962C8B-B14F-4D97-AF65-F5344CB8AC3E}">
        <p14:creationId xmlns:p14="http://schemas.microsoft.com/office/powerpoint/2010/main" val="3427045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err="1"/>
              <a:t>SimpleAdvDiff</a:t>
            </a:r>
            <a:r>
              <a:rPr lang="es-ES" dirty="0"/>
              <a:t>: Este problema representa un modelo de advección-difusión unidimensional que se utiliza para describir el transporte de una cantidad dentro de un sistema físico debido tanto a procesos de advección como de difusión</a:t>
            </a:r>
          </a:p>
          <a:p>
            <a:pPr marL="171450" indent="-171450">
              <a:buFontTx/>
              <a:buChar char="-"/>
            </a:pPr>
            <a:r>
              <a:rPr lang="es-ES" dirty="0"/>
              <a:t>AdvDiff1D: Representa un modelo de advección-difusión-reacción</a:t>
            </a:r>
          </a:p>
          <a:p>
            <a:pPr marL="171450" indent="-171450">
              <a:buFontTx/>
              <a:buChar char="-"/>
            </a:pPr>
            <a:r>
              <a:rPr lang="es-ES" dirty="0"/>
              <a:t>Brusselator1D: El sistema </a:t>
            </a:r>
            <a:r>
              <a:rPr lang="es-ES" dirty="0" err="1"/>
              <a:t>Brusselator</a:t>
            </a:r>
            <a:r>
              <a:rPr lang="es-ES" dirty="0"/>
              <a:t>, un tipo de ecuación de reacción–difusión. Este sistema está específicamente diseñado para analizar el comportamiento de sistemas químicos que presentan oscilaciones no lineales. </a:t>
            </a:r>
          </a:p>
          <a:p>
            <a:pPr marL="171450" indent="-171450">
              <a:buFontTx/>
              <a:buChar char="-"/>
            </a:pPr>
            <a:r>
              <a:rPr lang="es-ES" dirty="0"/>
              <a:t>La forma bidimensional del modelo </a:t>
            </a:r>
            <a:r>
              <a:rPr lang="es-ES" dirty="0" err="1"/>
              <a:t>Brusselator</a:t>
            </a:r>
            <a:r>
              <a:rPr lang="es-ES" dirty="0"/>
              <a:t> se asemeja estrechamente a su versión unidimensional, pero incluye un término adicional de forzamiento (reacción)</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11</a:t>
            </a:fld>
            <a:endParaRPr lang="en-GB"/>
          </a:p>
        </p:txBody>
      </p:sp>
    </p:spTree>
    <p:extLst>
      <p:ext uri="{BB962C8B-B14F-4D97-AF65-F5344CB8AC3E}">
        <p14:creationId xmlns:p14="http://schemas.microsoft.com/office/powerpoint/2010/main" val="3306623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9553-10E8-925B-C9E3-A98733442B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E461D9-5923-F91A-88A8-7DF77D1BD2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5713D6-7626-DC65-090C-C601380EECBD}"/>
              </a:ext>
            </a:extLst>
          </p:cNvPr>
          <p:cNvSpPr>
            <a:spLocks noGrp="1"/>
          </p:cNvSpPr>
          <p:nvPr>
            <p:ph type="body" idx="1"/>
          </p:nvPr>
        </p:nvSpPr>
        <p:spPr/>
        <p:txBody>
          <a:bodyPr/>
          <a:lstStyle/>
          <a:p>
            <a:endParaRPr lang="en-GB" dirty="0"/>
          </a:p>
        </p:txBody>
      </p:sp>
      <p:sp>
        <p:nvSpPr>
          <p:cNvPr id="4" name="Marcador de número de diapositiva 3">
            <a:extLst>
              <a:ext uri="{FF2B5EF4-FFF2-40B4-BE49-F238E27FC236}">
                <a16:creationId xmlns:a16="http://schemas.microsoft.com/office/drawing/2014/main" id="{27F197F5-0EE6-F74C-AB9C-9A0017B6BCDD}"/>
              </a:ext>
            </a:extLst>
          </p:cNvPr>
          <p:cNvSpPr>
            <a:spLocks noGrp="1"/>
          </p:cNvSpPr>
          <p:nvPr>
            <p:ph type="sldNum" sz="quarter" idx="5"/>
          </p:nvPr>
        </p:nvSpPr>
        <p:spPr/>
        <p:txBody>
          <a:bodyPr/>
          <a:lstStyle/>
          <a:p>
            <a:fld id="{3A788A2B-3E54-474E-A563-8EF0DB319102}" type="slidenum">
              <a:rPr lang="en-GB" smtClean="0"/>
              <a:t>12</a:t>
            </a:fld>
            <a:endParaRPr lang="en-GB"/>
          </a:p>
        </p:txBody>
      </p:sp>
    </p:spTree>
    <p:extLst>
      <p:ext uri="{BB962C8B-B14F-4D97-AF65-F5344CB8AC3E}">
        <p14:creationId xmlns:p14="http://schemas.microsoft.com/office/powerpoint/2010/main" val="3015737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FE7A9-74D4-897C-11B3-F60FFF743E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621528-31C4-FE17-3626-4E17273759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CEF45D-DE5F-A72F-F149-3CD9BADF4B9E}"/>
              </a:ext>
            </a:extLst>
          </p:cNvPr>
          <p:cNvSpPr>
            <a:spLocks noGrp="1"/>
          </p:cNvSpPr>
          <p:nvPr>
            <p:ph type="body" idx="1"/>
          </p:nvPr>
        </p:nvSpPr>
        <p:spPr/>
        <p:txBody>
          <a:bodyPr/>
          <a:lstStyle/>
          <a:p>
            <a:pPr marL="171450" indent="-171450">
              <a:buFontTx/>
              <a:buChar char="-"/>
            </a:pPr>
            <a:r>
              <a:rPr lang="es-ES" dirty="0" err="1"/>
              <a:t>OpenMP</a:t>
            </a:r>
            <a:r>
              <a:rPr lang="es-ES" dirty="0"/>
              <a:t> es una interfaz de programación paralela para arquitecturas multiprocesador de memoria compartida, diseñado para explotar el paralelismo en </a:t>
            </a:r>
            <a:r>
              <a:rPr lang="es-ES" dirty="0" err="1"/>
              <a:t>CPUs</a:t>
            </a:r>
            <a:r>
              <a:rPr lang="es-ES" dirty="0"/>
              <a:t> multinúcleo </a:t>
            </a:r>
          </a:p>
          <a:p>
            <a:pPr marL="171450" indent="-171450">
              <a:buFontTx/>
              <a:buChar char="-"/>
            </a:pPr>
            <a:r>
              <a:rPr lang="es-ES" dirty="0"/>
              <a:t>Sigue el modelo de ejecución </a:t>
            </a:r>
            <a:r>
              <a:rPr lang="es-ES" dirty="0" err="1"/>
              <a:t>fork</a:t>
            </a:r>
            <a:r>
              <a:rPr lang="es-ES" dirty="0"/>
              <a:t>–</a:t>
            </a:r>
            <a:r>
              <a:rPr lang="es-ES" dirty="0" err="1"/>
              <a:t>join</a:t>
            </a:r>
            <a:r>
              <a:rPr lang="es-ES" dirty="0"/>
              <a:t>, se explica adelante</a:t>
            </a:r>
          </a:p>
          <a:p>
            <a:pPr marL="171450" indent="-171450">
              <a:buFontTx/>
              <a:buChar char="-"/>
            </a:pPr>
            <a:r>
              <a:rPr lang="es-ES" dirty="0"/>
              <a:t>Surge en 1997, cuando Intel impulsa la creación del </a:t>
            </a:r>
            <a:r>
              <a:rPr lang="es-ES" dirty="0" err="1"/>
              <a:t>OpenMP</a:t>
            </a:r>
            <a:r>
              <a:rPr lang="es-ES" dirty="0"/>
              <a:t> </a:t>
            </a:r>
            <a:r>
              <a:rPr lang="es-ES" dirty="0" err="1"/>
              <a:t>Architecture</a:t>
            </a:r>
            <a:r>
              <a:rPr lang="es-ES" dirty="0"/>
              <a:t> </a:t>
            </a:r>
            <a:r>
              <a:rPr lang="es-ES" dirty="0" err="1"/>
              <a:t>Review</a:t>
            </a:r>
            <a:r>
              <a:rPr lang="es-ES" dirty="0"/>
              <a:t> Board </a:t>
            </a:r>
          </a:p>
          <a:p>
            <a:pPr marL="171450" indent="-171450">
              <a:buFontTx/>
              <a:buChar char="-"/>
            </a:pPr>
            <a:r>
              <a:rPr lang="es-ES" dirty="0" err="1"/>
              <a:t>OpenMP</a:t>
            </a:r>
            <a:r>
              <a:rPr lang="es-ES" dirty="0"/>
              <a:t> aprovecha el paralelismo mediante </a:t>
            </a:r>
            <a:r>
              <a:rPr lang="es-ES" dirty="0" err="1"/>
              <a:t>multithreading</a:t>
            </a:r>
            <a:r>
              <a:rPr lang="es-ES" dirty="0"/>
              <a:t>. El funcionamiento es relativamente simple, el programa comienza con un comportamiento secuencial y un hilo maestro. Cuando este hilo se encuentra una región paralela específica con #pragma </a:t>
            </a:r>
            <a:r>
              <a:rPr lang="es-ES" dirty="0" err="1"/>
              <a:t>omp</a:t>
            </a:r>
            <a:r>
              <a:rPr lang="es-ES" dirty="0"/>
              <a:t> </a:t>
            </a:r>
            <a:r>
              <a:rPr lang="es-ES" dirty="0" err="1"/>
              <a:t>parallel</a:t>
            </a:r>
            <a:r>
              <a:rPr lang="es-ES" dirty="0"/>
              <a:t>, se crea un equipo de hilos. Los hilos ejecutan el bloque paralelo de forma concurrente, y al finalizar, los hilos se unen y el control vuelve al maestro</a:t>
            </a:r>
          </a:p>
        </p:txBody>
      </p:sp>
      <p:sp>
        <p:nvSpPr>
          <p:cNvPr id="4" name="Marcador de número de diapositiva 3">
            <a:extLst>
              <a:ext uri="{FF2B5EF4-FFF2-40B4-BE49-F238E27FC236}">
                <a16:creationId xmlns:a16="http://schemas.microsoft.com/office/drawing/2014/main" id="{E88E290F-CB49-070E-671F-5683330DF9F2}"/>
              </a:ext>
            </a:extLst>
          </p:cNvPr>
          <p:cNvSpPr>
            <a:spLocks noGrp="1"/>
          </p:cNvSpPr>
          <p:nvPr>
            <p:ph type="sldNum" sz="quarter" idx="5"/>
          </p:nvPr>
        </p:nvSpPr>
        <p:spPr/>
        <p:txBody>
          <a:bodyPr/>
          <a:lstStyle/>
          <a:p>
            <a:fld id="{3A788A2B-3E54-474E-A563-8EF0DB319102}" type="slidenum">
              <a:rPr lang="en-GB" smtClean="0"/>
              <a:t>13</a:t>
            </a:fld>
            <a:endParaRPr lang="en-GB"/>
          </a:p>
        </p:txBody>
      </p:sp>
    </p:spTree>
    <p:extLst>
      <p:ext uri="{BB962C8B-B14F-4D97-AF65-F5344CB8AC3E}">
        <p14:creationId xmlns:p14="http://schemas.microsoft.com/office/powerpoint/2010/main" val="1225482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D8E2-632F-04A5-C17C-F83D6C7E12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C491D1-4F0A-D3F9-F347-5111F94BC9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E92C1C-E6C5-81D5-256A-74E5F7E8423A}"/>
              </a:ext>
            </a:extLst>
          </p:cNvPr>
          <p:cNvSpPr>
            <a:spLocks noGrp="1"/>
          </p:cNvSpPr>
          <p:nvPr>
            <p:ph type="body" idx="1"/>
          </p:nvPr>
        </p:nvSpPr>
        <p:spPr/>
        <p:txBody>
          <a:bodyPr/>
          <a:lstStyle/>
          <a:p>
            <a:pPr marL="171450" indent="-171450">
              <a:buFontTx/>
              <a:buChar char="-"/>
            </a:pPr>
            <a:r>
              <a:rPr lang="es-ES" dirty="0"/>
              <a:t>CUDA, siglas de Compute </a:t>
            </a:r>
            <a:r>
              <a:rPr lang="es-ES" dirty="0" err="1"/>
              <a:t>Unified</a:t>
            </a:r>
            <a:r>
              <a:rPr lang="es-ES" dirty="0"/>
              <a:t> </a:t>
            </a:r>
            <a:r>
              <a:rPr lang="es-ES" dirty="0" err="1"/>
              <a:t>Device</a:t>
            </a:r>
            <a:r>
              <a:rPr lang="es-ES" dirty="0"/>
              <a:t> </a:t>
            </a:r>
            <a:r>
              <a:rPr lang="es-ES" dirty="0" err="1"/>
              <a:t>Architecture</a:t>
            </a:r>
            <a:r>
              <a:rPr lang="es-ES" dirty="0"/>
              <a:t> es una plataforma de computación paralela y un conjunto de </a:t>
            </a:r>
            <a:r>
              <a:rPr lang="es-ES" dirty="0" err="1"/>
              <a:t>APIs</a:t>
            </a:r>
            <a:r>
              <a:rPr lang="es-ES" dirty="0"/>
              <a:t> desarrollado por NVIDIA para ejecutar código general en sus </a:t>
            </a:r>
            <a:r>
              <a:rPr lang="es-ES" dirty="0" err="1"/>
              <a:t>GPUs</a:t>
            </a:r>
            <a:endParaRPr lang="es-ES" dirty="0"/>
          </a:p>
          <a:p>
            <a:pPr marL="171450" indent="-171450">
              <a:buFontTx/>
              <a:buChar char="-"/>
            </a:pPr>
            <a:r>
              <a:rPr lang="es-ES" dirty="0"/>
              <a:t>La idea principal es permitir que el programador trate a la GPU como un dispositivo de cómputo masivamente paralelo</a:t>
            </a:r>
          </a:p>
          <a:p>
            <a:pPr marL="171450" indent="-171450">
              <a:buFontTx/>
              <a:buChar char="-"/>
            </a:pPr>
            <a:r>
              <a:rPr lang="es-ES" dirty="0"/>
              <a:t>A modo de referencia, los primeros trabajos en los que se utiliza una GPU para cómputo general aparecen a principios de los 2000, en 2004 se crea internamente CUDA, y se lanza oficialmente en 2007</a:t>
            </a:r>
          </a:p>
          <a:p>
            <a:pPr marL="171450" indent="-171450">
              <a:buFontTx/>
              <a:buChar char="-"/>
            </a:pPr>
            <a:r>
              <a:rPr lang="es-ES" dirty="0"/>
              <a:t>CUDA implementa un modelo SIMT, en el cual el programador define una función denominada </a:t>
            </a:r>
            <a:r>
              <a:rPr lang="es-ES" dirty="0" err="1"/>
              <a:t>kernel</a:t>
            </a:r>
            <a:r>
              <a:rPr lang="es-ES" dirty="0"/>
              <a:t> que describe el código de un hilo, que se lanza desde la GPU y se ejecuta de forma concurrente en la GPU usando múltiples hilos. </a:t>
            </a:r>
          </a:p>
          <a:p>
            <a:pPr marL="171450" indent="-171450">
              <a:buFontTx/>
              <a:buChar char="-"/>
            </a:pPr>
            <a:r>
              <a:rPr lang="es-ES" dirty="0"/>
              <a:t>Cada hilo se ejecuta en un Streaming </a:t>
            </a:r>
            <a:r>
              <a:rPr lang="es-ES" dirty="0" err="1"/>
              <a:t>Multiprocessor</a:t>
            </a:r>
            <a:r>
              <a:rPr lang="es-ES" dirty="0"/>
              <a:t> (SM), dentro del cual los hilos se agrupan en </a:t>
            </a:r>
            <a:r>
              <a:rPr lang="es-ES" dirty="0" err="1"/>
              <a:t>warps</a:t>
            </a:r>
            <a:r>
              <a:rPr lang="es-ES" dirty="0"/>
              <a:t> de 32 hilos que se ejecutan físicamente en paralelo utilizando </a:t>
            </a:r>
            <a:r>
              <a:rPr lang="es-ES" dirty="0" err="1"/>
              <a:t>cores</a:t>
            </a:r>
            <a:r>
              <a:rPr lang="es-ES" dirty="0"/>
              <a:t> del multiprocesador. </a:t>
            </a:r>
          </a:p>
          <a:p>
            <a:pPr marL="171450" indent="-171450">
              <a:buFontTx/>
              <a:buChar char="-"/>
            </a:pPr>
            <a:r>
              <a:rPr lang="es-ES" dirty="0"/>
              <a:t>Cuda define un modelo de ejecución heterogéneo: Host: Computador donde se ubica la CPU, donde vive el programa principal, el </a:t>
            </a:r>
            <a:r>
              <a:rPr lang="es-ES" dirty="0" err="1"/>
              <a:t>runtime</a:t>
            </a:r>
            <a:r>
              <a:rPr lang="es-ES" dirty="0"/>
              <a:t> CUDA, y la lógica de control </a:t>
            </a:r>
          </a:p>
          <a:p>
            <a:pPr marL="171450" indent="-171450">
              <a:buFontTx/>
              <a:buChar char="-"/>
            </a:pPr>
            <a:r>
              <a:rPr lang="es-ES" dirty="0" err="1"/>
              <a:t>Device</a:t>
            </a:r>
            <a:r>
              <a:rPr lang="es-ES" dirty="0"/>
              <a:t>: Dispositivo que contiene la GPU, y donde viven los </a:t>
            </a:r>
            <a:r>
              <a:rPr lang="es-ES" dirty="0" err="1"/>
              <a:t>kernels</a:t>
            </a:r>
            <a:r>
              <a:rPr lang="es-ES" dirty="0"/>
              <a:t>, la memoria global, los SM, y los </a:t>
            </a:r>
            <a:r>
              <a:rPr lang="es-ES" dirty="0" err="1"/>
              <a:t>warps</a:t>
            </a:r>
            <a:r>
              <a:rPr lang="es-ES" dirty="0"/>
              <a:t> </a:t>
            </a:r>
          </a:p>
        </p:txBody>
      </p:sp>
      <p:sp>
        <p:nvSpPr>
          <p:cNvPr id="4" name="Marcador de número de diapositiva 3">
            <a:extLst>
              <a:ext uri="{FF2B5EF4-FFF2-40B4-BE49-F238E27FC236}">
                <a16:creationId xmlns:a16="http://schemas.microsoft.com/office/drawing/2014/main" id="{437F9396-A27B-E30B-B27D-388D748DCB9B}"/>
              </a:ext>
            </a:extLst>
          </p:cNvPr>
          <p:cNvSpPr>
            <a:spLocks noGrp="1"/>
          </p:cNvSpPr>
          <p:nvPr>
            <p:ph type="sldNum" sz="quarter" idx="5"/>
          </p:nvPr>
        </p:nvSpPr>
        <p:spPr/>
        <p:txBody>
          <a:bodyPr/>
          <a:lstStyle/>
          <a:p>
            <a:fld id="{3A788A2B-3E54-474E-A563-8EF0DB319102}" type="slidenum">
              <a:rPr lang="en-GB" smtClean="0"/>
              <a:t>14</a:t>
            </a:fld>
            <a:endParaRPr lang="en-GB"/>
          </a:p>
        </p:txBody>
      </p:sp>
    </p:spTree>
    <p:extLst>
      <p:ext uri="{BB962C8B-B14F-4D97-AF65-F5344CB8AC3E}">
        <p14:creationId xmlns:p14="http://schemas.microsoft.com/office/powerpoint/2010/main" val="2370783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F6ED6-4439-335D-7275-DF09084C51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ADE1A1-BE14-C5C8-6582-44273FD678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8E9193-2AAD-F8CA-41A8-99109E86F00C}"/>
              </a:ext>
            </a:extLst>
          </p:cNvPr>
          <p:cNvSpPr>
            <a:spLocks noGrp="1"/>
          </p:cNvSpPr>
          <p:nvPr>
            <p:ph type="body" idx="1"/>
          </p:nvPr>
        </p:nvSpPr>
        <p:spPr/>
        <p:txBody>
          <a:bodyPr/>
          <a:lstStyle/>
          <a:p>
            <a:endParaRPr lang="en-GB" dirty="0"/>
          </a:p>
        </p:txBody>
      </p:sp>
      <p:sp>
        <p:nvSpPr>
          <p:cNvPr id="4" name="Marcador de número de diapositiva 3">
            <a:extLst>
              <a:ext uri="{FF2B5EF4-FFF2-40B4-BE49-F238E27FC236}">
                <a16:creationId xmlns:a16="http://schemas.microsoft.com/office/drawing/2014/main" id="{6103529C-E917-E285-17BD-B8A04EBA608A}"/>
              </a:ext>
            </a:extLst>
          </p:cNvPr>
          <p:cNvSpPr>
            <a:spLocks noGrp="1"/>
          </p:cNvSpPr>
          <p:nvPr>
            <p:ph type="sldNum" sz="quarter" idx="5"/>
          </p:nvPr>
        </p:nvSpPr>
        <p:spPr/>
        <p:txBody>
          <a:bodyPr/>
          <a:lstStyle/>
          <a:p>
            <a:fld id="{3A788A2B-3E54-474E-A563-8EF0DB319102}" type="slidenum">
              <a:rPr lang="en-GB" smtClean="0"/>
              <a:t>15</a:t>
            </a:fld>
            <a:endParaRPr lang="en-GB"/>
          </a:p>
        </p:txBody>
      </p:sp>
    </p:spTree>
    <p:extLst>
      <p:ext uri="{BB962C8B-B14F-4D97-AF65-F5344CB8AC3E}">
        <p14:creationId xmlns:p14="http://schemas.microsoft.com/office/powerpoint/2010/main" val="595440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Como comentamos anteriormente, no nos centraremos en la resolución de los problemas per se, puesto que esta se nos da ya hecha y corregida, sino que nuestros esfuerzos se centrarán en implementar los métodos de resolución en ambas plataformas paralelas, y buscar la máxima eficiencia. Para facilitar la implementación y la cohesión del código, definimos una clase abstracta Problema de la cual heredarán los cuatro problemas</a:t>
            </a:r>
          </a:p>
          <a:p>
            <a:pPr marL="171450" indent="-171450">
              <a:buFontTx/>
              <a:buChar char="-"/>
            </a:pPr>
            <a:r>
              <a:rPr lang="es-ES" dirty="0"/>
              <a:t>El planteamiento que se hace tanto para los problemas como para los métodos es similar, una clase abstracta padre de la cual puedan heredar los métodos y que contenga funciones miembro auxiliares que nos van a facilitar el trabajo con vectores. </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16</a:t>
            </a:fld>
            <a:endParaRPr lang="en-GB"/>
          </a:p>
        </p:txBody>
      </p:sp>
    </p:spTree>
    <p:extLst>
      <p:ext uri="{BB962C8B-B14F-4D97-AF65-F5344CB8AC3E}">
        <p14:creationId xmlns:p14="http://schemas.microsoft.com/office/powerpoint/2010/main" val="1512613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E186A-A7B1-1D6B-A2EA-55AC09C879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81B18D-5FBE-DA8E-1231-8CBBE00DD7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DED90D-5908-E773-ABD4-76D5C526E8A4}"/>
              </a:ext>
            </a:extLst>
          </p:cNvPr>
          <p:cNvSpPr>
            <a:spLocks noGrp="1"/>
          </p:cNvSpPr>
          <p:nvPr>
            <p:ph type="body" idx="1"/>
          </p:nvPr>
        </p:nvSpPr>
        <p:spPr/>
        <p:txBody>
          <a:bodyPr/>
          <a:lstStyle/>
          <a:p>
            <a:pPr marL="171450" indent="-171450">
              <a:buFontTx/>
              <a:buChar char="-"/>
            </a:pPr>
            <a:r>
              <a:rPr lang="es-ES" dirty="0"/>
              <a:t>En esta estrategia buscamos que cada función paralelice su propio trabajo. </a:t>
            </a:r>
          </a:p>
          <a:p>
            <a:pPr marL="171450" indent="-171450">
              <a:buFontTx/>
              <a:buChar char="-"/>
            </a:pPr>
            <a:r>
              <a:rPr lang="es-ES" dirty="0"/>
              <a:t>Cada implementación de algoritmos siguiendo este paradigma de paralelismo por operaciones intentará dividir el trabajo en varias funciones auxiliares. Dentro de cada una de ellas se creará el grupo de hilos, se repartirá el trabajo y una vez finalicen se sincronizará para retornar a la función principal.</a:t>
            </a:r>
          </a:p>
          <a:p>
            <a:pPr marL="171450" indent="-171450">
              <a:buFontTx/>
              <a:buChar char="-"/>
            </a:pPr>
            <a:r>
              <a:rPr lang="es-ES" dirty="0"/>
              <a:t>Esta estrategia trae consigo ventajas como la modularidad, ya que cada operación vectorial es independiente y autocontenida, lo cual facilita la depuración y la legibilidad del código. </a:t>
            </a:r>
          </a:p>
          <a:p>
            <a:pPr marL="171450" indent="-171450">
              <a:buFontTx/>
              <a:buChar char="-"/>
            </a:pPr>
            <a:r>
              <a:rPr lang="es-ES" dirty="0"/>
              <a:t>El principal punto negativo de esta estrategia es que trae consigo un </a:t>
            </a:r>
            <a:r>
              <a:rPr lang="es-ES" dirty="0" err="1"/>
              <a:t>overhead</a:t>
            </a:r>
            <a:r>
              <a:rPr lang="es-ES" dirty="0"/>
              <a:t> alto, ya que cada función tiene una barrera implícita al acabar un </a:t>
            </a:r>
            <a:r>
              <a:rPr lang="es-ES" dirty="0" err="1"/>
              <a:t>parallel</a:t>
            </a:r>
            <a:r>
              <a:rPr lang="es-ES" dirty="0"/>
              <a:t> </a:t>
            </a:r>
            <a:r>
              <a:rPr lang="es-ES" dirty="0" err="1"/>
              <a:t>for</a:t>
            </a:r>
            <a:r>
              <a:rPr lang="es-ES" dirty="0"/>
              <a:t>, en cada iteración del bucle hay varias llamadas a funciones, y el bucle itera un elevado número de veces. Esto equivale a más paradas de las que serían deseadas, además de que los hilos entran y salen de regiones paralelas constantemente. </a:t>
            </a:r>
          </a:p>
        </p:txBody>
      </p:sp>
      <p:sp>
        <p:nvSpPr>
          <p:cNvPr id="4" name="Marcador de número de diapositiva 3">
            <a:extLst>
              <a:ext uri="{FF2B5EF4-FFF2-40B4-BE49-F238E27FC236}">
                <a16:creationId xmlns:a16="http://schemas.microsoft.com/office/drawing/2014/main" id="{463051B5-1E29-89E2-F218-45C82B232C1A}"/>
              </a:ext>
            </a:extLst>
          </p:cNvPr>
          <p:cNvSpPr>
            <a:spLocks noGrp="1"/>
          </p:cNvSpPr>
          <p:nvPr>
            <p:ph type="sldNum" sz="quarter" idx="5"/>
          </p:nvPr>
        </p:nvSpPr>
        <p:spPr/>
        <p:txBody>
          <a:bodyPr/>
          <a:lstStyle/>
          <a:p>
            <a:fld id="{3A788A2B-3E54-474E-A563-8EF0DB319102}" type="slidenum">
              <a:rPr lang="en-GB" smtClean="0"/>
              <a:t>17</a:t>
            </a:fld>
            <a:endParaRPr lang="en-GB"/>
          </a:p>
        </p:txBody>
      </p:sp>
    </p:spTree>
    <p:extLst>
      <p:ext uri="{BB962C8B-B14F-4D97-AF65-F5344CB8AC3E}">
        <p14:creationId xmlns:p14="http://schemas.microsoft.com/office/powerpoint/2010/main" val="3081049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2A884-4BA2-ABCD-4619-53AFF5A94F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2F58D9-A7EB-6477-D7B6-08A3319863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80CB56-FD2B-CF09-512F-902E6EB6F8DC}"/>
              </a:ext>
            </a:extLst>
          </p:cNvPr>
          <p:cNvSpPr>
            <a:spLocks noGrp="1"/>
          </p:cNvSpPr>
          <p:nvPr>
            <p:ph type="body" idx="1"/>
          </p:nvPr>
        </p:nvSpPr>
        <p:spPr/>
        <p:txBody>
          <a:bodyPr/>
          <a:lstStyle/>
          <a:p>
            <a:pPr marL="171450" indent="-171450">
              <a:buFontTx/>
              <a:buChar char="-"/>
            </a:pPr>
            <a:r>
              <a:rPr lang="es-ES" dirty="0"/>
              <a:t>Frente al paralelismo de operaciones, tenemos el paralelismo por componentes (o por elementos), en el que sólo tenemos una gran región </a:t>
            </a:r>
            <a:r>
              <a:rPr lang="es-ES" dirty="0" err="1"/>
              <a:t>parallel</a:t>
            </a:r>
            <a:r>
              <a:rPr lang="es-ES" dirty="0"/>
              <a:t> dentro de la cual ocurre todo el procesamiento paralelo, y cada hebra calcula su parte del procesamiento de los vectores. Esto quiere decir que se creará un único equipo de hilos al entrar en el </a:t>
            </a:r>
            <a:r>
              <a:rPr lang="es-ES" dirty="0" err="1"/>
              <a:t>parallel</a:t>
            </a:r>
            <a:r>
              <a:rPr lang="es-ES" dirty="0"/>
              <a:t>, y todos los hilos permanecerán activos e iterarán en el bucle, paso a paso. </a:t>
            </a:r>
          </a:p>
          <a:p>
            <a:pPr marL="171450" indent="-171450">
              <a:buFontTx/>
              <a:buChar char="-"/>
            </a:pPr>
            <a:r>
              <a:rPr lang="es-ES" dirty="0"/>
              <a:t>Dentro del bucle iterativo, habrá diversos #pragma </a:t>
            </a:r>
            <a:r>
              <a:rPr lang="es-ES" dirty="0" err="1"/>
              <a:t>omp</a:t>
            </a:r>
            <a:r>
              <a:rPr lang="es-ES" dirty="0"/>
              <a:t> </a:t>
            </a:r>
            <a:r>
              <a:rPr lang="es-ES" dirty="0" err="1"/>
              <a:t>for</a:t>
            </a:r>
            <a:r>
              <a:rPr lang="es-ES" dirty="0"/>
              <a:t> que repartirán los índices entre los hilos. Esto además nos permitirá reducir las barreras de sincronización.</a:t>
            </a:r>
          </a:p>
          <a:p>
            <a:pPr marL="171450" indent="-171450">
              <a:buFontTx/>
              <a:buChar char="-"/>
            </a:pPr>
            <a:r>
              <a:rPr lang="es-ES" dirty="0"/>
              <a:t>La idea principal detrás de esta estrategia es reducir el </a:t>
            </a:r>
            <a:r>
              <a:rPr lang="es-ES" dirty="0" err="1"/>
              <a:t>overhead</a:t>
            </a:r>
            <a:r>
              <a:rPr lang="es-ES" dirty="0"/>
              <a:t> provocado por tener demasiadas barreras de sincronización, y mejorar el uso de la caché. </a:t>
            </a:r>
          </a:p>
        </p:txBody>
      </p:sp>
      <p:sp>
        <p:nvSpPr>
          <p:cNvPr id="4" name="Marcador de número de diapositiva 3">
            <a:extLst>
              <a:ext uri="{FF2B5EF4-FFF2-40B4-BE49-F238E27FC236}">
                <a16:creationId xmlns:a16="http://schemas.microsoft.com/office/drawing/2014/main" id="{D0041AB1-BFEE-4153-8AC9-8A61D769AC93}"/>
              </a:ext>
            </a:extLst>
          </p:cNvPr>
          <p:cNvSpPr>
            <a:spLocks noGrp="1"/>
          </p:cNvSpPr>
          <p:nvPr>
            <p:ph type="sldNum" sz="quarter" idx="5"/>
          </p:nvPr>
        </p:nvSpPr>
        <p:spPr/>
        <p:txBody>
          <a:bodyPr/>
          <a:lstStyle/>
          <a:p>
            <a:fld id="{3A788A2B-3E54-474E-A563-8EF0DB319102}" type="slidenum">
              <a:rPr lang="en-GB" smtClean="0"/>
              <a:t>18</a:t>
            </a:fld>
            <a:endParaRPr lang="en-GB"/>
          </a:p>
        </p:txBody>
      </p:sp>
    </p:spTree>
    <p:extLst>
      <p:ext uri="{BB962C8B-B14F-4D97-AF65-F5344CB8AC3E}">
        <p14:creationId xmlns:p14="http://schemas.microsoft.com/office/powerpoint/2010/main" val="2713518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4426-6849-1AFC-B004-64657EA3F8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283459-7279-4509-C028-FFF161C3D8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A25761-7A98-7F74-4FBF-8F3A6AACC592}"/>
              </a:ext>
            </a:extLst>
          </p:cNvPr>
          <p:cNvSpPr>
            <a:spLocks noGrp="1"/>
          </p:cNvSpPr>
          <p:nvPr>
            <p:ph type="body" idx="1"/>
          </p:nvPr>
        </p:nvSpPr>
        <p:spPr/>
        <p:txBody>
          <a:bodyPr/>
          <a:lstStyle/>
          <a:p>
            <a:pPr marL="171450" indent="-171450">
              <a:buFontTx/>
              <a:buChar char="-"/>
            </a:pPr>
            <a:r>
              <a:rPr lang="es-ES" dirty="0"/>
              <a:t>En un primer planteamiento, parece que el paralelismo por componentes debería ser mejor. Reduce la creación y destrucción repetitiva de las hebras, y reduce las barreras de sincronización. </a:t>
            </a:r>
          </a:p>
          <a:p>
            <a:pPr marL="171450" indent="-171450">
              <a:buFontTx/>
              <a:buChar char="-"/>
            </a:pPr>
            <a:r>
              <a:rPr lang="es-ES" dirty="0"/>
              <a:t>Un matiz importante que debemos hacer es que, aunque hablemos de creación y destrucción de hilos iterativa, no siempre ha de ocurrir así. Es cierto que, de forma lógica, el modelo </a:t>
            </a:r>
            <a:r>
              <a:rPr lang="es-ES" dirty="0" err="1"/>
              <a:t>fork-join</a:t>
            </a:r>
            <a:r>
              <a:rPr lang="es-ES" dirty="0"/>
              <a:t> de </a:t>
            </a:r>
            <a:r>
              <a:rPr lang="es-ES" dirty="0" err="1"/>
              <a:t>OpenMP</a:t>
            </a:r>
            <a:r>
              <a:rPr lang="es-ES" dirty="0"/>
              <a:t> describe de esa forma el comportamiento de los hilos; se crean, se usan, se destruyen. Sin embargo, esto no siempre ocurre así (ya que sería muy costoso). </a:t>
            </a:r>
          </a:p>
          <a:p>
            <a:pPr marL="171450" indent="-171450">
              <a:buFontTx/>
              <a:buChar char="-"/>
            </a:pPr>
            <a:r>
              <a:rPr lang="es-ES" dirty="0"/>
              <a:t>Existe un concepto llamado </a:t>
            </a:r>
            <a:r>
              <a:rPr lang="es-ES" dirty="0" err="1"/>
              <a:t>thread</a:t>
            </a:r>
            <a:r>
              <a:rPr lang="es-ES" dirty="0"/>
              <a:t> </a:t>
            </a:r>
            <a:r>
              <a:rPr lang="es-ES" dirty="0" err="1"/>
              <a:t>pooling</a:t>
            </a:r>
            <a:r>
              <a:rPr lang="es-ES" dirty="0"/>
              <a:t>, que describe que el entorno de ejecución podrá devolver los hilos a la pool en lugar de destruirlos, y así ahorrarse crearlos posteriormente. Esto eliminaría la principal desventaja del paralelismo por operaciones. </a:t>
            </a:r>
          </a:p>
          <a:p>
            <a:pPr marL="171450" indent="-171450">
              <a:buFontTx/>
              <a:buChar char="-"/>
            </a:pPr>
            <a:r>
              <a:rPr lang="es-ES" dirty="0"/>
              <a:t>De forma análoga, el </a:t>
            </a:r>
            <a:r>
              <a:rPr lang="es-ES" dirty="0" err="1"/>
              <a:t>runtime</a:t>
            </a:r>
            <a:r>
              <a:rPr lang="es-ES" dirty="0"/>
              <a:t> </a:t>
            </a:r>
            <a:r>
              <a:rPr lang="es-ES" dirty="0" err="1"/>
              <a:t>system</a:t>
            </a:r>
            <a:r>
              <a:rPr lang="es-ES" dirty="0"/>
              <a:t>  no siempre mantiene los hilos activos (como pudiera parecer), aunque no haya finalizado el bloque </a:t>
            </a:r>
            <a:r>
              <a:rPr lang="es-ES" dirty="0" err="1"/>
              <a:t>parallel</a:t>
            </a:r>
            <a:r>
              <a:rPr lang="es-ES" dirty="0"/>
              <a:t>, ya que si el trabajo dentro de cada bloque </a:t>
            </a:r>
            <a:r>
              <a:rPr lang="es-ES" dirty="0" err="1"/>
              <a:t>omp</a:t>
            </a:r>
            <a:r>
              <a:rPr lang="es-ES" dirty="0"/>
              <a:t> </a:t>
            </a:r>
            <a:r>
              <a:rPr lang="es-ES" dirty="0" err="1"/>
              <a:t>for</a:t>
            </a:r>
            <a:r>
              <a:rPr lang="es-ES" dirty="0"/>
              <a:t> es pequeño, el compilador puede decidir dormir los hilos para ahorrar energía. Esto puede provocar pérdida de tiempo al tener que despertar los hilos, y latencias de sincronización más altas.</a:t>
            </a:r>
          </a:p>
          <a:p>
            <a:pPr marL="171450" indent="-171450">
              <a:buFontTx/>
              <a:buChar char="-"/>
            </a:pPr>
            <a:r>
              <a:rPr lang="es-ES" dirty="0"/>
              <a:t>Tiempos de Brusselator1D con 100K ecuaciones</a:t>
            </a:r>
          </a:p>
        </p:txBody>
      </p:sp>
      <p:sp>
        <p:nvSpPr>
          <p:cNvPr id="4" name="Marcador de número de diapositiva 3">
            <a:extLst>
              <a:ext uri="{FF2B5EF4-FFF2-40B4-BE49-F238E27FC236}">
                <a16:creationId xmlns:a16="http://schemas.microsoft.com/office/drawing/2014/main" id="{2E7D27B9-9ABC-BD18-4D29-77C73C8F2153}"/>
              </a:ext>
            </a:extLst>
          </p:cNvPr>
          <p:cNvSpPr>
            <a:spLocks noGrp="1"/>
          </p:cNvSpPr>
          <p:nvPr>
            <p:ph type="sldNum" sz="quarter" idx="5"/>
          </p:nvPr>
        </p:nvSpPr>
        <p:spPr/>
        <p:txBody>
          <a:bodyPr/>
          <a:lstStyle/>
          <a:p>
            <a:fld id="{3A788A2B-3E54-474E-A563-8EF0DB319102}" type="slidenum">
              <a:rPr lang="en-GB" smtClean="0"/>
              <a:t>19</a:t>
            </a:fld>
            <a:endParaRPr lang="en-GB"/>
          </a:p>
        </p:txBody>
      </p:sp>
    </p:spTree>
    <p:extLst>
      <p:ext uri="{BB962C8B-B14F-4D97-AF65-F5344CB8AC3E}">
        <p14:creationId xmlns:p14="http://schemas.microsoft.com/office/powerpoint/2010/main" val="1409345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F556-6CFF-5B2B-4980-A79B616B80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0B1C60-D789-46A3-2B7E-0D5945808F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F1D429-297B-E335-8DA3-03AEA09733A1}"/>
              </a:ext>
            </a:extLst>
          </p:cNvPr>
          <p:cNvSpPr>
            <a:spLocks noGrp="1"/>
          </p:cNvSpPr>
          <p:nvPr>
            <p:ph type="body" idx="1"/>
          </p:nvPr>
        </p:nvSpPr>
        <p:spPr/>
        <p:txBody>
          <a:bodyPr/>
          <a:lstStyle/>
          <a:p>
            <a:endParaRPr lang="en-GB" dirty="0"/>
          </a:p>
        </p:txBody>
      </p:sp>
      <p:sp>
        <p:nvSpPr>
          <p:cNvPr id="4" name="Marcador de número de diapositiva 3">
            <a:extLst>
              <a:ext uri="{FF2B5EF4-FFF2-40B4-BE49-F238E27FC236}">
                <a16:creationId xmlns:a16="http://schemas.microsoft.com/office/drawing/2014/main" id="{26F93E2E-F17A-FCD1-96BB-C9267D590BFC}"/>
              </a:ext>
            </a:extLst>
          </p:cNvPr>
          <p:cNvSpPr>
            <a:spLocks noGrp="1"/>
          </p:cNvSpPr>
          <p:nvPr>
            <p:ph type="sldNum" sz="quarter" idx="5"/>
          </p:nvPr>
        </p:nvSpPr>
        <p:spPr/>
        <p:txBody>
          <a:bodyPr/>
          <a:lstStyle/>
          <a:p>
            <a:fld id="{3A788A2B-3E54-474E-A563-8EF0DB319102}" type="slidenum">
              <a:rPr lang="en-GB" smtClean="0"/>
              <a:t>20</a:t>
            </a:fld>
            <a:endParaRPr lang="en-GB"/>
          </a:p>
        </p:txBody>
      </p:sp>
    </p:spTree>
    <p:extLst>
      <p:ext uri="{BB962C8B-B14F-4D97-AF65-F5344CB8AC3E}">
        <p14:creationId xmlns:p14="http://schemas.microsoft.com/office/powerpoint/2010/main" val="193489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La estructura que tendremos será similar a la implementación de </a:t>
            </a:r>
            <a:r>
              <a:rPr lang="es-ES" dirty="0" err="1"/>
              <a:t>OpenMP</a:t>
            </a:r>
            <a:r>
              <a:rPr lang="es-ES" dirty="0"/>
              <a:t> con un par de cambios que nacen de la naturaleza de las peculiaridades propias del procesamiento en </a:t>
            </a:r>
            <a:r>
              <a:rPr lang="es-ES" dirty="0" err="1"/>
              <a:t>GPUs</a:t>
            </a:r>
            <a:endParaRPr lang="es-ES" dirty="0"/>
          </a:p>
          <a:p>
            <a:pPr marL="171450" indent="-171450">
              <a:buFontTx/>
              <a:buChar char="-"/>
            </a:pPr>
            <a:r>
              <a:rPr lang="es-ES" dirty="0"/>
              <a:t>La función </a:t>
            </a:r>
            <a:r>
              <a:rPr lang="es-ES" dirty="0" err="1"/>
              <a:t>feval</a:t>
            </a:r>
            <a:r>
              <a:rPr lang="es-ES" dirty="0"/>
              <a:t>() sólo actuará como una envolvente desde la que se llama al </a:t>
            </a:r>
            <a:r>
              <a:rPr lang="es-ES" dirty="0" err="1"/>
              <a:t>kernel</a:t>
            </a:r>
            <a:r>
              <a:rPr lang="es-ES" dirty="0"/>
              <a:t> que evalúa realmente la función derivada</a:t>
            </a:r>
          </a:p>
          <a:p>
            <a:pPr marL="171450" indent="-171450">
              <a:buFontTx/>
              <a:buChar char="-"/>
            </a:pPr>
            <a:r>
              <a:rPr lang="es-ES" dirty="0"/>
              <a:t>Hay otra función que no teníamos en las implementaciones de </a:t>
            </a:r>
            <a:r>
              <a:rPr lang="es-ES" dirty="0" err="1"/>
              <a:t>OpenMP</a:t>
            </a:r>
            <a:r>
              <a:rPr lang="es-ES" dirty="0"/>
              <a:t> y es </a:t>
            </a:r>
            <a:r>
              <a:rPr lang="es-ES" dirty="0" err="1"/>
              <a:t>updateConstants</a:t>
            </a:r>
            <a:r>
              <a:rPr lang="es-ES" dirty="0"/>
              <a:t>(). El planteamiento es simple, tenemos el inconveniente de que los </a:t>
            </a:r>
            <a:r>
              <a:rPr lang="es-ES" dirty="0" err="1"/>
              <a:t>kernels</a:t>
            </a:r>
            <a:r>
              <a:rPr lang="es-ES" dirty="0"/>
              <a:t> no pueden acceder a métodos miembro de los objetos problema, como a los </a:t>
            </a:r>
            <a:r>
              <a:rPr lang="es-ES" dirty="0" err="1"/>
              <a:t>getters</a:t>
            </a:r>
            <a:r>
              <a:rPr lang="es-ES" dirty="0"/>
              <a:t>, y por tanto </a:t>
            </a:r>
            <a:r>
              <a:rPr lang="es-ES" dirty="0" err="1"/>
              <a:t>feval</a:t>
            </a:r>
            <a:r>
              <a:rPr lang="es-ES" dirty="0"/>
              <a:t>() debería pasar como argumento al </a:t>
            </a:r>
            <a:r>
              <a:rPr lang="es-ES" dirty="0" err="1"/>
              <a:t>kernel</a:t>
            </a:r>
            <a:r>
              <a:rPr lang="es-ES" dirty="0"/>
              <a:t> todas las variables del problema que necesite</a:t>
            </a:r>
          </a:p>
          <a:p>
            <a:pPr marL="171450" indent="-171450">
              <a:buFontTx/>
              <a:buChar char="-"/>
            </a:pPr>
            <a:r>
              <a:rPr lang="es-ES" dirty="0"/>
              <a:t>La solución que proponemos a este contratiempo es utilizar la memoria de constantes. En cada </a:t>
            </a:r>
            <a:r>
              <a:rPr lang="es-ES" dirty="0" err="1"/>
              <a:t>header</a:t>
            </a:r>
            <a:r>
              <a:rPr lang="es-ES" dirty="0"/>
              <a:t> .h de los problemas se implementa una estructura que contendrá los parámetros que utilizará el </a:t>
            </a:r>
            <a:r>
              <a:rPr lang="es-ES" dirty="0" err="1"/>
              <a:t>kernel</a:t>
            </a:r>
            <a:r>
              <a:rPr lang="es-ES" dirty="0"/>
              <a:t> asociado a ese problema.</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21</a:t>
            </a:fld>
            <a:endParaRPr lang="en-GB"/>
          </a:p>
        </p:txBody>
      </p:sp>
    </p:spTree>
    <p:extLst>
      <p:ext uri="{BB962C8B-B14F-4D97-AF65-F5344CB8AC3E}">
        <p14:creationId xmlns:p14="http://schemas.microsoft.com/office/powerpoint/2010/main" val="4113025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6FF96-25D1-8296-85BB-82410528BE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E50D83-334A-FFDE-0A5C-6CDD4420F1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A7D0FD-08AE-2163-876E-9C819EE7D481}"/>
              </a:ext>
            </a:extLst>
          </p:cNvPr>
          <p:cNvSpPr>
            <a:spLocks noGrp="1"/>
          </p:cNvSpPr>
          <p:nvPr>
            <p:ph type="body" idx="1"/>
          </p:nvPr>
        </p:nvSpPr>
        <p:spPr/>
        <p:txBody>
          <a:bodyPr/>
          <a:lstStyle/>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57CF4639-8BDE-A87E-3C40-5886EA631B72}"/>
              </a:ext>
            </a:extLst>
          </p:cNvPr>
          <p:cNvSpPr>
            <a:spLocks noGrp="1"/>
          </p:cNvSpPr>
          <p:nvPr>
            <p:ph type="sldNum" sz="quarter" idx="5"/>
          </p:nvPr>
        </p:nvSpPr>
        <p:spPr/>
        <p:txBody>
          <a:bodyPr/>
          <a:lstStyle/>
          <a:p>
            <a:fld id="{3A788A2B-3E54-474E-A563-8EF0DB319102}" type="slidenum">
              <a:rPr lang="en-GB" smtClean="0"/>
              <a:t>22</a:t>
            </a:fld>
            <a:endParaRPr lang="en-GB"/>
          </a:p>
        </p:txBody>
      </p:sp>
    </p:spTree>
    <p:extLst>
      <p:ext uri="{BB962C8B-B14F-4D97-AF65-F5344CB8AC3E}">
        <p14:creationId xmlns:p14="http://schemas.microsoft.com/office/powerpoint/2010/main" val="14609927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1F1FF-7AD7-F8C0-8878-321A2E4174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17DD10-7B48-EE0A-FAC9-F2388EBC97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A80E50-5B41-7A8B-A06E-CE1937B4FDDC}"/>
              </a:ext>
            </a:extLst>
          </p:cNvPr>
          <p:cNvSpPr>
            <a:spLocks noGrp="1"/>
          </p:cNvSpPr>
          <p:nvPr>
            <p:ph type="body" idx="1"/>
          </p:nvPr>
        </p:nvSpPr>
        <p:spPr/>
        <p:txBody>
          <a:bodyPr/>
          <a:lstStyle/>
          <a:p>
            <a:pPr marL="171450" indent="-171450">
              <a:buFontTx/>
              <a:buChar char="-"/>
            </a:pPr>
            <a:r>
              <a:rPr lang="es-ES" dirty="0"/>
              <a:t>Ambas gráficas ilustran gráficamente al mismo método de resolución (Runge-</a:t>
            </a:r>
            <a:r>
              <a:rPr lang="es-ES" dirty="0" err="1"/>
              <a:t>Kutta</a:t>
            </a:r>
            <a:r>
              <a:rPr lang="es-ES" dirty="0"/>
              <a:t> orden 4), resolviendo dos problemas distintos con una variedad de tamaños, desde 50 ecuaciones a 1 millón</a:t>
            </a:r>
          </a:p>
          <a:p>
            <a:pPr marL="171450" indent="-171450">
              <a:buFontTx/>
              <a:buChar char="-"/>
            </a:pPr>
            <a:r>
              <a:rPr lang="es-ES" dirty="0"/>
              <a:t>Podemos ver como el tiempo se mantiene estable hasta alcanzar cierto tamaño, ya que la parte paralela era insignificante y solo pesaba la secuencial</a:t>
            </a:r>
          </a:p>
          <a:p>
            <a:pPr marL="171450" indent="-171450">
              <a:buFontTx/>
              <a:buChar char="-"/>
            </a:pPr>
            <a:r>
              <a:rPr lang="es-ES" dirty="0"/>
              <a:t>En el tiempo por ecuación vemos el efecto contrario, baja hasta estabilizarse</a:t>
            </a:r>
          </a:p>
        </p:txBody>
      </p:sp>
      <p:sp>
        <p:nvSpPr>
          <p:cNvPr id="4" name="Marcador de número de diapositiva 3">
            <a:extLst>
              <a:ext uri="{FF2B5EF4-FFF2-40B4-BE49-F238E27FC236}">
                <a16:creationId xmlns:a16="http://schemas.microsoft.com/office/drawing/2014/main" id="{71EE882E-F7C3-A74C-2BB3-80AB59AA1A34}"/>
              </a:ext>
            </a:extLst>
          </p:cNvPr>
          <p:cNvSpPr>
            <a:spLocks noGrp="1"/>
          </p:cNvSpPr>
          <p:nvPr>
            <p:ph type="sldNum" sz="quarter" idx="5"/>
          </p:nvPr>
        </p:nvSpPr>
        <p:spPr/>
        <p:txBody>
          <a:bodyPr/>
          <a:lstStyle/>
          <a:p>
            <a:fld id="{3A788A2B-3E54-474E-A563-8EF0DB319102}" type="slidenum">
              <a:rPr lang="en-GB" smtClean="0"/>
              <a:t>23</a:t>
            </a:fld>
            <a:endParaRPr lang="en-GB"/>
          </a:p>
        </p:txBody>
      </p:sp>
    </p:spTree>
    <p:extLst>
      <p:ext uri="{BB962C8B-B14F-4D97-AF65-F5344CB8AC3E}">
        <p14:creationId xmlns:p14="http://schemas.microsoft.com/office/powerpoint/2010/main" val="27218512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FFCB-7A3F-1E43-29E5-E70DBA22B5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11C905-F76E-3ED8-1E4C-5D15755734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438839-FE9A-E05F-8790-488683A68A90}"/>
              </a:ext>
            </a:extLst>
          </p:cNvPr>
          <p:cNvSpPr>
            <a:spLocks noGrp="1"/>
          </p:cNvSpPr>
          <p:nvPr>
            <p:ph type="body" idx="1"/>
          </p:nvPr>
        </p:nvSpPr>
        <p:spPr/>
        <p:txBody>
          <a:bodyPr/>
          <a:lstStyle/>
          <a:p>
            <a:pPr marL="171450" indent="-171450">
              <a:buFontTx/>
              <a:buChar char="-"/>
            </a:pPr>
            <a:r>
              <a:rPr lang="es-ES" dirty="0"/>
              <a:t>Los CUDA </a:t>
            </a:r>
            <a:r>
              <a:rPr lang="es-ES" dirty="0" err="1"/>
              <a:t>Graphs</a:t>
            </a:r>
            <a:r>
              <a:rPr lang="es-ES" dirty="0"/>
              <a:t> son una representación estática de un conjunto de operaciones CUDA (</a:t>
            </a:r>
            <a:r>
              <a:rPr lang="es-ES" dirty="0" err="1"/>
              <a:t>kernels</a:t>
            </a:r>
            <a:r>
              <a:rPr lang="es-ES" dirty="0"/>
              <a:t>, copias, eventos) con sus dependencias. </a:t>
            </a:r>
          </a:p>
          <a:p>
            <a:pPr marL="171450" indent="-171450">
              <a:buFontTx/>
              <a:buChar char="-"/>
            </a:pPr>
            <a:r>
              <a:rPr lang="es-ES" dirty="0"/>
              <a:t>El funcionamiento es relativamente simple, se capturan una secuencia de operaciones (</a:t>
            </a:r>
            <a:r>
              <a:rPr lang="es-ES" dirty="0" err="1"/>
              <a:t>cudaStreamCapture</a:t>
            </a:r>
            <a:r>
              <a:rPr lang="es-ES" dirty="0"/>
              <a:t>), se analizan las dependencias y se optimiza el grafo, se instancia(</a:t>
            </a:r>
            <a:r>
              <a:rPr lang="es-ES" dirty="0" err="1"/>
              <a:t>cudaGraphInstantiate</a:t>
            </a:r>
            <a:r>
              <a:rPr lang="es-ES" dirty="0"/>
              <a:t>), y se ejecuta (</a:t>
            </a:r>
            <a:r>
              <a:rPr lang="es-ES" dirty="0" err="1"/>
              <a:t>cudaGraphLaunch</a:t>
            </a:r>
            <a:r>
              <a:rPr lang="es-ES" dirty="0"/>
              <a:t>) tantas veces como se desee </a:t>
            </a:r>
          </a:p>
          <a:p>
            <a:pPr marL="171450" indent="-171450">
              <a:buFontTx/>
              <a:buChar char="-"/>
            </a:pPr>
            <a:r>
              <a:rPr lang="es-ES" dirty="0"/>
              <a:t>Los </a:t>
            </a:r>
            <a:r>
              <a:rPr lang="es-ES" dirty="0" err="1"/>
              <a:t>graph</a:t>
            </a:r>
            <a:r>
              <a:rPr lang="es-ES" dirty="0"/>
              <a:t> CUDA presentan ciertas ventajas, como la reducción en el </a:t>
            </a:r>
            <a:r>
              <a:rPr lang="es-ES" dirty="0" err="1"/>
              <a:t>overhead</a:t>
            </a:r>
            <a:r>
              <a:rPr lang="es-ES" dirty="0"/>
              <a:t> del lanzamiento de </a:t>
            </a:r>
            <a:r>
              <a:rPr lang="es-ES" dirty="0" err="1"/>
              <a:t>kernels</a:t>
            </a:r>
            <a:r>
              <a:rPr lang="es-ES" dirty="0"/>
              <a:t>. </a:t>
            </a:r>
          </a:p>
          <a:p>
            <a:pPr marL="171450" indent="-171450">
              <a:buFontTx/>
              <a:buChar char="-"/>
            </a:pPr>
            <a:r>
              <a:rPr lang="es-ES" dirty="0"/>
              <a:t>El peor tiempo puede deberse a que el uso de CUDA </a:t>
            </a:r>
            <a:r>
              <a:rPr lang="es-ES" dirty="0" err="1"/>
              <a:t>Graphs</a:t>
            </a:r>
            <a:r>
              <a:rPr lang="es-ES" dirty="0"/>
              <a:t> sólo acelera la ejecución cuando el </a:t>
            </a:r>
            <a:r>
              <a:rPr lang="es-ES" dirty="0" err="1"/>
              <a:t>overhead</a:t>
            </a:r>
            <a:r>
              <a:rPr lang="es-ES" dirty="0"/>
              <a:t> de lanzamiento de </a:t>
            </a:r>
            <a:r>
              <a:rPr lang="es-ES" dirty="0" err="1"/>
              <a:t>kernels</a:t>
            </a:r>
            <a:r>
              <a:rPr lang="es-ES" dirty="0"/>
              <a:t> es significativo respecto al coste del </a:t>
            </a:r>
            <a:r>
              <a:rPr lang="es-ES" dirty="0" err="1"/>
              <a:t>kernel</a:t>
            </a:r>
            <a:r>
              <a:rPr lang="es-ES" dirty="0"/>
              <a:t>, como por ejemplo cuando los </a:t>
            </a:r>
            <a:r>
              <a:rPr lang="es-ES" dirty="0" err="1"/>
              <a:t>kernels</a:t>
            </a:r>
            <a:r>
              <a:rPr lang="es-ES" dirty="0"/>
              <a:t> son muy rápidos y el lanzamiento es costoso, pero como los nuestros son relativamente pesados (principalmente por sus múltiples accesos a memoria global), pues se da el caso de que el </a:t>
            </a:r>
            <a:r>
              <a:rPr lang="es-ES" dirty="0" err="1"/>
              <a:t>Graph</a:t>
            </a:r>
            <a:r>
              <a:rPr lang="es-ES" dirty="0"/>
              <a:t> cuesta más de lo que ahorra.</a:t>
            </a:r>
          </a:p>
        </p:txBody>
      </p:sp>
      <p:sp>
        <p:nvSpPr>
          <p:cNvPr id="4" name="Marcador de número de diapositiva 3">
            <a:extLst>
              <a:ext uri="{FF2B5EF4-FFF2-40B4-BE49-F238E27FC236}">
                <a16:creationId xmlns:a16="http://schemas.microsoft.com/office/drawing/2014/main" id="{450CA1A1-BBB1-0099-4116-AEB1F82A7CA4}"/>
              </a:ext>
            </a:extLst>
          </p:cNvPr>
          <p:cNvSpPr>
            <a:spLocks noGrp="1"/>
          </p:cNvSpPr>
          <p:nvPr>
            <p:ph type="sldNum" sz="quarter" idx="5"/>
          </p:nvPr>
        </p:nvSpPr>
        <p:spPr/>
        <p:txBody>
          <a:bodyPr/>
          <a:lstStyle/>
          <a:p>
            <a:fld id="{3A788A2B-3E54-474E-A563-8EF0DB319102}" type="slidenum">
              <a:rPr lang="en-GB" smtClean="0"/>
              <a:t>24</a:t>
            </a:fld>
            <a:endParaRPr lang="en-GB"/>
          </a:p>
        </p:txBody>
      </p:sp>
    </p:spTree>
    <p:extLst>
      <p:ext uri="{BB962C8B-B14F-4D97-AF65-F5344CB8AC3E}">
        <p14:creationId xmlns:p14="http://schemas.microsoft.com/office/powerpoint/2010/main" val="3654354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Para intentar minimizar los accesos a memoria dentro de lo posible, se hace uso de otra herramienta que CUDA pone a nuestra disposición, los </a:t>
            </a:r>
            <a:r>
              <a:rPr lang="es-ES" dirty="0" err="1"/>
              <a:t>shuffle</a:t>
            </a:r>
            <a:r>
              <a:rPr lang="es-ES" dirty="0"/>
              <a:t>. Los </a:t>
            </a:r>
            <a:r>
              <a:rPr lang="es-ES" dirty="0" err="1"/>
              <a:t>warp</a:t>
            </a:r>
            <a:r>
              <a:rPr lang="es-ES" dirty="0"/>
              <a:t> </a:t>
            </a:r>
            <a:r>
              <a:rPr lang="es-ES" dirty="0" err="1"/>
              <a:t>shuffle</a:t>
            </a:r>
            <a:r>
              <a:rPr lang="es-ES" dirty="0"/>
              <a:t> son instrucciones a nivel de </a:t>
            </a:r>
            <a:r>
              <a:rPr lang="es-ES" dirty="0" err="1"/>
              <a:t>warp</a:t>
            </a:r>
            <a:r>
              <a:rPr lang="es-ES" dirty="0"/>
              <a:t> que permiten que un hilo lea el valor de un registro de otro hilo del mismo </a:t>
            </a:r>
            <a:r>
              <a:rPr lang="es-ES" dirty="0" err="1"/>
              <a:t>warp</a:t>
            </a:r>
            <a:r>
              <a:rPr lang="es-ES" dirty="0"/>
              <a:t>.</a:t>
            </a:r>
          </a:p>
          <a:p>
            <a:pPr marL="171450" indent="-171450">
              <a:buFontTx/>
              <a:buChar char="-"/>
            </a:pPr>
            <a:r>
              <a:rPr lang="es-ES" dirty="0"/>
              <a:t>A nivel de hardware, esto se implementa mediante una red de interconexión interna del </a:t>
            </a:r>
            <a:r>
              <a:rPr lang="es-ES" dirty="0" err="1"/>
              <a:t>warp</a:t>
            </a:r>
            <a:r>
              <a:rPr lang="es-ES" dirty="0"/>
              <a:t> (</a:t>
            </a:r>
            <a:r>
              <a:rPr lang="es-ES" dirty="0" err="1"/>
              <a:t>warp</a:t>
            </a:r>
            <a:r>
              <a:rPr lang="es-ES" dirty="0"/>
              <a:t> </a:t>
            </a:r>
            <a:r>
              <a:rPr lang="es-ES" dirty="0" err="1"/>
              <a:t>crossbar</a:t>
            </a:r>
            <a:r>
              <a:rPr lang="es-ES" dirty="0"/>
              <a:t>) que mueve datos entre registros sin tener que pasar por la memoria global, lo cual reduce los accesos, y por tanto el tiempo de ejecución del </a:t>
            </a:r>
            <a:r>
              <a:rPr lang="es-ES" dirty="0" err="1"/>
              <a:t>kernel</a:t>
            </a:r>
            <a:r>
              <a:rPr lang="es-ES" dirty="0"/>
              <a:t>.</a:t>
            </a:r>
          </a:p>
          <a:p>
            <a:pPr marL="171450" indent="-171450">
              <a:buFontTx/>
              <a:buChar char="-"/>
            </a:pPr>
            <a:r>
              <a:rPr lang="es-ES" dirty="0"/>
              <a:t>La imagen ilustra un ejemplo de </a:t>
            </a:r>
            <a:r>
              <a:rPr lang="es-ES" dirty="0" err="1"/>
              <a:t>shuffle</a:t>
            </a:r>
            <a:endParaRPr lang="es-ES" dirty="0"/>
          </a:p>
          <a:p>
            <a:pPr marL="171450" indent="-171450">
              <a:buFontTx/>
              <a:buChar char="-"/>
            </a:pPr>
            <a:r>
              <a:rPr lang="es-ES" dirty="0"/>
              <a:t>a la hora de llamar a un </a:t>
            </a:r>
            <a:r>
              <a:rPr lang="es-ES" dirty="0" err="1"/>
              <a:t>kernel</a:t>
            </a:r>
            <a:r>
              <a:rPr lang="es-ES" dirty="0"/>
              <a:t> se le ha de indicar tanto las dimensiones de la </a:t>
            </a:r>
            <a:r>
              <a:rPr lang="es-ES" dirty="0" err="1"/>
              <a:t>grid</a:t>
            </a:r>
            <a:r>
              <a:rPr lang="es-ES" dirty="0"/>
              <a:t> como de los bloques que ésta contiene. Si bien se pueden utilizar enteros básicos (que CUDA interpreta como valores unidimensionales), también podemos indicarle a CUDA que vamos a trabajar con </a:t>
            </a:r>
            <a:r>
              <a:rPr lang="es-ES" dirty="0" err="1"/>
              <a:t>grids</a:t>
            </a:r>
            <a:r>
              <a:rPr lang="es-ES" dirty="0"/>
              <a:t> multidimensionales.</a:t>
            </a:r>
          </a:p>
          <a:p>
            <a:pPr marL="171450" indent="-171450">
              <a:buFontTx/>
              <a:buChar char="-"/>
            </a:pPr>
            <a:r>
              <a:rPr lang="es-ES" dirty="0"/>
              <a:t>Cambiando la </a:t>
            </a:r>
            <a:r>
              <a:rPr lang="es-ES" dirty="0" err="1"/>
              <a:t>grid</a:t>
            </a:r>
            <a:r>
              <a:rPr lang="es-ES" dirty="0"/>
              <a:t> podemos dividir a las componentes en dimensiones distintas, facilitando el acceso a las diferentes componentes de cada vector</a:t>
            </a:r>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25</a:t>
            </a:fld>
            <a:endParaRPr lang="en-GB"/>
          </a:p>
        </p:txBody>
      </p:sp>
    </p:spTree>
    <p:extLst>
      <p:ext uri="{BB962C8B-B14F-4D97-AF65-F5344CB8AC3E}">
        <p14:creationId xmlns:p14="http://schemas.microsoft.com/office/powerpoint/2010/main" val="1853136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 No se aprecian cambio significativos al comparar</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26</a:t>
            </a:fld>
            <a:endParaRPr lang="en-GB"/>
          </a:p>
        </p:txBody>
      </p:sp>
    </p:spTree>
    <p:extLst>
      <p:ext uri="{BB962C8B-B14F-4D97-AF65-F5344CB8AC3E}">
        <p14:creationId xmlns:p14="http://schemas.microsoft.com/office/powerpoint/2010/main" val="10491086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22E46-54B9-B291-B303-99571F1084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2ED189-E680-A129-9CCF-A9B9AE93DC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E627FA-7354-32E1-1F84-513AFB6786B5}"/>
              </a:ext>
            </a:extLst>
          </p:cNvPr>
          <p:cNvSpPr>
            <a:spLocks noGrp="1"/>
          </p:cNvSpPr>
          <p:nvPr>
            <p:ph type="body" idx="1"/>
          </p:nvPr>
        </p:nvSpPr>
        <p:spPr/>
        <p:txBody>
          <a:bodyPr/>
          <a:lstStyle/>
          <a:p>
            <a:endParaRPr lang="en-GB" dirty="0"/>
          </a:p>
        </p:txBody>
      </p:sp>
      <p:sp>
        <p:nvSpPr>
          <p:cNvPr id="4" name="Marcador de número de diapositiva 3">
            <a:extLst>
              <a:ext uri="{FF2B5EF4-FFF2-40B4-BE49-F238E27FC236}">
                <a16:creationId xmlns:a16="http://schemas.microsoft.com/office/drawing/2014/main" id="{4D172B09-0759-9CFE-3E7D-5FD96AD7AFED}"/>
              </a:ext>
            </a:extLst>
          </p:cNvPr>
          <p:cNvSpPr>
            <a:spLocks noGrp="1"/>
          </p:cNvSpPr>
          <p:nvPr>
            <p:ph type="sldNum" sz="quarter" idx="5"/>
          </p:nvPr>
        </p:nvSpPr>
        <p:spPr/>
        <p:txBody>
          <a:bodyPr/>
          <a:lstStyle/>
          <a:p>
            <a:fld id="{3A788A2B-3E54-474E-A563-8EF0DB319102}" type="slidenum">
              <a:rPr lang="en-GB" smtClean="0"/>
              <a:t>27</a:t>
            </a:fld>
            <a:endParaRPr lang="en-GB"/>
          </a:p>
        </p:txBody>
      </p:sp>
    </p:spTree>
    <p:extLst>
      <p:ext uri="{BB962C8B-B14F-4D97-AF65-F5344CB8AC3E}">
        <p14:creationId xmlns:p14="http://schemas.microsoft.com/office/powerpoint/2010/main" val="21062425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El desarrollo de este Trabajo de Fin de Grado ha supuesto una experiencia enriquecedora tanto desde el punto de vista académico como desde el técnico. A lo largo del proyecto he adquirido una comprensión solida de los métodos numéricos para la resolución de ecuaciones diferenciales ordinarias, así como de los modelos ADR que sirven como base para numerosos problemas físicos, químicos y biológicos. </a:t>
            </a:r>
          </a:p>
          <a:p>
            <a:pPr marL="171450" indent="-171450">
              <a:buFontTx/>
              <a:buChar char="-"/>
            </a:pPr>
            <a:r>
              <a:rPr lang="es-ES" dirty="0"/>
              <a:t>Del análisis de los resultados experimentales se pueden extraer conclusiones claras sobre la eficiencia de los métodos y las tecnologías empleadas.</a:t>
            </a:r>
          </a:p>
          <a:p>
            <a:pPr marL="171450" indent="-171450">
              <a:buFontTx/>
              <a:buChar char="-"/>
            </a:pPr>
            <a:r>
              <a:rPr lang="es-ES" dirty="0"/>
              <a:t>la implementación en GPU destaca de forma contundente: las implementaciones CUDA alcanzan </a:t>
            </a:r>
            <a:r>
              <a:rPr lang="es-ES" dirty="0" err="1"/>
              <a:t>speedups</a:t>
            </a:r>
            <a:r>
              <a:rPr lang="es-ES" dirty="0"/>
              <a:t> muy superiores, llegando a multiplicar por más de treinta la velocidad de la versión secuencial en la mayoría de los casos</a:t>
            </a:r>
          </a:p>
          <a:p>
            <a:pPr marL="171450" indent="-171450">
              <a:buFontTx/>
              <a:buChar char="-"/>
            </a:pPr>
            <a:r>
              <a:rPr lang="es-ES" dirty="0"/>
              <a:t>la paralelización es una herramienta esencial para abordar problemas numéricos de gran escala y que la elección del método y la tecnología de paralelización influye de manera decisiva en el rendimiento final</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28</a:t>
            </a:fld>
            <a:endParaRPr lang="en-GB"/>
          </a:p>
        </p:txBody>
      </p:sp>
    </p:spTree>
    <p:extLst>
      <p:ext uri="{BB962C8B-B14F-4D97-AF65-F5344CB8AC3E}">
        <p14:creationId xmlns:p14="http://schemas.microsoft.com/office/powerpoint/2010/main" val="22931569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Abril: Definición del proyecto Identificación del tema a desarrollar Formulación de los objetivos </a:t>
            </a:r>
          </a:p>
          <a:p>
            <a:pPr marL="171450" indent="-171450">
              <a:buFontTx/>
              <a:buChar char="-"/>
            </a:pPr>
            <a:r>
              <a:rPr lang="es-ES" dirty="0"/>
              <a:t>Mayo: Investigación  Recopilación y revisión de libros y </a:t>
            </a:r>
            <a:r>
              <a:rPr lang="es-ES" dirty="0" err="1"/>
              <a:t>papers</a:t>
            </a:r>
            <a:r>
              <a:rPr lang="es-ES" dirty="0"/>
              <a:t> relevantes  Búsqueda de información sobre las dos tecnologías de paralelización </a:t>
            </a:r>
          </a:p>
          <a:p>
            <a:pPr marL="171450" indent="-171450">
              <a:buFontTx/>
              <a:buChar char="-"/>
            </a:pPr>
            <a:r>
              <a:rPr lang="es-ES" dirty="0"/>
              <a:t>Junio: Implementación </a:t>
            </a:r>
            <a:r>
              <a:rPr lang="es-ES" dirty="0" err="1"/>
              <a:t>OpenMP</a:t>
            </a:r>
            <a:r>
              <a:rPr lang="es-ES" dirty="0"/>
              <a:t>  Secuencial Paralelismo por operaciones  Paralelismo por componentes  Pruebas y validación del código </a:t>
            </a:r>
          </a:p>
          <a:p>
            <a:pPr marL="171450" indent="-171450">
              <a:buFontTx/>
              <a:buChar char="-"/>
            </a:pPr>
            <a:r>
              <a:rPr lang="es-ES" dirty="0"/>
              <a:t>Julio: Implementación CUDA  Desarrollo de los </a:t>
            </a:r>
            <a:r>
              <a:rPr lang="es-ES" dirty="0" err="1"/>
              <a:t>kernels</a:t>
            </a:r>
            <a:r>
              <a:rPr lang="es-ES" dirty="0"/>
              <a:t>  </a:t>
            </a:r>
            <a:r>
              <a:rPr lang="es-ES" dirty="0" err="1"/>
              <a:t>Kernels</a:t>
            </a:r>
            <a:r>
              <a:rPr lang="es-ES" dirty="0"/>
              <a:t> CUDA </a:t>
            </a:r>
            <a:r>
              <a:rPr lang="es-ES" dirty="0" err="1"/>
              <a:t>Graph</a:t>
            </a:r>
            <a:r>
              <a:rPr lang="es-ES" dirty="0"/>
              <a:t>  </a:t>
            </a:r>
            <a:r>
              <a:rPr lang="es-ES" dirty="0" err="1"/>
              <a:t>Shuffles</a:t>
            </a:r>
            <a:r>
              <a:rPr lang="es-ES" dirty="0"/>
              <a:t> y </a:t>
            </a:r>
            <a:r>
              <a:rPr lang="es-ES" dirty="0" err="1"/>
              <a:t>grids</a:t>
            </a:r>
            <a:r>
              <a:rPr lang="es-ES" dirty="0"/>
              <a:t> Pruebas y validación del código </a:t>
            </a:r>
          </a:p>
          <a:p>
            <a:pPr marL="171450" indent="-171450">
              <a:buFontTx/>
              <a:buChar char="-"/>
            </a:pPr>
            <a:r>
              <a:rPr lang="es-ES" dirty="0"/>
              <a:t>Agosto: Memoria del proyecto  Mediciones temporales  Análisis de los datos  Redacción de la memoria </a:t>
            </a:r>
          </a:p>
          <a:p>
            <a:pPr marL="171450" indent="-171450">
              <a:buFontTx/>
              <a:buChar char="-"/>
            </a:pPr>
            <a:r>
              <a:rPr lang="es-ES" dirty="0"/>
              <a:t>Septiembre: Entrega Últimas correcciones Presentación y defensa</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29</a:t>
            </a:fld>
            <a:endParaRPr lang="en-GB"/>
          </a:p>
        </p:txBody>
      </p:sp>
    </p:spTree>
    <p:extLst>
      <p:ext uri="{BB962C8B-B14F-4D97-AF65-F5344CB8AC3E}">
        <p14:creationId xmlns:p14="http://schemas.microsoft.com/office/powerpoint/2010/main" val="3210336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para poder hacer una </a:t>
            </a:r>
            <a:r>
              <a:rPr lang="es-ES" dirty="0" err="1"/>
              <a:t>comparaci´on</a:t>
            </a:r>
            <a:r>
              <a:rPr lang="es-ES" dirty="0"/>
              <a:t> </a:t>
            </a:r>
            <a:r>
              <a:rPr lang="es-ES" dirty="0" err="1"/>
              <a:t>m´as</a:t>
            </a:r>
            <a:r>
              <a:rPr lang="es-ES" dirty="0"/>
              <a:t> justa, </a:t>
            </a:r>
            <a:r>
              <a:rPr lang="es-ES" dirty="0" err="1"/>
              <a:t>habr´ıa</a:t>
            </a:r>
            <a:r>
              <a:rPr lang="es-ES" dirty="0"/>
              <a:t> que unir los hallazgos de este trabajo a un estudio que comparara las diferencias en el error de las soluciones </a:t>
            </a:r>
            <a:r>
              <a:rPr lang="es-ES" dirty="0" err="1"/>
              <a:t>num´ericas</a:t>
            </a:r>
            <a:r>
              <a:rPr lang="es-ES" dirty="0"/>
              <a:t> obtenidas con unas implementaciones frente a otras. </a:t>
            </a:r>
          </a:p>
          <a:p>
            <a:pPr marL="171450" indent="-171450">
              <a:buFontTx/>
              <a:buChar char="-"/>
            </a:pPr>
            <a:r>
              <a:rPr lang="es-ES" dirty="0"/>
              <a:t>También se podría implementar que los métodos incorporen tamaños de paso variable en función del error</a:t>
            </a:r>
          </a:p>
          <a:p>
            <a:pPr marL="171450" indent="-171450">
              <a:buFontTx/>
              <a:buChar char="-"/>
            </a:pPr>
            <a:r>
              <a:rPr lang="es-ES" dirty="0"/>
              <a:t>Por otro lado, se podrían visualizar los resultados en el tiempo</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31</a:t>
            </a:fld>
            <a:endParaRPr lang="en-GB"/>
          </a:p>
        </p:txBody>
      </p:sp>
    </p:spTree>
    <p:extLst>
      <p:ext uri="{BB962C8B-B14F-4D97-AF65-F5344CB8AC3E}">
        <p14:creationId xmlns:p14="http://schemas.microsoft.com/office/powerpoint/2010/main" val="640115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El </a:t>
            </a:r>
            <a:r>
              <a:rPr lang="es-ES" dirty="0" err="1"/>
              <a:t>speedup</a:t>
            </a:r>
            <a:r>
              <a:rPr lang="es-ES" dirty="0"/>
              <a:t> será la forma en la que mediremos las mejoras en la ejecución conforme aumenta el paralelismo. En nuestro caso, lo calcularemos a través del cociente del tiempo de ejecución del programa secuencial, y el tiempo de ejecución de la versión paralela</a:t>
            </a:r>
          </a:p>
          <a:p>
            <a:pPr marL="171450" indent="-171450">
              <a:buFontTx/>
              <a:buChar char="-"/>
            </a:pPr>
            <a:r>
              <a:rPr lang="es-ES" dirty="0"/>
              <a:t>Otro concepto relacionado sería el de la eficiencia, que sería el cociente entre </a:t>
            </a:r>
            <a:r>
              <a:rPr lang="es-ES" dirty="0" err="1"/>
              <a:t>speedup</a:t>
            </a:r>
            <a:r>
              <a:rPr lang="es-ES" dirty="0"/>
              <a:t> y el número de </a:t>
            </a:r>
            <a:r>
              <a:rPr lang="es-ES" dirty="0" err="1"/>
              <a:t>cores</a:t>
            </a:r>
            <a:r>
              <a:rPr lang="es-ES" dirty="0"/>
              <a:t> empleado para obtener ese </a:t>
            </a:r>
            <a:r>
              <a:rPr lang="es-ES" dirty="0" err="1"/>
              <a:t>speedup</a:t>
            </a:r>
            <a:r>
              <a:rPr lang="es-ES" dirty="0"/>
              <a:t>. La eficiencia estará entre 0 y 1 (o entre 0 % y 100 %), y medirá cuánto se están aprovechando los recursos paralelos. </a:t>
            </a:r>
          </a:p>
          <a:p>
            <a:pPr marL="171450" indent="-171450">
              <a:buFontTx/>
              <a:buChar char="-"/>
            </a:pPr>
            <a:r>
              <a:rPr lang="es-ES" dirty="0"/>
              <a:t>Al hilo de esto último, la Ley de Amdahl nos indica que, con un tamaño de problema constante y aumentando el número de procesadores, la parte no </a:t>
            </a:r>
            <a:r>
              <a:rPr lang="es-ES" dirty="0" err="1"/>
              <a:t>paralelizable</a:t>
            </a:r>
            <a:r>
              <a:rPr lang="es-ES" dirty="0"/>
              <a:t> del algoritmo va a limitar nuestro </a:t>
            </a:r>
            <a:r>
              <a:rPr lang="es-ES" dirty="0" err="1"/>
              <a:t>speedup</a:t>
            </a:r>
            <a:r>
              <a:rPr lang="es-ES" dirty="0"/>
              <a:t>. </a:t>
            </a:r>
          </a:p>
          <a:p>
            <a:pPr marL="171450" indent="-171450">
              <a:buFontTx/>
              <a:buChar char="-"/>
            </a:pPr>
            <a:r>
              <a:rPr lang="es-ES" dirty="0"/>
              <a:t>f es la fracción </a:t>
            </a:r>
            <a:r>
              <a:rPr lang="es-ES" dirty="0" err="1"/>
              <a:t>paralelizable</a:t>
            </a:r>
            <a:r>
              <a:rPr lang="es-ES" dirty="0"/>
              <a:t>, y n el numero de </a:t>
            </a:r>
            <a:r>
              <a:rPr lang="es-ES" dirty="0" err="1"/>
              <a:t>cores</a:t>
            </a:r>
            <a:endParaRPr lang="es-ES" dirty="0"/>
          </a:p>
          <a:p>
            <a:pPr marL="171450" indent="-171450">
              <a:buFontTx/>
              <a:buChar char="-"/>
            </a:pPr>
            <a:r>
              <a:rPr lang="es-ES" dirty="0"/>
              <a:t>La interpretación que podemos hacer es que cuando aumentan los procesadores, la parte no </a:t>
            </a:r>
            <a:r>
              <a:rPr lang="es-ES" dirty="0" err="1"/>
              <a:t>paralelizable</a:t>
            </a:r>
            <a:r>
              <a:rPr lang="es-ES" dirty="0"/>
              <a:t> satura el </a:t>
            </a:r>
            <a:r>
              <a:rPr lang="es-ES" dirty="0" err="1"/>
              <a:t>speedup</a:t>
            </a:r>
            <a:r>
              <a:rPr lang="es-ES" dirty="0"/>
              <a:t>. Por ejemplo, con un 95 % del programa </a:t>
            </a:r>
            <a:r>
              <a:rPr lang="es-ES" dirty="0" err="1"/>
              <a:t>paralelizable</a:t>
            </a:r>
            <a:r>
              <a:rPr lang="es-ES" dirty="0"/>
              <a:t>, e infinitos procesadores, el </a:t>
            </a:r>
            <a:r>
              <a:rPr lang="es-ES" dirty="0" err="1"/>
              <a:t>speedup</a:t>
            </a:r>
            <a:r>
              <a:rPr lang="es-ES" dirty="0"/>
              <a:t> nunca superará 20.</a:t>
            </a:r>
          </a:p>
          <a:p>
            <a:pPr marL="171450" indent="-171450">
              <a:buFontTx/>
              <a:buChar char="-"/>
            </a:pPr>
            <a:r>
              <a:rPr lang="es-ES" dirty="0"/>
              <a:t>La Ley de Gustafson parte de una premisa distinta, aumentar el tamaño del problema cuando tenemos más procesadores.</a:t>
            </a:r>
          </a:p>
          <a:p>
            <a:pPr marL="171450" indent="-171450">
              <a:buFontTx/>
              <a:buChar char="-"/>
            </a:pPr>
            <a:r>
              <a:rPr lang="es-ES" dirty="0"/>
              <a:t>Aquí la interpretación que hacemos es que al aumentar el tamaño del problema, aumentamos la parte </a:t>
            </a:r>
            <a:r>
              <a:rPr lang="es-ES" dirty="0" err="1"/>
              <a:t>paralelizable</a:t>
            </a:r>
            <a:r>
              <a:rPr lang="es-ES" dirty="0"/>
              <a:t>, mientras que la secuencial se mantiene estable. Esto juega a nuestro favor, ya que trataremos grandes cantidades de datos.</a:t>
            </a:r>
          </a:p>
          <a:p>
            <a:pPr marL="171450" indent="-171450">
              <a:buFontTx/>
              <a:buChar char="-"/>
            </a:pPr>
            <a:r>
              <a:rPr lang="es-ES" dirty="0"/>
              <a:t>La ley de Gustafson aporta un punto de vista más optimista al binomio procesadores-eficiencia, ya que nos dice que aunque la eficiencia no pueda ser perfecta, a medida que el problema y los procesadores crezcan, podrá acercarse mucho al valor ideal.</a:t>
            </a:r>
          </a:p>
          <a:p>
            <a:endParaRPr lang="es-ES" dirty="0"/>
          </a:p>
        </p:txBody>
      </p:sp>
      <p:sp>
        <p:nvSpPr>
          <p:cNvPr id="4" name="Marcador de número de diapositiva 3"/>
          <p:cNvSpPr>
            <a:spLocks noGrp="1"/>
          </p:cNvSpPr>
          <p:nvPr>
            <p:ph type="sldNum" sz="quarter" idx="5"/>
          </p:nvPr>
        </p:nvSpPr>
        <p:spPr/>
        <p:txBody>
          <a:bodyPr/>
          <a:lstStyle/>
          <a:p>
            <a:fld id="{3A788A2B-3E54-474E-A563-8EF0DB319102}" type="slidenum">
              <a:rPr lang="en-GB" smtClean="0"/>
              <a:t>32</a:t>
            </a:fld>
            <a:endParaRPr lang="en-GB"/>
          </a:p>
        </p:txBody>
      </p:sp>
    </p:spTree>
    <p:extLst>
      <p:ext uri="{BB962C8B-B14F-4D97-AF65-F5344CB8AC3E}">
        <p14:creationId xmlns:p14="http://schemas.microsoft.com/office/powerpoint/2010/main" val="3236319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Tx/>
              <a:buChar char="-"/>
            </a:pPr>
            <a:r>
              <a:rPr lang="es-ES" dirty="0"/>
              <a:t>Podemos probar por ejemplo, con el problema más complejo (Brusselator2D), y el método que más tarda (ABM4 ), y podemos comparar la evolución del tiempo conforme aumenta el tamaño del problema</a:t>
            </a:r>
          </a:p>
          <a:p>
            <a:pPr marL="171450" indent="-171450">
              <a:buFontTx/>
              <a:buChar char="-"/>
            </a:pPr>
            <a:r>
              <a:rPr lang="es-ES" dirty="0"/>
              <a:t>Y si miramos el </a:t>
            </a:r>
            <a:r>
              <a:rPr lang="es-ES" dirty="0" err="1"/>
              <a:t>speedup</a:t>
            </a:r>
            <a:r>
              <a:rPr lang="es-ES" dirty="0"/>
              <a:t> y la eficiencia ya sólo del paralelismo de operaciones, podemos ver en juego tanto la Ley de Amdahl, como la de Gustafson.</a:t>
            </a:r>
          </a:p>
          <a:p>
            <a:pPr marL="171450" indent="-171450">
              <a:buFontTx/>
              <a:buChar char="-"/>
            </a:pPr>
            <a:r>
              <a:rPr lang="es-ES" dirty="0"/>
              <a:t>Amdahl: En un mismo tamaño, conforme aumentan los </a:t>
            </a:r>
            <a:r>
              <a:rPr lang="es-ES" dirty="0" err="1"/>
              <a:t>core</a:t>
            </a:r>
            <a:r>
              <a:rPr lang="es-ES" dirty="0"/>
              <a:t>, reduce la eficiencia, ya que siempre queda una parte secuencial que no se puede paralelizar y cada vez pesa más</a:t>
            </a:r>
          </a:p>
          <a:p>
            <a:pPr marL="171450" indent="-171450">
              <a:buFontTx/>
              <a:buChar char="-"/>
            </a:pPr>
            <a:r>
              <a:rPr lang="es-ES" dirty="0"/>
              <a:t>Gustafson: Conforme aumenta el tamaño, la eficiencia aumenta porque se aprovechan mejor</a:t>
            </a:r>
          </a:p>
        </p:txBody>
      </p:sp>
      <p:sp>
        <p:nvSpPr>
          <p:cNvPr id="4" name="Marcador de número de diapositiva 3"/>
          <p:cNvSpPr>
            <a:spLocks noGrp="1"/>
          </p:cNvSpPr>
          <p:nvPr>
            <p:ph type="sldNum" sz="quarter" idx="5"/>
          </p:nvPr>
        </p:nvSpPr>
        <p:spPr/>
        <p:txBody>
          <a:bodyPr/>
          <a:lstStyle/>
          <a:p>
            <a:fld id="{3A788A2B-3E54-474E-A563-8EF0DB319102}" type="slidenum">
              <a:rPr lang="en-GB" smtClean="0"/>
              <a:t>33</a:t>
            </a:fld>
            <a:endParaRPr lang="en-GB"/>
          </a:p>
        </p:txBody>
      </p:sp>
    </p:spTree>
    <p:extLst>
      <p:ext uri="{BB962C8B-B14F-4D97-AF65-F5344CB8AC3E}">
        <p14:creationId xmlns:p14="http://schemas.microsoft.com/office/powerpoint/2010/main" val="27790508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509B1-41E7-26B8-8E91-CDA32D6174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23CE5C-471E-F624-8AB0-653A53A48E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A52DC6-6C23-EDD4-34D6-56715492DF14}"/>
              </a:ext>
            </a:extLst>
          </p:cNvPr>
          <p:cNvSpPr>
            <a:spLocks noGrp="1"/>
          </p:cNvSpPr>
          <p:nvPr>
            <p:ph type="body" idx="1"/>
          </p:nvPr>
        </p:nvSpPr>
        <p:spPr/>
        <p:txBody>
          <a:bodyPr/>
          <a:lstStyle/>
          <a:p>
            <a:pPr marL="171450" indent="-171450">
              <a:buFontTx/>
              <a:buChar char="-"/>
            </a:pPr>
            <a:r>
              <a:rPr lang="es-ES" dirty="0"/>
              <a:t>Cuando se programa con CUDA se ha de tener en mente que se puede acceder a varias memorias diferentes, cada una con su propia latencia y ancho de banda, y entre ellas nos encontramos a los registros, que son la memoria de los hilos individuales, y la más rápida de todas; pasando por la memoria compartida ( </a:t>
            </a:r>
            <a:r>
              <a:rPr lang="es-ES" dirty="0" err="1"/>
              <a:t>shared</a:t>
            </a:r>
            <a:r>
              <a:rPr lang="es-ES" dirty="0"/>
              <a:t> ), que usan los bloques; la memoria de constantes ( </a:t>
            </a:r>
            <a:r>
              <a:rPr lang="es-ES" dirty="0" err="1"/>
              <a:t>constant</a:t>
            </a:r>
            <a:r>
              <a:rPr lang="es-ES" dirty="0"/>
              <a:t> ), que es de solo lectura, y va cacheada; y la memoria global, que se aloja en la VRAM del </a:t>
            </a:r>
            <a:r>
              <a:rPr lang="es-ES" dirty="0" err="1"/>
              <a:t>device</a:t>
            </a:r>
            <a:r>
              <a:rPr lang="es-ES" dirty="0"/>
              <a:t>, que es la que se utiliza para almacenar grandes estructuras de datos. </a:t>
            </a:r>
          </a:p>
          <a:p>
            <a:pPr marL="171450" indent="-171450">
              <a:buFontTx/>
              <a:buChar char="-"/>
            </a:pPr>
            <a:r>
              <a:rPr lang="es-ES" dirty="0"/>
              <a:t>La máxima coalescencia ocurre cuando los 32 hilos de un </a:t>
            </a:r>
            <a:r>
              <a:rPr lang="es-ES" dirty="0" err="1"/>
              <a:t>warp</a:t>
            </a:r>
            <a:r>
              <a:rPr lang="es-ES" dirty="0"/>
              <a:t> acceden a direcciones de memoria que caen dentro del mínimo número de segmentos continuos necesarios para almacenar dichos datos</a:t>
            </a:r>
          </a:p>
          <a:p>
            <a:pPr marL="171450" indent="-171450">
              <a:buFontTx/>
              <a:buChar char="-"/>
            </a:pPr>
            <a:r>
              <a:rPr lang="es-ES" dirty="0"/>
              <a:t>Por otro lado, la divergencia de </a:t>
            </a:r>
            <a:r>
              <a:rPr lang="es-ES" dirty="0" err="1"/>
              <a:t>warps</a:t>
            </a:r>
            <a:r>
              <a:rPr lang="es-ES" dirty="0"/>
              <a:t> ocurre cuando los hilos de un mismo </a:t>
            </a:r>
            <a:r>
              <a:rPr lang="es-ES" dirty="0" err="1"/>
              <a:t>warp</a:t>
            </a:r>
            <a:r>
              <a:rPr lang="es-ES" dirty="0"/>
              <a:t> toman caminos distintos en una rama condicional. Como el </a:t>
            </a:r>
            <a:r>
              <a:rPr lang="es-ES" dirty="0" err="1"/>
              <a:t>warp</a:t>
            </a:r>
            <a:r>
              <a:rPr lang="es-ES" dirty="0"/>
              <a:t> ejecuta las instrucciones en modo SIMT, si los hilos divergen, el hardware debe serializar las rutas </a:t>
            </a:r>
          </a:p>
        </p:txBody>
      </p:sp>
      <p:sp>
        <p:nvSpPr>
          <p:cNvPr id="4" name="Marcador de número de diapositiva 3">
            <a:extLst>
              <a:ext uri="{FF2B5EF4-FFF2-40B4-BE49-F238E27FC236}">
                <a16:creationId xmlns:a16="http://schemas.microsoft.com/office/drawing/2014/main" id="{972609B4-4B39-2A64-CD16-B26F5DDFB056}"/>
              </a:ext>
            </a:extLst>
          </p:cNvPr>
          <p:cNvSpPr>
            <a:spLocks noGrp="1"/>
          </p:cNvSpPr>
          <p:nvPr>
            <p:ph type="sldNum" sz="quarter" idx="5"/>
          </p:nvPr>
        </p:nvSpPr>
        <p:spPr/>
        <p:txBody>
          <a:bodyPr/>
          <a:lstStyle/>
          <a:p>
            <a:fld id="{3A788A2B-3E54-474E-A563-8EF0DB319102}" type="slidenum">
              <a:rPr lang="en-GB" smtClean="0"/>
              <a:t>34</a:t>
            </a:fld>
            <a:endParaRPr lang="en-GB"/>
          </a:p>
        </p:txBody>
      </p:sp>
    </p:spTree>
    <p:extLst>
      <p:ext uri="{BB962C8B-B14F-4D97-AF65-F5344CB8AC3E}">
        <p14:creationId xmlns:p14="http://schemas.microsoft.com/office/powerpoint/2010/main" val="2953646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EAA8641-7915-4115-B8A8-3EE0774DED01}"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502329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47ED7A1C-CE7D-433E-8F95-7A56331C88CD}"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942176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FA28DB1-85A9-4A1E-8452-C021ADA591CB}"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118477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7D21989-1F8C-41FA-A403-DFF3CFD58E6C}" type="datetime1">
              <a:rPr lang="en-GB" smtClean="0"/>
              <a:t>09/09/2026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121987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F242EBE-98F6-4B52-AEDD-2E473461A5C0}" type="datetime1">
              <a:rPr lang="en-GB" smtClean="0"/>
              <a:t>09/09/2026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93184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83332013-057C-46D4-AA15-83CFB8D07AF0}" type="datetime1">
              <a:rPr lang="en-GB" smtClean="0"/>
              <a:t>09/09/2026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3868386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4CD38C-74D1-4996-90D7-8E0D0DC3D457}" type="datetime1">
              <a:rPr lang="en-GB" smtClean="0"/>
              <a:t>09/09/2026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3876243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B00808F8-4749-4786-BEC6-8AA0B451844C}" type="datetime1">
              <a:rPr lang="en-GB" smtClean="0"/>
              <a:t>09/09/2026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3429548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0DB56F5-15FB-4497-885C-717ABE2611DD}" type="datetime1">
              <a:rPr lang="en-GB" smtClean="0"/>
              <a:t>09/09/2026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1297042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E93D18B-7286-4D2D-B2C8-50521F7B1440}" type="datetime1">
              <a:rPr lang="en-GB" smtClean="0"/>
              <a:t>09/09/2026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1065741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9BECCB9-0E2D-4218-B180-83B0F6E4F9F4}"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653425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13B082B-F97E-4898-9CBE-20AFAEC20196}"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29365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98EE6743-AAE3-4F9B-BD95-54274A4835CF}"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3169734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C88D0DB-7D26-4AEF-9EF1-A61F8A665028}" type="datetime1">
              <a:rPr lang="en-GB" smtClean="0"/>
              <a:t>09/09/2026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1815754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32D5CBC-D7A2-49CD-9406-5C0583CCDC3A}" type="datetime1">
              <a:rPr lang="en-GB" smtClean="0"/>
              <a:t>09/09/2026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4019348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1C2E125-DD3B-4E21-84FB-C25742D7DC26}"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664823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3DDF6B6-E08A-4D61-917C-2DB82F45114B}" type="datetime1">
              <a:rPr lang="en-GB" smtClean="0"/>
              <a:t>09/09/2026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7DC7EB3-C4C6-4D12-A310-6984ACFEFAFF}" type="slidenum">
              <a:rPr lang="en-GB" smtClean="0"/>
              <a:t>‹Nº›</a:t>
            </a:fld>
            <a:endParaRPr lang="en-GB"/>
          </a:p>
        </p:txBody>
      </p:sp>
    </p:spTree>
    <p:extLst>
      <p:ext uri="{BB962C8B-B14F-4D97-AF65-F5344CB8AC3E}">
        <p14:creationId xmlns:p14="http://schemas.microsoft.com/office/powerpoint/2010/main" val="2199338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79F8F3E-6C38-46D6-AB80-0F9FF01366FD}" type="datetime1">
              <a:rPr lang="en-GB" smtClean="0"/>
              <a:t>09/09/2026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7DC7EB3-C4C6-4D12-A310-6984ACFEFAFF}" type="slidenum">
              <a:rPr lang="en-GB" smtClean="0"/>
              <a:t>‹Nº›</a:t>
            </a:fld>
            <a:endParaRPr lang="en-GB"/>
          </a:p>
        </p:txBody>
      </p:sp>
    </p:spTree>
    <p:extLst>
      <p:ext uri="{BB962C8B-B14F-4D97-AF65-F5344CB8AC3E}">
        <p14:creationId xmlns:p14="http://schemas.microsoft.com/office/powerpoint/2010/main" val="2387343832"/>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geeksforgeeks.org/machine-learning/ml-binning-or-discretization/"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calcworkshop.com/first-order-differential-equations/eulers-method-tabl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onlinelibrary.wiley.com/doi/10.1155/2023/6691214"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hpc-tutorials.llnl.gov/"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researchgate.net/publication/257672428"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hyperlink" Target="https://www.researchgate.net/figure/A-comparison-of-the-Array-of-Structs-AoS-and-Struct-of-Arrays-SoA-memory-layouts_fig2_259132352" TargetMode="External"/><Relationship Id="rId5" Type="http://schemas.openxmlformats.org/officeDocument/2006/relationships/hyperlink" Target="https://developer.nvidia.com/blog/faster-parallel-reductions-kepler/" TargetMode="Externa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www.researchgate.net/publication/236892123" TargetMode="External"/><Relationship Id="rId3" Type="http://schemas.openxmlformats.org/officeDocument/2006/relationships/image" Target="../media/image41.png"/><Relationship Id="rId7"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hyperlink" Target="https://www.researchgate.net/publication/309529380" TargetMode="External"/><Relationship Id="rId5" Type="http://schemas.openxmlformats.org/officeDocument/2006/relationships/image" Target="../media/image38.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blog.damavis.com/en/cuda-tutorial-blocks-and-gri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1431C-7319-768B-DB46-C0D34B57A06F}"/>
              </a:ext>
            </a:extLst>
          </p:cNvPr>
          <p:cNvSpPr>
            <a:spLocks noGrp="1"/>
          </p:cNvSpPr>
          <p:nvPr>
            <p:ph type="ctrTitle"/>
          </p:nvPr>
        </p:nvSpPr>
        <p:spPr/>
        <p:txBody>
          <a:bodyPr anchor="ctr">
            <a:normAutofit/>
          </a:bodyPr>
          <a:lstStyle/>
          <a:p>
            <a:pPr>
              <a:lnSpc>
                <a:spcPct val="90000"/>
              </a:lnSpc>
            </a:pPr>
            <a:r>
              <a:rPr lang="es-ES" sz="5600" noProof="0" dirty="0"/>
              <a:t>Estudio e implementación paralela de métodos explícitos </a:t>
            </a:r>
            <a:r>
              <a:rPr lang="es-ES" sz="5600" noProof="0" dirty="0" err="1"/>
              <a:t>multipaso</a:t>
            </a:r>
            <a:endParaRPr lang="es-ES" sz="5600" noProof="0" dirty="0"/>
          </a:p>
        </p:txBody>
      </p:sp>
      <p:sp>
        <p:nvSpPr>
          <p:cNvPr id="3" name="Subtítulo 2">
            <a:extLst>
              <a:ext uri="{FF2B5EF4-FFF2-40B4-BE49-F238E27FC236}">
                <a16:creationId xmlns:a16="http://schemas.microsoft.com/office/drawing/2014/main" id="{789576EC-9243-C6AC-8283-D6E6C44B6A09}"/>
              </a:ext>
            </a:extLst>
          </p:cNvPr>
          <p:cNvSpPr>
            <a:spLocks noGrp="1"/>
          </p:cNvSpPr>
          <p:nvPr>
            <p:ph type="subTitle" idx="1"/>
          </p:nvPr>
        </p:nvSpPr>
        <p:spPr/>
        <p:txBody>
          <a:bodyPr anchor="ctr">
            <a:normAutofit/>
          </a:bodyPr>
          <a:lstStyle/>
          <a:p>
            <a:pPr algn="r"/>
            <a:r>
              <a:rPr lang="es-ES" noProof="0" dirty="0">
                <a:solidFill>
                  <a:schemeClr val="tx2"/>
                </a:solidFill>
              </a:rPr>
              <a:t>Resolución de Ecuaciones de Advección-Reacción-Difusión</a:t>
            </a:r>
          </a:p>
        </p:txBody>
      </p:sp>
      <p:sp>
        <p:nvSpPr>
          <p:cNvPr id="4" name="Marcador de número de diapositiva 3">
            <a:extLst>
              <a:ext uri="{FF2B5EF4-FFF2-40B4-BE49-F238E27FC236}">
                <a16:creationId xmlns:a16="http://schemas.microsoft.com/office/drawing/2014/main" id="{EF140E05-10B6-F2CE-91E7-20CACCB0A435}"/>
              </a:ext>
            </a:extLst>
          </p:cNvPr>
          <p:cNvSpPr>
            <a:spLocks noGrp="1"/>
          </p:cNvSpPr>
          <p:nvPr>
            <p:ph type="sldNum" sz="quarter" idx="12"/>
          </p:nvPr>
        </p:nvSpPr>
        <p:spPr/>
        <p:txBody>
          <a:bodyPr/>
          <a:lstStyle/>
          <a:p>
            <a:fld id="{E7DC7EB3-C4C6-4D12-A310-6984ACFEFAFF}" type="slidenum">
              <a:rPr lang="en-GB" smtClean="0"/>
              <a:t>1</a:t>
            </a:fld>
            <a:endParaRPr lang="en-GB"/>
          </a:p>
        </p:txBody>
      </p:sp>
    </p:spTree>
    <p:extLst>
      <p:ext uri="{BB962C8B-B14F-4D97-AF65-F5344CB8AC3E}">
        <p14:creationId xmlns:p14="http://schemas.microsoft.com/office/powerpoint/2010/main" val="3594278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B878AF-2E57-A7A9-7728-7012796E0D32}"/>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FA1596E8-FBFC-6FFC-BC6F-52E6B154C8BC}"/>
              </a:ext>
            </a:extLst>
          </p:cNvPr>
          <p:cNvSpPr>
            <a:spLocks noGrp="1"/>
          </p:cNvSpPr>
          <p:nvPr>
            <p:ph idx="1"/>
          </p:nvPr>
        </p:nvSpPr>
        <p:spPr>
          <a:xfrm>
            <a:off x="1104293" y="1553188"/>
            <a:ext cx="8946541" cy="4741286"/>
          </a:xfrm>
        </p:spPr>
        <p:txBody>
          <a:bodyPr>
            <a:normAutofit/>
          </a:bodyPr>
          <a:lstStyle/>
          <a:p>
            <a:r>
              <a:rPr lang="es-ES" sz="2400" dirty="0"/>
              <a:t>Introducción</a:t>
            </a:r>
          </a:p>
          <a:p>
            <a:pPr lvl="1"/>
            <a:r>
              <a:rPr lang="es-ES" sz="2400" dirty="0"/>
              <a:t>Métodos numéricos y </a:t>
            </a:r>
            <a:r>
              <a:rPr lang="es-ES" sz="2400" dirty="0" err="1"/>
              <a:t>EDOs</a:t>
            </a:r>
            <a:endParaRPr lang="es-ES" sz="2400" dirty="0"/>
          </a:p>
          <a:p>
            <a:pPr lvl="1"/>
            <a:r>
              <a:rPr lang="es-ES" sz="2400" dirty="0"/>
              <a:t>Métodos de Runge-</a:t>
            </a:r>
            <a:r>
              <a:rPr lang="es-ES" sz="2400" dirty="0" err="1"/>
              <a:t>Kutta</a:t>
            </a:r>
            <a:endParaRPr lang="es-ES" sz="2400" dirty="0"/>
          </a:p>
          <a:p>
            <a:pPr lvl="1"/>
            <a:r>
              <a:rPr lang="es-ES" sz="2400" dirty="0"/>
              <a:t>Métodos de Adams-Bashforth</a:t>
            </a:r>
          </a:p>
          <a:p>
            <a:pPr lvl="1"/>
            <a:r>
              <a:rPr lang="es-ES" sz="2400" dirty="0"/>
              <a:t>Métodos de Adams-Bashforth-Moulton</a:t>
            </a:r>
          </a:p>
          <a:p>
            <a:r>
              <a:rPr lang="es-ES" sz="2400" dirty="0"/>
              <a:t>Tecnologías de Paralelismo</a:t>
            </a:r>
          </a:p>
          <a:p>
            <a:r>
              <a:rPr lang="es-ES" sz="2400" dirty="0"/>
              <a:t>Implementación </a:t>
            </a:r>
            <a:r>
              <a:rPr lang="es-ES" sz="2400" dirty="0" err="1"/>
              <a:t>multihebra</a:t>
            </a:r>
            <a:endParaRPr lang="es-ES" sz="2400" dirty="0"/>
          </a:p>
          <a:p>
            <a:r>
              <a:rPr lang="es-ES" sz="2400" dirty="0"/>
              <a:t>Implementación para GPU</a:t>
            </a:r>
          </a:p>
          <a:p>
            <a:r>
              <a:rPr lang="es-ES" sz="2400" dirty="0"/>
              <a:t>Conclusiones</a:t>
            </a:r>
          </a:p>
          <a:p>
            <a:endParaRPr lang="es-ES" sz="2400" dirty="0"/>
          </a:p>
        </p:txBody>
      </p:sp>
      <p:sp>
        <p:nvSpPr>
          <p:cNvPr id="4" name="Marcador de número de diapositiva 3">
            <a:extLst>
              <a:ext uri="{FF2B5EF4-FFF2-40B4-BE49-F238E27FC236}">
                <a16:creationId xmlns:a16="http://schemas.microsoft.com/office/drawing/2014/main" id="{E665B353-384A-70DE-3A2B-AA8F24058FE3}"/>
              </a:ext>
            </a:extLst>
          </p:cNvPr>
          <p:cNvSpPr>
            <a:spLocks noGrp="1"/>
          </p:cNvSpPr>
          <p:nvPr>
            <p:ph type="sldNum" sz="quarter" idx="12"/>
          </p:nvPr>
        </p:nvSpPr>
        <p:spPr/>
        <p:txBody>
          <a:bodyPr/>
          <a:lstStyle/>
          <a:p>
            <a:fld id="{E7DC7EB3-C4C6-4D12-A310-6984ACFEFAFF}" type="slidenum">
              <a:rPr lang="en-GB" smtClean="0"/>
              <a:t>2</a:t>
            </a:fld>
            <a:endParaRPr lang="en-GB"/>
          </a:p>
        </p:txBody>
      </p:sp>
    </p:spTree>
    <p:extLst>
      <p:ext uri="{BB962C8B-B14F-4D97-AF65-F5344CB8AC3E}">
        <p14:creationId xmlns:p14="http://schemas.microsoft.com/office/powerpoint/2010/main" val="1453142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20" name="Rectangle 19">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s-ES" noProof="0" dirty="0"/>
          </a:p>
        </p:txBody>
      </p:sp>
      <p:sp>
        <p:nvSpPr>
          <p:cNvPr id="22"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s-ES" noProof="0" dirty="0"/>
          </a:p>
        </p:txBody>
      </p:sp>
      <p:sp useBgFill="1">
        <p:nvSpPr>
          <p:cNvPr id="24" name="Freeform: Shape 23">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noProof="0" dirty="0">
              <a:solidFill>
                <a:schemeClr val="tx1"/>
              </a:solidFill>
            </a:endParaRPr>
          </a:p>
        </p:txBody>
      </p:sp>
      <p:sp>
        <p:nvSpPr>
          <p:cNvPr id="3" name="Marcador de texto 2">
            <a:extLst>
              <a:ext uri="{FF2B5EF4-FFF2-40B4-BE49-F238E27FC236}">
                <a16:creationId xmlns:a16="http://schemas.microsoft.com/office/drawing/2014/main" id="{5863CA1B-7C28-0B85-58BC-570978BCC307}"/>
              </a:ext>
            </a:extLst>
          </p:cNvPr>
          <p:cNvSpPr>
            <a:spLocks noGrp="1"/>
          </p:cNvSpPr>
          <p:nvPr>
            <p:ph type="body" idx="1"/>
          </p:nvPr>
        </p:nvSpPr>
        <p:spPr>
          <a:xfrm>
            <a:off x="1154955" y="4777380"/>
            <a:ext cx="6974911" cy="861420"/>
          </a:xfrm>
        </p:spPr>
        <p:txBody>
          <a:bodyPr vert="horz" lIns="91440" tIns="45720" rIns="91440" bIns="45720" rtlCol="0" anchor="t">
            <a:normAutofit/>
          </a:bodyPr>
          <a:lstStyle/>
          <a:p>
            <a:endParaRPr lang="es-ES" sz="2000" b="0" i="0" kern="1200" cap="all" noProof="0" dirty="0">
              <a:solidFill>
                <a:schemeClr val="tx1">
                  <a:lumMod val="85000"/>
                  <a:lumOff val="15000"/>
                </a:schemeClr>
              </a:solidFill>
              <a:latin typeface="+mj-lt"/>
              <a:ea typeface="+mj-ea"/>
              <a:cs typeface="+mj-cs"/>
            </a:endParaRPr>
          </a:p>
        </p:txBody>
      </p:sp>
      <p:sp>
        <p:nvSpPr>
          <p:cNvPr id="2" name="Título 1">
            <a:extLst>
              <a:ext uri="{FF2B5EF4-FFF2-40B4-BE49-F238E27FC236}">
                <a16:creationId xmlns:a16="http://schemas.microsoft.com/office/drawing/2014/main" id="{BDD54387-C33A-EA7B-6239-508C5E0E0557}"/>
              </a:ext>
            </a:extLst>
          </p:cNvPr>
          <p:cNvSpPr>
            <a:spLocks noGrp="1"/>
          </p:cNvSpPr>
          <p:nvPr>
            <p:ph type="title"/>
          </p:nvPr>
        </p:nvSpPr>
        <p:spPr>
          <a:xfrm>
            <a:off x="1154955" y="1447800"/>
            <a:ext cx="6974915" cy="3329581"/>
          </a:xfrm>
        </p:spPr>
        <p:txBody>
          <a:bodyPr vert="horz" lIns="91440" tIns="45720" rIns="91440" bIns="45720" rtlCol="0" anchor="b">
            <a:normAutofit/>
          </a:bodyPr>
          <a:lstStyle/>
          <a:p>
            <a:r>
              <a:rPr lang="es-ES" sz="7200" noProof="0" dirty="0"/>
              <a:t>Introducción</a:t>
            </a:r>
            <a:endParaRPr lang="es-ES" sz="7200" b="0" i="0" kern="1200" noProof="0" dirty="0">
              <a:solidFill>
                <a:schemeClr val="tx2"/>
              </a:solidFill>
              <a:latin typeface="+mj-lt"/>
              <a:ea typeface="+mj-ea"/>
              <a:cs typeface="+mj-cs"/>
            </a:endParaRPr>
          </a:p>
        </p:txBody>
      </p:sp>
      <p:sp>
        <p:nvSpPr>
          <p:cNvPr id="26" name="Rectangle 25">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4" name="Marcador de número de diapositiva 3">
            <a:extLst>
              <a:ext uri="{FF2B5EF4-FFF2-40B4-BE49-F238E27FC236}">
                <a16:creationId xmlns:a16="http://schemas.microsoft.com/office/drawing/2014/main" id="{9F14C8F9-9132-EBF3-C4A7-E3B9CBDD073A}"/>
              </a:ext>
            </a:extLst>
          </p:cNvPr>
          <p:cNvSpPr>
            <a:spLocks noGrp="1"/>
          </p:cNvSpPr>
          <p:nvPr>
            <p:ph type="sldNum" sz="quarter" idx="12"/>
          </p:nvPr>
        </p:nvSpPr>
        <p:spPr/>
        <p:txBody>
          <a:bodyPr/>
          <a:lstStyle/>
          <a:p>
            <a:fld id="{E7DC7EB3-C4C6-4D12-A310-6984ACFEFAFF}" type="slidenum">
              <a:rPr lang="en-GB" smtClean="0"/>
              <a:t>3</a:t>
            </a:fld>
            <a:endParaRPr lang="en-GB"/>
          </a:p>
        </p:txBody>
      </p:sp>
    </p:spTree>
    <p:extLst>
      <p:ext uri="{BB962C8B-B14F-4D97-AF65-F5344CB8AC3E}">
        <p14:creationId xmlns:p14="http://schemas.microsoft.com/office/powerpoint/2010/main" val="344890805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05208F-2159-35FD-18DF-C03A92F5A739}"/>
              </a:ext>
            </a:extLst>
          </p:cNvPr>
          <p:cNvSpPr>
            <a:spLocks noGrp="1"/>
          </p:cNvSpPr>
          <p:nvPr>
            <p:ph type="title"/>
          </p:nvPr>
        </p:nvSpPr>
        <p:spPr/>
        <p:txBody>
          <a:bodyPr/>
          <a:lstStyle/>
          <a:p>
            <a:r>
              <a:rPr lang="es-ES" noProof="0" dirty="0"/>
              <a:t>Objetivos</a:t>
            </a:r>
          </a:p>
        </p:txBody>
      </p:sp>
      <p:sp>
        <p:nvSpPr>
          <p:cNvPr id="3" name="Marcador de contenido 2">
            <a:extLst>
              <a:ext uri="{FF2B5EF4-FFF2-40B4-BE49-F238E27FC236}">
                <a16:creationId xmlns:a16="http://schemas.microsoft.com/office/drawing/2014/main" id="{D69B95CD-6BAB-9800-C826-27AE04529412}"/>
              </a:ext>
            </a:extLst>
          </p:cNvPr>
          <p:cNvSpPr>
            <a:spLocks noGrp="1"/>
          </p:cNvSpPr>
          <p:nvPr>
            <p:ph idx="1"/>
          </p:nvPr>
        </p:nvSpPr>
        <p:spPr/>
        <p:txBody>
          <a:bodyPr>
            <a:normAutofit/>
          </a:bodyPr>
          <a:lstStyle/>
          <a:p>
            <a:r>
              <a:rPr lang="es-ES" sz="2400" noProof="0" dirty="0"/>
              <a:t>Adquirir una </a:t>
            </a:r>
            <a:r>
              <a:rPr lang="es-ES" sz="2400" b="1" noProof="0" dirty="0"/>
              <a:t>base sólida </a:t>
            </a:r>
            <a:r>
              <a:rPr lang="es-ES" sz="2400" noProof="0" dirty="0"/>
              <a:t>de los conceptos</a:t>
            </a:r>
          </a:p>
          <a:p>
            <a:r>
              <a:rPr lang="es-ES" sz="2400" noProof="0" dirty="0"/>
              <a:t>Estudio de las </a:t>
            </a:r>
            <a:r>
              <a:rPr lang="es-ES" sz="2400" b="1" noProof="0" dirty="0"/>
              <a:t>tecnologías de paralelización</a:t>
            </a:r>
          </a:p>
          <a:p>
            <a:r>
              <a:rPr lang="es-ES" sz="2400" b="1" noProof="0" dirty="0"/>
              <a:t>Implementación</a:t>
            </a:r>
            <a:r>
              <a:rPr lang="es-ES" sz="2400" noProof="0" dirty="0"/>
              <a:t> eficiente</a:t>
            </a:r>
          </a:p>
          <a:p>
            <a:r>
              <a:rPr lang="es-ES" sz="2400" noProof="0" dirty="0"/>
              <a:t>Realización de </a:t>
            </a:r>
            <a:r>
              <a:rPr lang="es-ES" sz="2400" b="1" noProof="0" dirty="0"/>
              <a:t>experimentos exhaustivos</a:t>
            </a:r>
          </a:p>
          <a:p>
            <a:r>
              <a:rPr lang="es-ES" sz="2400" b="1" noProof="0" dirty="0"/>
              <a:t>Análisis crítico </a:t>
            </a:r>
            <a:r>
              <a:rPr lang="es-ES" sz="2400" noProof="0" dirty="0"/>
              <a:t>de los resultados</a:t>
            </a:r>
          </a:p>
        </p:txBody>
      </p:sp>
      <p:sp>
        <p:nvSpPr>
          <p:cNvPr id="4" name="Marcador de número de diapositiva 3">
            <a:extLst>
              <a:ext uri="{FF2B5EF4-FFF2-40B4-BE49-F238E27FC236}">
                <a16:creationId xmlns:a16="http://schemas.microsoft.com/office/drawing/2014/main" id="{8C29FCCC-5793-1B91-1E68-9E9C780484E6}"/>
              </a:ext>
            </a:extLst>
          </p:cNvPr>
          <p:cNvSpPr>
            <a:spLocks noGrp="1"/>
          </p:cNvSpPr>
          <p:nvPr>
            <p:ph type="sldNum" sz="quarter" idx="12"/>
          </p:nvPr>
        </p:nvSpPr>
        <p:spPr/>
        <p:txBody>
          <a:bodyPr/>
          <a:lstStyle/>
          <a:p>
            <a:fld id="{E7DC7EB3-C4C6-4D12-A310-6984ACFEFAFF}" type="slidenum">
              <a:rPr lang="en-GB" smtClean="0"/>
              <a:t>4</a:t>
            </a:fld>
            <a:endParaRPr lang="en-GB"/>
          </a:p>
        </p:txBody>
      </p:sp>
    </p:spTree>
    <p:extLst>
      <p:ext uri="{BB962C8B-B14F-4D97-AF65-F5344CB8AC3E}">
        <p14:creationId xmlns:p14="http://schemas.microsoft.com/office/powerpoint/2010/main" val="4248776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31977A-3722-F2B6-9B78-727EA275BE01}"/>
              </a:ext>
            </a:extLst>
          </p:cNvPr>
          <p:cNvSpPr>
            <a:spLocks noGrp="1"/>
          </p:cNvSpPr>
          <p:nvPr>
            <p:ph type="title"/>
          </p:nvPr>
        </p:nvSpPr>
        <p:spPr/>
        <p:txBody>
          <a:bodyPr/>
          <a:lstStyle/>
          <a:p>
            <a:r>
              <a:rPr lang="es-ES" noProof="0" dirty="0"/>
              <a:t>Métodos numéricos y </a:t>
            </a:r>
            <a:r>
              <a:rPr lang="es-ES" noProof="0" dirty="0" err="1"/>
              <a:t>EDOs</a:t>
            </a:r>
            <a:endParaRPr lang="es-E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2221226-ECA7-F050-1287-127825FE6FE4}"/>
                  </a:ext>
                </a:extLst>
              </p:cNvPr>
              <p:cNvSpPr>
                <a:spLocks noGrp="1"/>
              </p:cNvSpPr>
              <p:nvPr>
                <p:ph idx="1"/>
              </p:nvPr>
            </p:nvSpPr>
            <p:spPr>
              <a:xfrm>
                <a:off x="731173" y="1457495"/>
                <a:ext cx="9848223" cy="5198486"/>
              </a:xfrm>
            </p:spPr>
            <p:txBody>
              <a:bodyPr>
                <a:normAutofit/>
              </a:bodyPr>
              <a:lstStyle/>
              <a:p>
                <a:r>
                  <a:rPr lang="es-ES" noProof="0" dirty="0"/>
                  <a:t>Métodos numéricos: aproximar soluciones</a:t>
                </a:r>
              </a:p>
              <a:p>
                <a:r>
                  <a:rPr lang="es-ES" dirty="0"/>
                  <a:t>Ecuaciones diferenciales: </a:t>
                </a:r>
                <a:r>
                  <a:rPr lang="es-ES" b="1" dirty="0"/>
                  <a:t>Función f(x) + variable t + derivada </a:t>
                </a:r>
                <a:r>
                  <a:rPr lang="es-ES" b="1" dirty="0" err="1"/>
                  <a:t>dy</a:t>
                </a:r>
                <a:r>
                  <a:rPr lang="es-ES" b="1" dirty="0"/>
                  <a:t>/</a:t>
                </a:r>
                <a:r>
                  <a:rPr lang="es-ES" b="1" dirty="0" err="1"/>
                  <a:t>dt</a:t>
                </a:r>
                <a:endParaRPr lang="es-ES" b="1" noProof="0" dirty="0"/>
              </a:p>
              <a:p>
                <a:r>
                  <a:rPr lang="es-ES" noProof="0" dirty="0"/>
                  <a:t>Ecuaciones en derivadas parciales: Varias variables</a:t>
                </a:r>
              </a:p>
              <a:p>
                <a:r>
                  <a:rPr lang="es-ES" noProof="0" dirty="0"/>
                  <a:t>Ecuaciones de </a:t>
                </a:r>
                <a:r>
                  <a:rPr lang="es-ES" b="1" noProof="0" dirty="0"/>
                  <a:t>Advección-Reacción-Difusión</a:t>
                </a:r>
                <a:r>
                  <a:rPr lang="es-ES" noProof="0" dirty="0"/>
                  <a:t> (ARD)</a:t>
                </a:r>
              </a:p>
              <a:p>
                <a:r>
                  <a:rPr lang="es-ES" noProof="0" dirty="0"/>
                  <a:t>Ecuaciones diferenciales ordinarias (</a:t>
                </a:r>
                <a:r>
                  <a:rPr lang="es-ES" noProof="0" dirty="0" err="1"/>
                  <a:t>EDOs</a:t>
                </a:r>
                <a:r>
                  <a:rPr lang="es-ES" noProof="0" dirty="0"/>
                  <a:t>): sólo 1 variable</a:t>
                </a:r>
              </a:p>
              <a:p>
                <a:r>
                  <a:rPr lang="es-ES" noProof="0" dirty="0"/>
                  <a:t>Problemas de valor inicial</a:t>
                </a:r>
                <a:r>
                  <a:rPr lang="es-ES" dirty="0"/>
                  <a:t>:                                                                                 </a:t>
                </a:r>
                <a:r>
                  <a:rPr lang="es-ES" b="1" dirty="0"/>
                  <a:t>PVI</a:t>
                </a:r>
                <a:r>
                  <a:rPr lang="es-ES" dirty="0"/>
                  <a:t>: </a:t>
                </a:r>
                <a14:m>
                  <m:oMath xmlns:m="http://schemas.openxmlformats.org/officeDocument/2006/math">
                    <m:f>
                      <m:fPr>
                        <m:ctrlPr>
                          <a:rPr lang="es-ES" i="1">
                            <a:latin typeface="Cambria Math" panose="02040503050406030204" pitchFamily="18" charset="0"/>
                          </a:rPr>
                        </m:ctrlPr>
                      </m:fPr>
                      <m:num>
                        <m:r>
                          <a:rPr lang="es-ES" i="1">
                            <a:latin typeface="Cambria Math" panose="02040503050406030204" pitchFamily="18" charset="0"/>
                          </a:rPr>
                          <m:t>𝑑𝑦</m:t>
                        </m:r>
                      </m:num>
                      <m:den>
                        <m:r>
                          <a:rPr lang="es-ES" i="1">
                            <a:latin typeface="Cambria Math" panose="02040503050406030204" pitchFamily="18" charset="0"/>
                          </a:rPr>
                          <m:t>𝑑𝑡</m:t>
                        </m:r>
                      </m:den>
                    </m:f>
                    <m:r>
                      <a:rPr lang="es-ES" i="1">
                        <a:latin typeface="Cambria Math" panose="02040503050406030204" pitchFamily="18" charset="0"/>
                      </a:rPr>
                      <m:t>=</m:t>
                    </m:r>
                    <m:r>
                      <a:rPr lang="es-ES" i="1">
                        <a:latin typeface="Cambria Math" panose="02040503050406030204" pitchFamily="18" charset="0"/>
                      </a:rPr>
                      <m:t>𝑓</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i="1">
                                <a:latin typeface="Cambria Math" panose="02040503050406030204" pitchFamily="18" charset="0"/>
                              </a:rPr>
                              <m:t>𝑛</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𝑛</m:t>
                            </m:r>
                          </m:sub>
                        </m:sSub>
                      </m:e>
                    </m:d>
                    <m:r>
                      <a:rPr lang="es-ES" i="1">
                        <a:latin typeface="Cambria Math" panose="02040503050406030204" pitchFamily="18" charset="0"/>
                      </a:rPr>
                      <m:t>,    </m:t>
                    </m:r>
                    <m:r>
                      <a:rPr lang="es-ES" i="1">
                        <a:latin typeface="Cambria Math" panose="02040503050406030204" pitchFamily="18" charset="0"/>
                      </a:rPr>
                      <m:t>𝑦</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i="1">
                                <a:latin typeface="Cambria Math" panose="02040503050406030204" pitchFamily="18" charset="0"/>
                              </a:rPr>
                              <m:t>0</m:t>
                            </m:r>
                          </m:sub>
                        </m:sSub>
                      </m:e>
                    </m:d>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0</m:t>
                        </m:r>
                      </m:sub>
                    </m:sSub>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ℝ</m:t>
                        </m:r>
                      </m:e>
                      <m:sup>
                        <m:r>
                          <a:rPr lang="es-ES" i="1">
                            <a:latin typeface="Cambria Math" panose="02040503050406030204" pitchFamily="18" charset="0"/>
                          </a:rPr>
                          <m:t>𝑑</m:t>
                        </m:r>
                      </m:sup>
                    </m:sSup>
                    <m:r>
                      <a:rPr lang="es-ES" i="1">
                        <a:latin typeface="Cambria Math" panose="02040503050406030204" pitchFamily="18" charset="0"/>
                      </a:rPr>
                      <m:t>,    </m:t>
                    </m:r>
                    <m:r>
                      <a:rPr lang="es-ES" i="1">
                        <a:latin typeface="Cambria Math" panose="02040503050406030204" pitchFamily="18" charset="0"/>
                      </a:rPr>
                      <m:t>𝑡</m:t>
                    </m:r>
                    <m:r>
                      <a:rPr lang="es-ES" i="1">
                        <a:latin typeface="Cambria Math" panose="02040503050406030204" pitchFamily="18" charset="0"/>
                      </a:rPr>
                      <m:t>∈</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i="1">
                                <a:latin typeface="Cambria Math" panose="02040503050406030204" pitchFamily="18" charset="0"/>
                              </a:rPr>
                              <m:t>0</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i="1">
                                <a:latin typeface="Cambria Math" panose="02040503050406030204" pitchFamily="18" charset="0"/>
                              </a:rPr>
                              <m:t>𝑓</m:t>
                            </m:r>
                          </m:sub>
                        </m:sSub>
                      </m:e>
                    </m:d>
                  </m:oMath>
                </a14:m>
                <a:endParaRPr lang="es-ES" dirty="0"/>
              </a:p>
              <a:p>
                <a:r>
                  <a:rPr lang="es-ES" dirty="0"/>
                  <a:t>Proceso:                                                                                                                      Pasar de </a:t>
                </a:r>
                <a14:m>
                  <m:oMath xmlns:m="http://schemas.openxmlformats.org/officeDocument/2006/math">
                    <m:r>
                      <m:rPr>
                        <m:sty m:val="p"/>
                      </m:rPr>
                      <a:rPr lang="en-GB" dirty="0">
                        <a:latin typeface="Cambria Math" panose="02040503050406030204" pitchFamily="18" charset="0"/>
                      </a:rPr>
                      <m:t>y</m:t>
                    </m:r>
                    <m:r>
                      <a:rPr lang="en-GB">
                        <a:latin typeface="Cambria Math" panose="02040503050406030204" pitchFamily="18" charset="0"/>
                      </a:rPr>
                      <m:t>(</m:t>
                    </m:r>
                    <m:sSub>
                      <m:sSubPr>
                        <m:ctrlPr>
                          <a:rPr lang="en-GB" i="1">
                            <a:latin typeface="Cambria Math" panose="02040503050406030204" pitchFamily="18" charset="0"/>
                          </a:rPr>
                        </m:ctrlPr>
                      </m:sSubPr>
                      <m:e>
                        <m:r>
                          <m:rPr>
                            <m:sty m:val="p"/>
                          </m:rPr>
                          <a:rPr lang="en-GB" i="1">
                            <a:latin typeface="Cambria Math" panose="02040503050406030204" pitchFamily="18" charset="0"/>
                          </a:rPr>
                          <m:t>t</m:t>
                        </m:r>
                      </m:e>
                      <m:sub>
                        <m:r>
                          <a:rPr lang="en-GB" i="1">
                            <a:latin typeface="Cambria Math" panose="02040503050406030204" pitchFamily="18" charset="0"/>
                          </a:rPr>
                          <m:t>0</m:t>
                        </m:r>
                      </m:sub>
                    </m:sSub>
                    <m:r>
                      <a:rPr lang="en-GB" i="1">
                        <a:latin typeface="Cambria Math" panose="02040503050406030204" pitchFamily="18" charset="0"/>
                      </a:rPr>
                      <m:t>)</m:t>
                    </m:r>
                  </m:oMath>
                </a14:m>
                <a:r>
                  <a:rPr lang="es-ES" dirty="0"/>
                  <a:t> a </a:t>
                </a:r>
                <a14:m>
                  <m:oMath xmlns:m="http://schemas.openxmlformats.org/officeDocument/2006/math">
                    <m:r>
                      <m:rPr>
                        <m:sty m:val="p"/>
                      </m:rPr>
                      <a:rPr lang="en-GB" i="1">
                        <a:latin typeface="Cambria Math" panose="02040503050406030204" pitchFamily="18" charset="0"/>
                      </a:rPr>
                      <m:t>y</m:t>
                    </m:r>
                    <m:r>
                      <a:rPr lang="en-GB" i="1">
                        <a:latin typeface="Cambria Math" panose="02040503050406030204" pitchFamily="18" charset="0"/>
                      </a:rPr>
                      <m:t>(</m:t>
                    </m:r>
                    <m:sSub>
                      <m:sSubPr>
                        <m:ctrlPr>
                          <a:rPr lang="en-GB" i="1">
                            <a:latin typeface="Cambria Math" panose="02040503050406030204" pitchFamily="18" charset="0"/>
                          </a:rPr>
                        </m:ctrlPr>
                      </m:sSubPr>
                      <m:e>
                        <m:r>
                          <m:rPr>
                            <m:sty m:val="p"/>
                          </m:rPr>
                          <a:rPr lang="en-GB" i="1">
                            <a:latin typeface="Cambria Math" panose="02040503050406030204" pitchFamily="18" charset="0"/>
                          </a:rPr>
                          <m:t>t</m:t>
                        </m:r>
                      </m:e>
                      <m:sub>
                        <m:r>
                          <m:rPr>
                            <m:sty m:val="p"/>
                          </m:rPr>
                          <a:rPr lang="en-GB" i="1">
                            <a:latin typeface="Cambria Math" panose="02040503050406030204" pitchFamily="18" charset="0"/>
                          </a:rPr>
                          <m:t>f</m:t>
                        </m:r>
                      </m:sub>
                    </m:sSub>
                    <m:r>
                      <a:rPr lang="en-GB" i="1">
                        <a:latin typeface="Cambria Math" panose="02040503050406030204" pitchFamily="18" charset="0"/>
                      </a:rPr>
                      <m:t>)</m:t>
                    </m:r>
                  </m:oMath>
                </a14:m>
                <a:r>
                  <a:rPr lang="es-ES" dirty="0"/>
                  <a:t> iterativamente</a:t>
                </a:r>
              </a:p>
              <a:p>
                <a:r>
                  <a:rPr lang="es-ES" dirty="0"/>
                  <a:t>Discretización del dominio                                                                                       de </a:t>
                </a:r>
                <a14:m>
                  <m:oMath xmlns:m="http://schemas.openxmlformats.org/officeDocument/2006/math">
                    <m:r>
                      <m:rPr>
                        <m:sty m:val="p"/>
                      </m:rPr>
                      <a:rPr lang="en-GB" i="1">
                        <a:latin typeface="Cambria Math" panose="02040503050406030204" pitchFamily="18" charset="0"/>
                      </a:rPr>
                      <m:t>t</m:t>
                    </m:r>
                  </m:oMath>
                </a14:m>
                <a:r>
                  <a:rPr lang="es-ES" dirty="0"/>
                  <a:t> en N puntos separados </a:t>
                </a:r>
                <a14:m>
                  <m:oMath xmlns:m="http://schemas.openxmlformats.org/officeDocument/2006/math">
                    <m:r>
                      <m:rPr>
                        <m:sty m:val="p"/>
                      </m:rPr>
                      <a:rPr lang="en-GB" i="1">
                        <a:latin typeface="Cambria Math" panose="02040503050406030204" pitchFamily="18" charset="0"/>
                      </a:rPr>
                      <m:t>Δ</m:t>
                    </m:r>
                    <m:r>
                      <a:rPr lang="en-GB" i="1">
                        <a:latin typeface="Cambria Math" panose="02040503050406030204" pitchFamily="18" charset="0"/>
                      </a:rPr>
                      <m:t>𝑡</m:t>
                    </m:r>
                  </m:oMath>
                </a14:m>
                <a:endParaRPr lang="es-ES" dirty="0"/>
              </a:p>
              <a:p>
                <a:endParaRPr lang="es-ES" dirty="0"/>
              </a:p>
              <a:p>
                <a:endParaRPr lang="es-ES" noProof="0" dirty="0"/>
              </a:p>
            </p:txBody>
          </p:sp>
        </mc:Choice>
        <mc:Fallback xmlns="">
          <p:sp>
            <p:nvSpPr>
              <p:cNvPr id="3" name="Marcador de contenido 2">
                <a:extLst>
                  <a:ext uri="{FF2B5EF4-FFF2-40B4-BE49-F238E27FC236}">
                    <a16:creationId xmlns:a16="http://schemas.microsoft.com/office/drawing/2014/main" id="{42221226-ECA7-F050-1287-127825FE6FE4}"/>
                  </a:ext>
                </a:extLst>
              </p:cNvPr>
              <p:cNvSpPr>
                <a:spLocks noGrp="1" noRot="1" noChangeAspect="1" noMove="1" noResize="1" noEditPoints="1" noAdjustHandles="1" noChangeArrowheads="1" noChangeShapeType="1" noTextEdit="1"/>
              </p:cNvSpPr>
              <p:nvPr>
                <p:ph idx="1"/>
              </p:nvPr>
            </p:nvSpPr>
            <p:spPr>
              <a:xfrm>
                <a:off x="731173" y="1457495"/>
                <a:ext cx="9848223" cy="5198486"/>
              </a:xfrm>
              <a:blipFill>
                <a:blip r:embed="rId3"/>
                <a:stretch>
                  <a:fillRect l="-310" t="-586" r="-49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EE5F4B13-4563-D2E1-2D2E-C4A31FA1EB11}"/>
              </a:ext>
            </a:extLst>
          </p:cNvPr>
          <p:cNvSpPr>
            <a:spLocks noGrp="1"/>
          </p:cNvSpPr>
          <p:nvPr>
            <p:ph type="sldNum" sz="quarter" idx="12"/>
          </p:nvPr>
        </p:nvSpPr>
        <p:spPr/>
        <p:txBody>
          <a:bodyPr/>
          <a:lstStyle/>
          <a:p>
            <a:fld id="{E7DC7EB3-C4C6-4D12-A310-6984ACFEFAFF}" type="slidenum">
              <a:rPr lang="en-GB" smtClean="0"/>
              <a:t>5</a:t>
            </a:fld>
            <a:endParaRPr lang="en-GB"/>
          </a:p>
        </p:txBody>
      </p:sp>
      <p:grpSp>
        <p:nvGrpSpPr>
          <p:cNvPr id="8" name="Grupo 7">
            <a:extLst>
              <a:ext uri="{FF2B5EF4-FFF2-40B4-BE49-F238E27FC236}">
                <a16:creationId xmlns:a16="http://schemas.microsoft.com/office/drawing/2014/main" id="{9E337B42-35C6-277E-FA2D-C79FA8CAB70C}"/>
              </a:ext>
            </a:extLst>
          </p:cNvPr>
          <p:cNvGrpSpPr/>
          <p:nvPr/>
        </p:nvGrpSpPr>
        <p:grpSpPr>
          <a:xfrm>
            <a:off x="7357466" y="3558754"/>
            <a:ext cx="4487204" cy="3299246"/>
            <a:chOff x="6921531" y="3428999"/>
            <a:chExt cx="4487204" cy="3299246"/>
          </a:xfrm>
        </p:grpSpPr>
        <p:pic>
          <p:nvPicPr>
            <p:cNvPr id="6" name="Imagen 5">
              <a:extLst>
                <a:ext uri="{FF2B5EF4-FFF2-40B4-BE49-F238E27FC236}">
                  <a16:creationId xmlns:a16="http://schemas.microsoft.com/office/drawing/2014/main" id="{A7F9E866-288A-590E-6524-360B74C1CB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1531" y="3428999"/>
              <a:ext cx="4487204" cy="2991469"/>
            </a:xfrm>
            <a:prstGeom prst="rect">
              <a:avLst/>
            </a:prstGeom>
          </p:spPr>
        </p:pic>
        <p:sp>
          <p:nvSpPr>
            <p:cNvPr id="7" name="CuadroTexto 6">
              <a:extLst>
                <a:ext uri="{FF2B5EF4-FFF2-40B4-BE49-F238E27FC236}">
                  <a16:creationId xmlns:a16="http://schemas.microsoft.com/office/drawing/2014/main" id="{314ECD90-7642-66FA-B918-DA6B2FE9A25A}"/>
                </a:ext>
              </a:extLst>
            </p:cNvPr>
            <p:cNvSpPr txBox="1">
              <a:spLocks/>
            </p:cNvSpPr>
            <p:nvPr/>
          </p:nvSpPr>
          <p:spPr>
            <a:xfrm>
              <a:off x="6921531" y="6420468"/>
              <a:ext cx="4487204" cy="307777"/>
            </a:xfrm>
            <a:prstGeom prst="rect">
              <a:avLst/>
            </a:prstGeom>
            <a:noFill/>
          </p:spPr>
          <p:txBody>
            <a:bodyPr wrap="square" rtlCol="0">
              <a:spAutoFit/>
            </a:bodyPr>
            <a:lstStyle/>
            <a:p>
              <a:pPr algn="ctr"/>
              <a:r>
                <a:rPr lang="es-ES" sz="1400" dirty="0"/>
                <a:t>Discretización (</a:t>
              </a:r>
              <a:r>
                <a:rPr lang="es-ES" sz="1400" dirty="0" err="1">
                  <a:hlinkClick r:id="rId5"/>
                </a:rPr>
                <a:t>geeksforgeeks</a:t>
              </a:r>
              <a:r>
                <a:rPr lang="es-ES" sz="1400" dirty="0"/>
                <a:t>)</a:t>
              </a:r>
            </a:p>
          </p:txBody>
        </p:sp>
      </p:grpSp>
    </p:spTree>
    <p:extLst>
      <p:ext uri="{BB962C8B-B14F-4D97-AF65-F5344CB8AC3E}">
        <p14:creationId xmlns:p14="http://schemas.microsoft.com/office/powerpoint/2010/main" val="238851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4949A-0468-D0F3-0EF8-FEFC925F26B7}"/>
              </a:ext>
            </a:extLst>
          </p:cNvPr>
          <p:cNvSpPr>
            <a:spLocks noGrp="1"/>
          </p:cNvSpPr>
          <p:nvPr>
            <p:ph type="title"/>
          </p:nvPr>
        </p:nvSpPr>
        <p:spPr/>
        <p:txBody>
          <a:bodyPr/>
          <a:lstStyle/>
          <a:p>
            <a:r>
              <a:rPr lang="es-ES" dirty="0"/>
              <a:t>Tipos de métodos numéricos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3972E55-D14C-BA73-5F53-30FC49A0DD14}"/>
                  </a:ext>
                </a:extLst>
              </p:cNvPr>
              <p:cNvSpPr>
                <a:spLocks noGrp="1"/>
              </p:cNvSpPr>
              <p:nvPr>
                <p:ph idx="1"/>
              </p:nvPr>
            </p:nvSpPr>
            <p:spPr>
              <a:xfrm>
                <a:off x="1104293" y="1702043"/>
                <a:ext cx="9404723" cy="4703239"/>
              </a:xfrm>
            </p:spPr>
            <p:txBody>
              <a:bodyPr>
                <a:noAutofit/>
              </a:bodyPr>
              <a:lstStyle/>
              <a:p>
                <a:r>
                  <a:rPr lang="es-ES" sz="2400" dirty="0"/>
                  <a:t>¿Cómo obtenemos </a:t>
                </a:r>
                <a14:m>
                  <m:oMath xmlns:m="http://schemas.openxmlformats.org/officeDocument/2006/math">
                    <m:r>
                      <m:rPr>
                        <m:sty m:val="p"/>
                      </m:rPr>
                      <a:rPr lang="en-GB" sz="2400" i="1" smtClean="0">
                        <a:latin typeface="Cambria Math" panose="02040503050406030204" pitchFamily="18" charset="0"/>
                      </a:rPr>
                      <m:t>y</m:t>
                    </m:r>
                    <m:r>
                      <a:rPr lang="en-GB" sz="2400" i="1" smtClean="0">
                        <a:latin typeface="Cambria Math" panose="02040503050406030204" pitchFamily="18" charset="0"/>
                      </a:rPr>
                      <m:t>(</m:t>
                    </m:r>
                    <m:sSub>
                      <m:sSubPr>
                        <m:ctrlPr>
                          <a:rPr lang="en-GB" sz="2400" i="1" smtClean="0">
                            <a:latin typeface="Cambria Math" panose="02040503050406030204" pitchFamily="18" charset="0"/>
                          </a:rPr>
                        </m:ctrlPr>
                      </m:sSubPr>
                      <m:e>
                        <m:r>
                          <m:rPr>
                            <m:sty m:val="p"/>
                          </m:rPr>
                          <a:rPr lang="en-GB" sz="2400" i="1" smtClean="0">
                            <a:latin typeface="Cambria Math" panose="02040503050406030204" pitchFamily="18" charset="0"/>
                          </a:rPr>
                          <m:t>t</m:t>
                        </m:r>
                      </m:e>
                      <m:sub>
                        <m:r>
                          <m:rPr>
                            <m:sty m:val="p"/>
                          </m:rPr>
                          <a:rPr lang="en-GB" sz="2400" b="0" i="1" smtClean="0">
                            <a:latin typeface="Cambria Math" panose="02040503050406030204" pitchFamily="18" charset="0"/>
                          </a:rPr>
                          <m:t>n</m:t>
                        </m:r>
                      </m:sub>
                    </m:sSub>
                    <m:r>
                      <a:rPr lang="en-GB" sz="2400" i="1" smtClean="0">
                        <a:latin typeface="Cambria Math" panose="02040503050406030204" pitchFamily="18" charset="0"/>
                      </a:rPr>
                      <m:t>+</m:t>
                    </m:r>
                    <m:r>
                      <m:rPr>
                        <m:sty m:val="p"/>
                      </m:rPr>
                      <a:rPr lang="en-GB" sz="2400" i="1" smtClean="0">
                        <a:latin typeface="Cambria Math" panose="02040503050406030204" pitchFamily="18" charset="0"/>
                      </a:rPr>
                      <m:t>Δ</m:t>
                    </m:r>
                    <m:r>
                      <a:rPr lang="en-GB" sz="2400" i="1" smtClean="0">
                        <a:latin typeface="Cambria Math" panose="02040503050406030204" pitchFamily="18" charset="0"/>
                      </a:rPr>
                      <m:t>𝑡</m:t>
                    </m:r>
                    <m:r>
                      <a:rPr lang="en-GB" sz="2400" b="0" i="1" smtClean="0">
                        <a:latin typeface="Cambria Math" panose="02040503050406030204" pitchFamily="18" charset="0"/>
                      </a:rPr>
                      <m:t>)</m:t>
                    </m:r>
                  </m:oMath>
                </a14:m>
                <a:r>
                  <a:rPr lang="es-ES" sz="2400" dirty="0"/>
                  <a:t> a partir de </a:t>
                </a:r>
                <a14:m>
                  <m:oMath xmlns:m="http://schemas.openxmlformats.org/officeDocument/2006/math">
                    <m:r>
                      <m:rPr>
                        <m:sty m:val="p"/>
                      </m:rPr>
                      <a:rPr lang="en-GB" sz="2400" b="0" i="1" smtClean="0">
                        <a:latin typeface="Cambria Math" panose="02040503050406030204" pitchFamily="18" charset="0"/>
                      </a:rPr>
                      <m:t>y</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m:rPr>
                            <m:sty m:val="p"/>
                          </m:rPr>
                          <a:rPr lang="en-GB" sz="2400" b="0" i="1" smtClean="0">
                            <a:latin typeface="Cambria Math" panose="02040503050406030204" pitchFamily="18" charset="0"/>
                          </a:rPr>
                          <m:t>t</m:t>
                        </m:r>
                      </m:e>
                      <m:sub>
                        <m:r>
                          <m:rPr>
                            <m:sty m:val="p"/>
                          </m:rPr>
                          <a:rPr lang="en-GB" sz="2400" b="0" i="1" smtClean="0">
                            <a:latin typeface="Cambria Math" panose="02040503050406030204" pitchFamily="18" charset="0"/>
                          </a:rPr>
                          <m:t>n</m:t>
                        </m:r>
                      </m:sub>
                    </m:sSub>
                    <m:r>
                      <a:rPr lang="en-GB" sz="2400" b="0" i="1" smtClean="0">
                        <a:latin typeface="Cambria Math" panose="02040503050406030204" pitchFamily="18" charset="0"/>
                      </a:rPr>
                      <m:t>)</m:t>
                    </m:r>
                  </m:oMath>
                </a14:m>
                <a:r>
                  <a:rPr lang="es-ES" sz="2400" dirty="0"/>
                  <a:t>?</a:t>
                </a:r>
              </a:p>
              <a:p>
                <a:r>
                  <a:rPr lang="es-ES" sz="2400" b="1" dirty="0"/>
                  <a:t>Expresión general</a:t>
                </a:r>
                <a:r>
                  <a:rPr lang="es-ES" sz="2400" dirty="0"/>
                  <a:t>:</a:t>
                </a:r>
              </a:p>
              <a:p>
                <a:pPr marL="0" indent="0">
                  <a:buNone/>
                </a:pPr>
                <a14:m>
                  <m:oMathPara xmlns:m="http://schemas.openxmlformats.org/officeDocument/2006/math">
                    <m:oMath>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𝑛</m:t>
                          </m:r>
                          <m:r>
                            <a:rPr lang="es-ES" sz="2400" i="1">
                              <a:latin typeface="Cambria Math" panose="02040503050406030204" pitchFamily="18" charset="0"/>
                            </a:rPr>
                            <m:t>+1</m:t>
                          </m:r>
                        </m:sub>
                      </m:sSub>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𝑛</m:t>
                          </m:r>
                        </m:sub>
                      </m:sSub>
                      <m:r>
                        <a:rPr lang="es-ES" sz="2400" i="1">
                          <a:latin typeface="Cambria Math" panose="02040503050406030204" pitchFamily="18" charset="0"/>
                        </a:rPr>
                        <m:t>+</m:t>
                      </m:r>
                      <m:r>
                        <m:rPr>
                          <m:sty m:val="p"/>
                        </m:rPr>
                        <a:rPr lang="es-ES" sz="2400" i="1">
                          <a:latin typeface="Cambria Math" panose="02040503050406030204" pitchFamily="18" charset="0"/>
                        </a:rPr>
                        <m:t>Φ</m:t>
                      </m:r>
                      <m:d>
                        <m:dPr>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𝑡</m:t>
                              </m:r>
                            </m:e>
                            <m:sub>
                              <m:r>
                                <a:rPr lang="es-ES" sz="2400" i="1">
                                  <a:latin typeface="Cambria Math" panose="02040503050406030204" pitchFamily="18" charset="0"/>
                                </a:rPr>
                                <m:t>𝑛</m:t>
                              </m:r>
                            </m:sub>
                          </m:sSub>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𝑛</m:t>
                              </m:r>
                            </m:sub>
                          </m:sSub>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𝑛</m:t>
                              </m:r>
                              <m:r>
                                <a:rPr lang="es-ES" sz="2400" i="1">
                                  <a:latin typeface="Cambria Math" panose="02040503050406030204" pitchFamily="18" charset="0"/>
                                </a:rPr>
                                <m:t>+1</m:t>
                              </m:r>
                            </m:sub>
                          </m:sSub>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𝑦</m:t>
                              </m:r>
                            </m:e>
                            <m:sub>
                              <m:r>
                                <a:rPr lang="es-ES" sz="2400" i="1">
                                  <a:latin typeface="Cambria Math" panose="02040503050406030204" pitchFamily="18" charset="0"/>
                                </a:rPr>
                                <m:t>𝑛</m:t>
                              </m:r>
                              <m:r>
                                <a:rPr lang="es-ES" sz="2400" i="1">
                                  <a:latin typeface="Cambria Math" panose="02040503050406030204" pitchFamily="18" charset="0"/>
                                </a:rPr>
                                <m:t>−</m:t>
                              </m:r>
                              <m:r>
                                <a:rPr lang="es-ES" sz="2400" i="1">
                                  <a:latin typeface="Cambria Math" panose="02040503050406030204" pitchFamily="18" charset="0"/>
                                </a:rPr>
                                <m:t>𝑘</m:t>
                              </m:r>
                            </m:sub>
                          </m:sSub>
                          <m:r>
                            <m:rPr>
                              <m:sty m:val="p"/>
                            </m:rPr>
                            <a:rPr lang="es-ES" sz="2400" i="1">
                              <a:latin typeface="Cambria Math" panose="02040503050406030204" pitchFamily="18" charset="0"/>
                            </a:rPr>
                            <m:t>Δ</m:t>
                          </m:r>
                          <m:r>
                            <a:rPr lang="es-ES" sz="2400" i="1">
                              <a:latin typeface="Cambria Math" panose="02040503050406030204" pitchFamily="18" charset="0"/>
                            </a:rPr>
                            <m:t>𝑡</m:t>
                          </m:r>
                        </m:e>
                      </m:d>
                    </m:oMath>
                  </m:oMathPara>
                </a14:m>
                <a:endParaRPr lang="es-ES" sz="2400" dirty="0"/>
              </a:p>
              <a:p>
                <a:pPr marL="0" indent="0">
                  <a:buNone/>
                </a:pPr>
                <a:endParaRPr lang="es-ES" sz="2400" dirty="0"/>
              </a:p>
              <a:p>
                <a:r>
                  <a:rPr lang="es-ES" sz="2400" dirty="0"/>
                  <a:t>Métodos explícitos: </a:t>
                </a:r>
                <a:r>
                  <a:rPr lang="es-ES" sz="2400" b="1" dirty="0"/>
                  <a:t>no</a:t>
                </a:r>
                <a:r>
                  <a:rPr lang="es-ES" sz="2400" dirty="0"/>
                  <a:t> se utiliza </a:t>
                </a:r>
                <a14:m>
                  <m:oMath xmlns:m="http://schemas.openxmlformats.org/officeDocument/2006/math">
                    <m:r>
                      <m:rPr>
                        <m:sty m:val="p"/>
                      </m:rPr>
                      <a:rPr lang="en-GB" sz="2400" b="0" i="1" smtClean="0">
                        <a:latin typeface="Cambria Math" panose="02040503050406030204" pitchFamily="18" charset="0"/>
                      </a:rPr>
                      <m:t>f</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m:rPr>
                            <m:sty m:val="p"/>
                          </m:rPr>
                          <a:rPr lang="en-GB" sz="2400" b="0" i="1" smtClean="0">
                            <a:latin typeface="Cambria Math" panose="02040503050406030204" pitchFamily="18" charset="0"/>
                          </a:rPr>
                          <m:t>t</m:t>
                        </m:r>
                      </m:e>
                      <m:sub>
                        <m:r>
                          <m:rPr>
                            <m:sty m:val="p"/>
                          </m:rPr>
                          <a:rPr lang="en-GB" sz="2400" b="0" i="1" smtClean="0">
                            <a:latin typeface="Cambria Math" panose="02040503050406030204" pitchFamily="18" charset="0"/>
                          </a:rPr>
                          <m:t>n</m:t>
                        </m:r>
                        <m:r>
                          <a:rPr lang="en-GB" sz="2400" b="0" i="1" smtClean="0">
                            <a:latin typeface="Cambria Math" panose="02040503050406030204" pitchFamily="18" charset="0"/>
                          </a:rPr>
                          <m:t>+1</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m:rPr>
                            <m:sty m:val="p"/>
                          </m:rPr>
                          <a:rPr lang="en-GB" sz="2400" b="0" i="1" smtClean="0">
                            <a:latin typeface="Cambria Math" panose="02040503050406030204" pitchFamily="18" charset="0"/>
                          </a:rPr>
                          <m:t>y</m:t>
                        </m:r>
                      </m:e>
                      <m:sub>
                        <m:r>
                          <m:rPr>
                            <m:sty m:val="p"/>
                          </m:rPr>
                          <a:rPr lang="en-GB" sz="2400" b="0" i="1" smtClean="0">
                            <a:latin typeface="Cambria Math" panose="02040503050406030204" pitchFamily="18" charset="0"/>
                          </a:rPr>
                          <m:t>n</m:t>
                        </m:r>
                        <m:r>
                          <a:rPr lang="en-GB" sz="2400" b="0" i="1" smtClean="0">
                            <a:latin typeface="Cambria Math" panose="02040503050406030204" pitchFamily="18" charset="0"/>
                          </a:rPr>
                          <m:t>+1</m:t>
                        </m:r>
                      </m:sub>
                    </m:sSub>
                    <m:r>
                      <a:rPr lang="en-GB" sz="2400" b="0" i="1" smtClean="0">
                        <a:latin typeface="Cambria Math" panose="02040503050406030204" pitchFamily="18" charset="0"/>
                      </a:rPr>
                      <m:t>)</m:t>
                    </m:r>
                  </m:oMath>
                </a14:m>
                <a:endParaRPr lang="es-ES" sz="2400" dirty="0"/>
              </a:p>
              <a:p>
                <a:r>
                  <a:rPr lang="es-ES" sz="2400" dirty="0"/>
                  <a:t>Métodos implícitos: </a:t>
                </a:r>
                <a:r>
                  <a:rPr lang="es-ES" sz="2400" b="1" dirty="0"/>
                  <a:t>sí</a:t>
                </a:r>
                <a:r>
                  <a:rPr lang="es-ES" sz="2400" dirty="0"/>
                  <a:t> se utiliza </a:t>
                </a:r>
                <a14:m>
                  <m:oMath xmlns:m="http://schemas.openxmlformats.org/officeDocument/2006/math">
                    <m:r>
                      <m:rPr>
                        <m:sty m:val="p"/>
                      </m:rPr>
                      <a:rPr lang="en-GB" sz="2400" i="1">
                        <a:latin typeface="Cambria Math" panose="02040503050406030204" pitchFamily="18" charset="0"/>
                      </a:rPr>
                      <m:t>f</m:t>
                    </m:r>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t</m:t>
                        </m:r>
                      </m:e>
                      <m:sub>
                        <m:r>
                          <m:rPr>
                            <m:sty m:val="p"/>
                          </m:rPr>
                          <a:rPr lang="en-GB" sz="2400" i="1">
                            <a:latin typeface="Cambria Math" panose="02040503050406030204" pitchFamily="18" charset="0"/>
                          </a:rPr>
                          <m:t>n</m:t>
                        </m:r>
                        <m:r>
                          <a:rPr lang="en-GB" sz="2400" i="1">
                            <a:latin typeface="Cambria Math" panose="02040503050406030204" pitchFamily="18" charset="0"/>
                          </a:rPr>
                          <m:t>+1</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y</m:t>
                        </m:r>
                      </m:e>
                      <m:sub>
                        <m:r>
                          <m:rPr>
                            <m:sty m:val="p"/>
                          </m:rPr>
                          <a:rPr lang="en-GB" sz="2400" i="1">
                            <a:latin typeface="Cambria Math" panose="02040503050406030204" pitchFamily="18" charset="0"/>
                          </a:rPr>
                          <m:t>n</m:t>
                        </m:r>
                        <m:r>
                          <a:rPr lang="en-GB" sz="2400" i="1">
                            <a:latin typeface="Cambria Math" panose="02040503050406030204" pitchFamily="18" charset="0"/>
                          </a:rPr>
                          <m:t>+1</m:t>
                        </m:r>
                      </m:sub>
                    </m:sSub>
                    <m:r>
                      <a:rPr lang="en-GB" sz="2400" i="1">
                        <a:latin typeface="Cambria Math" panose="02040503050406030204" pitchFamily="18" charset="0"/>
                      </a:rPr>
                      <m:t>)</m:t>
                    </m:r>
                  </m:oMath>
                </a14:m>
                <a:endParaRPr lang="es-ES" sz="2400" dirty="0"/>
              </a:p>
              <a:p>
                <a:endParaRPr lang="es-ES" sz="2400" dirty="0"/>
              </a:p>
              <a:p>
                <a:r>
                  <a:rPr lang="es-ES" sz="2400" dirty="0"/>
                  <a:t>Métodos de </a:t>
                </a:r>
                <a:r>
                  <a:rPr lang="es-ES" sz="2400" b="1" dirty="0"/>
                  <a:t>un solo paso</a:t>
                </a:r>
                <a:r>
                  <a:rPr lang="es-ES" sz="2400" dirty="0"/>
                  <a:t>: sólo se utiliza </a:t>
                </a:r>
                <a14:m>
                  <m:oMath xmlns:m="http://schemas.openxmlformats.org/officeDocument/2006/math">
                    <m:r>
                      <m:rPr>
                        <m:sty m:val="p"/>
                      </m:rPr>
                      <a:rPr lang="en-GB" sz="2400" i="1">
                        <a:latin typeface="Cambria Math" panose="02040503050406030204" pitchFamily="18" charset="0"/>
                      </a:rPr>
                      <m:t>f</m:t>
                    </m:r>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t</m:t>
                        </m:r>
                      </m:e>
                      <m:sub>
                        <m:r>
                          <m:rPr>
                            <m:sty m:val="p"/>
                          </m:rPr>
                          <a:rPr lang="en-GB" sz="2400" i="1">
                            <a:latin typeface="Cambria Math" panose="02040503050406030204" pitchFamily="18" charset="0"/>
                          </a:rPr>
                          <m:t>n</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y</m:t>
                        </m:r>
                      </m:e>
                      <m:sub>
                        <m:r>
                          <m:rPr>
                            <m:sty m:val="p"/>
                          </m:rPr>
                          <a:rPr lang="en-GB" sz="2400" i="1">
                            <a:latin typeface="Cambria Math" panose="02040503050406030204" pitchFamily="18" charset="0"/>
                          </a:rPr>
                          <m:t>n</m:t>
                        </m:r>
                      </m:sub>
                    </m:sSub>
                    <m:r>
                      <a:rPr lang="en-GB" sz="2400" i="1">
                        <a:latin typeface="Cambria Math" panose="02040503050406030204" pitchFamily="18" charset="0"/>
                      </a:rPr>
                      <m:t>)</m:t>
                    </m:r>
                  </m:oMath>
                </a14:m>
                <a:endParaRPr lang="es-ES" sz="2400" dirty="0"/>
              </a:p>
              <a:p>
                <a:r>
                  <a:rPr lang="es-ES" sz="2400" dirty="0"/>
                  <a:t>Métodos </a:t>
                </a:r>
                <a:r>
                  <a:rPr lang="es-ES" sz="2400" b="1" dirty="0" err="1"/>
                  <a:t>multipaso</a:t>
                </a:r>
                <a:r>
                  <a:rPr lang="es-ES" sz="2400" dirty="0"/>
                  <a:t>: se utilizan </a:t>
                </a:r>
                <a14:m>
                  <m:oMath xmlns:m="http://schemas.openxmlformats.org/officeDocument/2006/math">
                    <m:r>
                      <m:rPr>
                        <m:sty m:val="p"/>
                      </m:rPr>
                      <a:rPr lang="en-GB" sz="2400" i="1">
                        <a:latin typeface="Cambria Math" panose="02040503050406030204" pitchFamily="18" charset="0"/>
                      </a:rPr>
                      <m:t>f</m:t>
                    </m:r>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t</m:t>
                        </m:r>
                      </m:e>
                      <m:sub>
                        <m:r>
                          <m:rPr>
                            <m:sty m:val="p"/>
                          </m:rPr>
                          <a:rPr lang="en-GB" sz="2400" i="1">
                            <a:latin typeface="Cambria Math" panose="02040503050406030204" pitchFamily="18" charset="0"/>
                          </a:rPr>
                          <m:t>n</m:t>
                        </m:r>
                        <m:r>
                          <a:rPr lang="en-GB" sz="2400" b="0" i="1" smtClean="0">
                            <a:latin typeface="Cambria Math" panose="02040503050406030204" pitchFamily="18" charset="0"/>
                          </a:rPr>
                          <m:t>−</m:t>
                        </m:r>
                        <m:r>
                          <a:rPr lang="en-GB" sz="2400" i="1">
                            <a:latin typeface="Cambria Math" panose="02040503050406030204" pitchFamily="18" charset="0"/>
                          </a:rPr>
                          <m:t>1</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y</m:t>
                        </m:r>
                      </m:e>
                      <m:sub>
                        <m:r>
                          <m:rPr>
                            <m:sty m:val="p"/>
                          </m:rPr>
                          <a:rPr lang="en-GB" sz="2400" i="1">
                            <a:latin typeface="Cambria Math" panose="02040503050406030204" pitchFamily="18" charset="0"/>
                          </a:rPr>
                          <m:t>n</m:t>
                        </m:r>
                        <m:r>
                          <a:rPr lang="en-GB" sz="2400" b="0" i="1" smtClean="0">
                            <a:latin typeface="Cambria Math" panose="02040503050406030204" pitchFamily="18" charset="0"/>
                          </a:rPr>
                          <m:t>−</m:t>
                        </m:r>
                        <m:r>
                          <a:rPr lang="en-GB" sz="2400" i="1">
                            <a:latin typeface="Cambria Math" panose="02040503050406030204" pitchFamily="18" charset="0"/>
                          </a:rPr>
                          <m:t>1</m:t>
                        </m:r>
                      </m:sub>
                    </m:sSub>
                    <m:r>
                      <a:rPr lang="en-GB" sz="2400" i="1">
                        <a:latin typeface="Cambria Math" panose="02040503050406030204" pitchFamily="18" charset="0"/>
                      </a:rPr>
                      <m:t>)</m:t>
                    </m:r>
                    <m:r>
                      <a:rPr lang="en-GB" sz="2400" b="0" i="1" smtClean="0">
                        <a:latin typeface="Cambria Math" panose="02040503050406030204" pitchFamily="18" charset="0"/>
                      </a:rPr>
                      <m:t>,  </m:t>
                    </m:r>
                    <m:r>
                      <m:rPr>
                        <m:sty m:val="p"/>
                      </m:rPr>
                      <a:rPr lang="en-GB" sz="2400" b="0" i="1" smtClean="0">
                        <a:latin typeface="Cambria Math" panose="02040503050406030204" pitchFamily="18" charset="0"/>
                      </a:rPr>
                      <m:t>f</m:t>
                    </m:r>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t</m:t>
                        </m:r>
                      </m:e>
                      <m:sub>
                        <m:r>
                          <m:rPr>
                            <m:sty m:val="p"/>
                          </m:rPr>
                          <a:rPr lang="en-GB" sz="2400" i="1">
                            <a:latin typeface="Cambria Math" panose="02040503050406030204" pitchFamily="18" charset="0"/>
                          </a:rPr>
                          <m:t>n</m:t>
                        </m:r>
                        <m:r>
                          <a:rPr lang="en-GB" sz="2400" i="1">
                            <a:latin typeface="Cambria Math" panose="02040503050406030204" pitchFamily="18" charset="0"/>
                          </a:rPr>
                          <m:t>−2</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m:rPr>
                            <m:sty m:val="p"/>
                          </m:rPr>
                          <a:rPr lang="en-GB" sz="2400" i="1">
                            <a:latin typeface="Cambria Math" panose="02040503050406030204" pitchFamily="18" charset="0"/>
                          </a:rPr>
                          <m:t>y</m:t>
                        </m:r>
                      </m:e>
                      <m:sub>
                        <m:r>
                          <m:rPr>
                            <m:sty m:val="p"/>
                          </m:rPr>
                          <a:rPr lang="en-GB" sz="2400" i="1">
                            <a:latin typeface="Cambria Math" panose="02040503050406030204" pitchFamily="18" charset="0"/>
                          </a:rPr>
                          <m:t>n</m:t>
                        </m:r>
                        <m:r>
                          <a:rPr lang="en-GB" sz="2400" i="1">
                            <a:latin typeface="Cambria Math" panose="02040503050406030204" pitchFamily="18" charset="0"/>
                          </a:rPr>
                          <m:t>−2</m:t>
                        </m:r>
                      </m:sub>
                    </m:sSub>
                    <m:r>
                      <a:rPr lang="en-GB" sz="2400" i="1">
                        <a:latin typeface="Cambria Math" panose="02040503050406030204" pitchFamily="18" charset="0"/>
                      </a:rPr>
                      <m:t>)</m:t>
                    </m:r>
                  </m:oMath>
                </a14:m>
                <a:r>
                  <a:rPr lang="es-ES" sz="2400" dirty="0"/>
                  <a:t>, …</a:t>
                </a:r>
              </a:p>
              <a:p>
                <a:endParaRPr lang="es-ES" sz="2400" dirty="0"/>
              </a:p>
            </p:txBody>
          </p:sp>
        </mc:Choice>
        <mc:Fallback xmlns="">
          <p:sp>
            <p:nvSpPr>
              <p:cNvPr id="3" name="Marcador de contenido 2">
                <a:extLst>
                  <a:ext uri="{FF2B5EF4-FFF2-40B4-BE49-F238E27FC236}">
                    <a16:creationId xmlns:a16="http://schemas.microsoft.com/office/drawing/2014/main" id="{53972E55-D14C-BA73-5F53-30FC49A0DD14}"/>
                  </a:ext>
                </a:extLst>
              </p:cNvPr>
              <p:cNvSpPr>
                <a:spLocks noGrp="1" noRot="1" noChangeAspect="1" noMove="1" noResize="1" noEditPoints="1" noAdjustHandles="1" noChangeArrowheads="1" noChangeShapeType="1" noTextEdit="1"/>
              </p:cNvSpPr>
              <p:nvPr>
                <p:ph idx="1"/>
              </p:nvPr>
            </p:nvSpPr>
            <p:spPr>
              <a:xfrm>
                <a:off x="1104293" y="1702043"/>
                <a:ext cx="9404723" cy="4703239"/>
              </a:xfrm>
              <a:blipFill>
                <a:blip r:embed="rId3"/>
                <a:stretch>
                  <a:fillRect l="-518" t="-1036"/>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AE6213A-5451-000C-A431-50A46B6D06E5}"/>
              </a:ext>
            </a:extLst>
          </p:cNvPr>
          <p:cNvSpPr>
            <a:spLocks noGrp="1"/>
          </p:cNvSpPr>
          <p:nvPr>
            <p:ph type="sldNum" sz="quarter" idx="12"/>
          </p:nvPr>
        </p:nvSpPr>
        <p:spPr/>
        <p:txBody>
          <a:bodyPr/>
          <a:lstStyle/>
          <a:p>
            <a:fld id="{E7DC7EB3-C4C6-4D12-A310-6984ACFEFAFF}" type="slidenum">
              <a:rPr lang="en-GB" smtClean="0"/>
              <a:t>6</a:t>
            </a:fld>
            <a:endParaRPr lang="en-GB"/>
          </a:p>
        </p:txBody>
      </p:sp>
    </p:spTree>
    <p:extLst>
      <p:ext uri="{BB962C8B-B14F-4D97-AF65-F5344CB8AC3E}">
        <p14:creationId xmlns:p14="http://schemas.microsoft.com/office/powerpoint/2010/main" val="2166593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9F2458C-FF25-531F-64CD-EF65FA7FF9EA}"/>
              </a:ext>
            </a:extLst>
          </p:cNvPr>
          <p:cNvSpPr>
            <a:spLocks noGrp="1"/>
          </p:cNvSpPr>
          <p:nvPr>
            <p:ph type="title"/>
          </p:nvPr>
        </p:nvSpPr>
        <p:spPr>
          <a:xfrm>
            <a:off x="638298" y="618634"/>
            <a:ext cx="4558288" cy="1008148"/>
          </a:xfrm>
        </p:spPr>
        <p:txBody>
          <a:bodyPr>
            <a:normAutofit/>
          </a:bodyPr>
          <a:lstStyle/>
          <a:p>
            <a:r>
              <a:rPr lang="es-ES" dirty="0">
                <a:solidFill>
                  <a:srgbClr val="EBEBEB"/>
                </a:solidFill>
              </a:rPr>
              <a:t>Método de Euler</a:t>
            </a:r>
          </a:p>
        </p:txBody>
      </p:sp>
      <p:sp>
        <p:nvSpPr>
          <p:cNvPr id="14"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81E7B4AF-7DAB-7FB3-64E3-342423F0D2A8}"/>
                  </a:ext>
                </a:extLst>
              </p:cNvPr>
              <p:cNvSpPr>
                <a:spLocks noGrp="1"/>
              </p:cNvSpPr>
              <p:nvPr>
                <p:ph idx="1"/>
              </p:nvPr>
            </p:nvSpPr>
            <p:spPr>
              <a:xfrm>
                <a:off x="589097" y="1503641"/>
                <a:ext cx="4842977" cy="5354359"/>
              </a:xfrm>
            </p:spPr>
            <p:txBody>
              <a:bodyPr>
                <a:normAutofit/>
              </a:bodyPr>
              <a:lstStyle/>
              <a:p>
                <a:r>
                  <a:rPr lang="en-US" dirty="0" err="1">
                    <a:solidFill>
                      <a:srgbClr val="EBEBEB"/>
                    </a:solidFill>
                    <a:latin typeface="+mn-lt"/>
                  </a:rPr>
                  <a:t>Explícito</a:t>
                </a:r>
                <a:r>
                  <a:rPr lang="en-US" dirty="0">
                    <a:solidFill>
                      <a:srgbClr val="EBEBEB"/>
                    </a:solidFill>
                    <a:latin typeface="+mn-lt"/>
                  </a:rPr>
                  <a:t> y de un paso</a:t>
                </a:r>
              </a:p>
              <a:p>
                <a14:m>
                  <m:oMath xmlns:m="http://schemas.openxmlformats.org/officeDocument/2006/math">
                    <m:sSub>
                      <m:sSubPr>
                        <m:ctrlPr>
                          <a:rPr lang="en-US" i="1">
                            <a:solidFill>
                              <a:srgbClr val="EBEBEB"/>
                            </a:solidFill>
                            <a:latin typeface="Cambria Math" panose="02040503050406030204" pitchFamily="18" charset="0"/>
                          </a:rPr>
                        </m:ctrlPr>
                      </m:sSubPr>
                      <m:e>
                        <m:r>
                          <a:rPr lang="en-US" i="1">
                            <a:solidFill>
                              <a:srgbClr val="EBEBEB"/>
                            </a:solidFill>
                            <a:latin typeface="Cambria Math" panose="02040503050406030204" pitchFamily="18" charset="0"/>
                          </a:rPr>
                          <m:t>𝑦</m:t>
                        </m:r>
                      </m:e>
                      <m:sub>
                        <m:r>
                          <a:rPr lang="en-US" i="1">
                            <a:solidFill>
                              <a:srgbClr val="EBEBEB"/>
                            </a:solidFill>
                            <a:latin typeface="Cambria Math" panose="02040503050406030204" pitchFamily="18" charset="0"/>
                          </a:rPr>
                          <m:t>𝑛</m:t>
                        </m:r>
                        <m:r>
                          <a:rPr lang="en-US" i="1">
                            <a:solidFill>
                              <a:srgbClr val="EBEBEB"/>
                            </a:solidFill>
                            <a:latin typeface="Cambria Math" panose="02040503050406030204" pitchFamily="18" charset="0"/>
                          </a:rPr>
                          <m:t>+1</m:t>
                        </m:r>
                      </m:sub>
                    </m:sSub>
                    <m:r>
                      <a:rPr lang="en-US" i="1">
                        <a:solidFill>
                          <a:srgbClr val="EBEBEB"/>
                        </a:solidFill>
                        <a:latin typeface="Cambria Math" panose="02040503050406030204" pitchFamily="18" charset="0"/>
                      </a:rPr>
                      <m:t>=</m:t>
                    </m:r>
                    <m:sSub>
                      <m:sSubPr>
                        <m:ctrlPr>
                          <a:rPr lang="en-US" i="1">
                            <a:solidFill>
                              <a:srgbClr val="EBEBEB"/>
                            </a:solidFill>
                            <a:latin typeface="Cambria Math" panose="02040503050406030204" pitchFamily="18" charset="0"/>
                          </a:rPr>
                        </m:ctrlPr>
                      </m:sSubPr>
                      <m:e>
                        <m:r>
                          <a:rPr lang="en-US" i="1">
                            <a:solidFill>
                              <a:srgbClr val="EBEBEB"/>
                            </a:solidFill>
                            <a:latin typeface="Cambria Math" panose="02040503050406030204" pitchFamily="18" charset="0"/>
                          </a:rPr>
                          <m:t>𝑦</m:t>
                        </m:r>
                      </m:e>
                      <m:sub>
                        <m:r>
                          <a:rPr lang="en-US" i="1">
                            <a:solidFill>
                              <a:srgbClr val="EBEBEB"/>
                            </a:solidFill>
                            <a:latin typeface="Cambria Math" panose="02040503050406030204" pitchFamily="18" charset="0"/>
                          </a:rPr>
                          <m:t>𝑛</m:t>
                        </m:r>
                      </m:sub>
                    </m:sSub>
                    <m:r>
                      <a:rPr lang="en-US" i="1">
                        <a:solidFill>
                          <a:srgbClr val="EBEBEB"/>
                        </a:solidFill>
                        <a:latin typeface="Cambria Math" panose="02040503050406030204" pitchFamily="18" charset="0"/>
                      </a:rPr>
                      <m:t>+</m:t>
                    </m:r>
                    <m:r>
                      <m:rPr>
                        <m:sty m:val="p"/>
                      </m:rPr>
                      <a:rPr lang="en-US" i="1">
                        <a:solidFill>
                          <a:srgbClr val="EBEBEB"/>
                        </a:solidFill>
                        <a:latin typeface="Cambria Math" panose="02040503050406030204" pitchFamily="18" charset="0"/>
                      </a:rPr>
                      <m:t>Δ</m:t>
                    </m:r>
                    <m:r>
                      <a:rPr lang="en-US" i="1">
                        <a:solidFill>
                          <a:srgbClr val="EBEBEB"/>
                        </a:solidFill>
                        <a:latin typeface="Cambria Math" panose="02040503050406030204" pitchFamily="18" charset="0"/>
                      </a:rPr>
                      <m:t>𝑡</m:t>
                    </m:r>
                    <m:r>
                      <a:rPr lang="en-US" i="1">
                        <a:solidFill>
                          <a:srgbClr val="EBEBEB"/>
                        </a:solidFill>
                        <a:latin typeface="Cambria Math" panose="02040503050406030204" pitchFamily="18" charset="0"/>
                      </a:rPr>
                      <m:t>⋅</m:t>
                    </m:r>
                    <m:r>
                      <a:rPr lang="en-US" i="1">
                        <a:solidFill>
                          <a:srgbClr val="EBEBEB"/>
                        </a:solidFill>
                        <a:latin typeface="Cambria Math" panose="02040503050406030204" pitchFamily="18" charset="0"/>
                      </a:rPr>
                      <m:t>𝑓</m:t>
                    </m:r>
                    <m:d>
                      <m:dPr>
                        <m:ctrlPr>
                          <a:rPr lang="en-US" i="1">
                            <a:solidFill>
                              <a:srgbClr val="EBEBEB"/>
                            </a:solidFill>
                            <a:latin typeface="Cambria Math" panose="02040503050406030204" pitchFamily="18" charset="0"/>
                          </a:rPr>
                        </m:ctrlPr>
                      </m:dPr>
                      <m:e>
                        <m:sSub>
                          <m:sSubPr>
                            <m:ctrlPr>
                              <a:rPr lang="en-US" i="1">
                                <a:solidFill>
                                  <a:srgbClr val="EBEBEB"/>
                                </a:solidFill>
                                <a:latin typeface="Cambria Math" panose="02040503050406030204" pitchFamily="18" charset="0"/>
                              </a:rPr>
                            </m:ctrlPr>
                          </m:sSubPr>
                          <m:e>
                            <m:r>
                              <a:rPr lang="en-US" i="1">
                                <a:solidFill>
                                  <a:srgbClr val="EBEBEB"/>
                                </a:solidFill>
                                <a:latin typeface="Cambria Math" panose="02040503050406030204" pitchFamily="18" charset="0"/>
                              </a:rPr>
                              <m:t>𝑡</m:t>
                            </m:r>
                          </m:e>
                          <m:sub>
                            <m:r>
                              <a:rPr lang="en-US" i="1">
                                <a:solidFill>
                                  <a:srgbClr val="EBEBEB"/>
                                </a:solidFill>
                                <a:latin typeface="Cambria Math" panose="02040503050406030204" pitchFamily="18" charset="0"/>
                              </a:rPr>
                              <m:t>𝑛</m:t>
                            </m:r>
                          </m:sub>
                        </m:sSub>
                        <m:r>
                          <a:rPr lang="en-US" i="1">
                            <a:solidFill>
                              <a:srgbClr val="EBEBEB"/>
                            </a:solidFill>
                            <a:latin typeface="Cambria Math" panose="02040503050406030204" pitchFamily="18" charset="0"/>
                          </a:rPr>
                          <m:t>,</m:t>
                        </m:r>
                        <m:sSub>
                          <m:sSubPr>
                            <m:ctrlPr>
                              <a:rPr lang="en-US" i="1">
                                <a:solidFill>
                                  <a:srgbClr val="EBEBEB"/>
                                </a:solidFill>
                                <a:latin typeface="Cambria Math" panose="02040503050406030204" pitchFamily="18" charset="0"/>
                              </a:rPr>
                            </m:ctrlPr>
                          </m:sSubPr>
                          <m:e>
                            <m:r>
                              <a:rPr lang="en-US" i="1">
                                <a:solidFill>
                                  <a:srgbClr val="EBEBEB"/>
                                </a:solidFill>
                                <a:latin typeface="Cambria Math" panose="02040503050406030204" pitchFamily="18" charset="0"/>
                              </a:rPr>
                              <m:t>𝑦</m:t>
                            </m:r>
                          </m:e>
                          <m:sub>
                            <m:r>
                              <a:rPr lang="en-US" i="1">
                                <a:solidFill>
                                  <a:srgbClr val="EBEBEB"/>
                                </a:solidFill>
                                <a:latin typeface="Cambria Math" panose="02040503050406030204" pitchFamily="18" charset="0"/>
                              </a:rPr>
                              <m:t>𝑛</m:t>
                            </m:r>
                          </m:sub>
                        </m:sSub>
                      </m:e>
                    </m:d>
                  </m:oMath>
                </a14:m>
                <a:endParaRPr lang="en-US" dirty="0">
                  <a:solidFill>
                    <a:srgbClr val="EBEBEB"/>
                  </a:solidFill>
                </a:endParaRPr>
              </a:p>
              <a:p>
                <a:r>
                  <a:rPr lang="es-ES" noProof="0" dirty="0">
                    <a:solidFill>
                      <a:srgbClr val="EBEBEB"/>
                    </a:solidFill>
                    <a:latin typeface="+mn-lt"/>
                  </a:rPr>
                  <a:t>Calculamos cada paso </a:t>
                </a:r>
                <a:r>
                  <a:rPr lang="es-ES" b="1" noProof="0" dirty="0">
                    <a:solidFill>
                      <a:srgbClr val="EBEBEB"/>
                    </a:solidFill>
                    <a:latin typeface="+mn-lt"/>
                  </a:rPr>
                  <a:t>iterativamente</a:t>
                </a:r>
                <a:r>
                  <a:rPr lang="es-ES" noProof="0" dirty="0">
                    <a:solidFill>
                      <a:srgbClr val="EBEBEB"/>
                    </a:solidFill>
                    <a:latin typeface="+mn-lt"/>
                  </a:rPr>
                  <a:t> apoyándonos en el anterior, desde </a:t>
                </a:r>
                <a14:m>
                  <m:oMath xmlns:m="http://schemas.openxmlformats.org/officeDocument/2006/math">
                    <m:sSub>
                      <m:sSubPr>
                        <m:ctrlPr>
                          <a:rPr lang="en-GB" b="0" i="1" smtClean="0">
                            <a:solidFill>
                              <a:srgbClr val="EBEBEB"/>
                            </a:solidFill>
                            <a:latin typeface="Cambria Math" panose="02040503050406030204" pitchFamily="18" charset="0"/>
                          </a:rPr>
                        </m:ctrlPr>
                      </m:sSubPr>
                      <m:e>
                        <m:r>
                          <m:rPr>
                            <m:sty m:val="p"/>
                          </m:rPr>
                          <a:rPr lang="en-GB" b="0" i="1" smtClean="0">
                            <a:solidFill>
                              <a:srgbClr val="EBEBEB"/>
                            </a:solidFill>
                            <a:latin typeface="Cambria Math" panose="02040503050406030204" pitchFamily="18" charset="0"/>
                          </a:rPr>
                          <m:t>t</m:t>
                        </m:r>
                      </m:e>
                      <m:sub>
                        <m:r>
                          <a:rPr lang="en-GB" b="0" i="1" smtClean="0">
                            <a:solidFill>
                              <a:srgbClr val="EBEBEB"/>
                            </a:solidFill>
                            <a:latin typeface="Cambria Math" panose="02040503050406030204" pitchFamily="18" charset="0"/>
                          </a:rPr>
                          <m:t>0</m:t>
                        </m:r>
                      </m:sub>
                    </m:sSub>
                  </m:oMath>
                </a14:m>
                <a:r>
                  <a:rPr lang="en-US" dirty="0">
                    <a:solidFill>
                      <a:srgbClr val="EBEBEB"/>
                    </a:solidFill>
                  </a:rPr>
                  <a:t> </a:t>
                </a:r>
                <a:r>
                  <a:rPr lang="es-ES" noProof="0" dirty="0">
                    <a:solidFill>
                      <a:srgbClr val="EBEBEB"/>
                    </a:solidFill>
                    <a:latin typeface="+mn-lt"/>
                  </a:rPr>
                  <a:t>hasta</a:t>
                </a:r>
                <a:r>
                  <a:rPr lang="en-US" dirty="0">
                    <a:solidFill>
                      <a:srgbClr val="EBEBEB"/>
                    </a:solidFill>
                  </a:rPr>
                  <a:t> </a:t>
                </a:r>
                <a14:m>
                  <m:oMath xmlns:m="http://schemas.openxmlformats.org/officeDocument/2006/math">
                    <m:sSub>
                      <m:sSubPr>
                        <m:ctrlPr>
                          <a:rPr lang="en-GB" b="0" i="1" smtClean="0">
                            <a:solidFill>
                              <a:srgbClr val="EBEBEB"/>
                            </a:solidFill>
                            <a:latin typeface="Cambria Math" panose="02040503050406030204" pitchFamily="18" charset="0"/>
                          </a:rPr>
                        </m:ctrlPr>
                      </m:sSubPr>
                      <m:e>
                        <m:r>
                          <m:rPr>
                            <m:sty m:val="p"/>
                          </m:rPr>
                          <a:rPr lang="en-GB" b="0" i="1" smtClean="0">
                            <a:solidFill>
                              <a:srgbClr val="EBEBEB"/>
                            </a:solidFill>
                            <a:latin typeface="Cambria Math" panose="02040503050406030204" pitchFamily="18" charset="0"/>
                          </a:rPr>
                          <m:t>t</m:t>
                        </m:r>
                      </m:e>
                      <m:sub>
                        <m:r>
                          <m:rPr>
                            <m:sty m:val="p"/>
                          </m:rPr>
                          <a:rPr lang="en-GB" b="0" i="1" smtClean="0">
                            <a:solidFill>
                              <a:srgbClr val="EBEBEB"/>
                            </a:solidFill>
                            <a:latin typeface="Cambria Math" panose="02040503050406030204" pitchFamily="18" charset="0"/>
                          </a:rPr>
                          <m:t>f</m:t>
                        </m:r>
                      </m:sub>
                    </m:sSub>
                  </m:oMath>
                </a14:m>
                <a:endParaRPr lang="en-US" dirty="0">
                  <a:solidFill>
                    <a:srgbClr val="EBEBEB"/>
                  </a:solidFill>
                </a:endParaRPr>
              </a:p>
              <a:p>
                <a:pPr marL="0" indent="0">
                  <a:buNone/>
                </a:pPr>
                <a:endParaRPr lang="en-US" dirty="0">
                  <a:solidFill>
                    <a:srgbClr val="EBEBEB"/>
                  </a:solidFill>
                </a:endParaRPr>
              </a:p>
              <a:p>
                <a:pPr marL="0" indent="0">
                  <a:buNone/>
                </a:pPr>
                <a:endParaRPr lang="en-US" dirty="0">
                  <a:solidFill>
                    <a:srgbClr val="EBEBEB"/>
                  </a:solidFill>
                </a:endParaRPr>
              </a:p>
              <a:p>
                <a:r>
                  <a:rPr lang="es-ES" b="1" noProof="0" dirty="0">
                    <a:solidFill>
                      <a:srgbClr val="EBEBEB"/>
                    </a:solidFill>
                  </a:rPr>
                  <a:t>Ejemplo</a:t>
                </a:r>
                <a:r>
                  <a:rPr lang="en-US" dirty="0">
                    <a:solidFill>
                      <a:srgbClr val="EBEBEB"/>
                    </a:solidFill>
                  </a:rPr>
                  <a:t>:</a:t>
                </a:r>
              </a:p>
              <a:p>
                <a:r>
                  <a:rPr lang="en-US" dirty="0">
                    <a:solidFill>
                      <a:srgbClr val="EBEBEB"/>
                    </a:solidFill>
                  </a:rPr>
                  <a:t>Derivada: </a:t>
                </a:r>
                <a14:m>
                  <m:oMath xmlns:m="http://schemas.openxmlformats.org/officeDocument/2006/math">
                    <m:f>
                      <m:fPr>
                        <m:ctrlPr>
                          <a:rPr lang="en-GB" i="1">
                            <a:solidFill>
                              <a:srgbClr val="EBEBEB"/>
                            </a:solidFill>
                            <a:latin typeface="Cambria Math" panose="02040503050406030204" pitchFamily="18" charset="0"/>
                          </a:rPr>
                        </m:ctrlPr>
                      </m:fPr>
                      <m:num>
                        <m:r>
                          <a:rPr lang="en-GB" i="1">
                            <a:solidFill>
                              <a:srgbClr val="EBEBEB"/>
                            </a:solidFill>
                            <a:latin typeface="Cambria Math" panose="02040503050406030204" pitchFamily="18" charset="0"/>
                          </a:rPr>
                          <m:t>𝑑𝑦</m:t>
                        </m:r>
                      </m:num>
                      <m:den>
                        <m:r>
                          <a:rPr lang="en-GB" i="1">
                            <a:solidFill>
                              <a:srgbClr val="EBEBEB"/>
                            </a:solidFill>
                            <a:latin typeface="Cambria Math" panose="02040503050406030204" pitchFamily="18" charset="0"/>
                          </a:rPr>
                          <m:t>𝑑𝑡</m:t>
                        </m:r>
                      </m:den>
                    </m:f>
                    <m:r>
                      <a:rPr lang="en-GB" i="1">
                        <a:solidFill>
                          <a:srgbClr val="EBEBEB"/>
                        </a:solidFill>
                        <a:latin typeface="Cambria Math" panose="02040503050406030204" pitchFamily="18" charset="0"/>
                      </a:rPr>
                      <m:t>=−2</m:t>
                    </m:r>
                    <m:r>
                      <a:rPr lang="en-GB" i="1">
                        <a:solidFill>
                          <a:srgbClr val="EBEBEB"/>
                        </a:solidFill>
                        <a:latin typeface="Cambria Math" panose="02040503050406030204" pitchFamily="18" charset="0"/>
                      </a:rPr>
                      <m:t>𝑦</m:t>
                    </m:r>
                  </m:oMath>
                </a14:m>
                <a:endParaRPr lang="en-US" dirty="0">
                  <a:solidFill>
                    <a:srgbClr val="EBEBEB"/>
                  </a:solidFill>
                </a:endParaRPr>
              </a:p>
              <a:p>
                <a:r>
                  <a:rPr lang="en-US" dirty="0">
                    <a:solidFill>
                      <a:srgbClr val="EBEBEB"/>
                    </a:solidFill>
                  </a:rPr>
                  <a:t>Valor </a:t>
                </a:r>
                <a:r>
                  <a:rPr lang="en-US" dirty="0" err="1">
                    <a:solidFill>
                      <a:srgbClr val="EBEBEB"/>
                    </a:solidFill>
                  </a:rPr>
                  <a:t>Inicial</a:t>
                </a:r>
                <a:r>
                  <a:rPr lang="en-US" dirty="0">
                    <a:solidFill>
                      <a:srgbClr val="EBEBEB"/>
                    </a:solidFill>
                  </a:rPr>
                  <a:t>: </a:t>
                </a:r>
                <a14:m>
                  <m:oMath xmlns:m="http://schemas.openxmlformats.org/officeDocument/2006/math">
                    <m:r>
                      <m:rPr>
                        <m:sty m:val="p"/>
                      </m:rPr>
                      <a:rPr lang="en-GB" dirty="0">
                        <a:solidFill>
                          <a:srgbClr val="EBEBEB"/>
                        </a:solidFill>
                        <a:latin typeface="Cambria Math" panose="02040503050406030204" pitchFamily="18" charset="0"/>
                      </a:rPr>
                      <m:t>y</m:t>
                    </m:r>
                    <m:r>
                      <a:rPr lang="en-GB" dirty="0">
                        <a:solidFill>
                          <a:srgbClr val="EBEBEB"/>
                        </a:solidFill>
                        <a:latin typeface="Cambria Math" panose="02040503050406030204" pitchFamily="18" charset="0"/>
                      </a:rPr>
                      <m:t>(</m:t>
                    </m:r>
                    <m:sSub>
                      <m:sSubPr>
                        <m:ctrlPr>
                          <a:rPr lang="en-GB" i="1" dirty="0">
                            <a:solidFill>
                              <a:srgbClr val="EBEBEB"/>
                            </a:solidFill>
                            <a:latin typeface="Cambria Math" panose="02040503050406030204" pitchFamily="18" charset="0"/>
                          </a:rPr>
                        </m:ctrlPr>
                      </m:sSubPr>
                      <m:e>
                        <m:r>
                          <m:rPr>
                            <m:sty m:val="p"/>
                          </m:rPr>
                          <a:rPr lang="en-GB" i="1" dirty="0">
                            <a:solidFill>
                              <a:srgbClr val="EBEBEB"/>
                            </a:solidFill>
                            <a:latin typeface="Cambria Math" panose="02040503050406030204" pitchFamily="18" charset="0"/>
                          </a:rPr>
                          <m:t>t</m:t>
                        </m:r>
                      </m:e>
                      <m:sub>
                        <m:r>
                          <a:rPr lang="en-GB" i="1" dirty="0">
                            <a:solidFill>
                              <a:srgbClr val="EBEBEB"/>
                            </a:solidFill>
                            <a:latin typeface="Cambria Math" panose="02040503050406030204" pitchFamily="18" charset="0"/>
                          </a:rPr>
                          <m:t>0</m:t>
                        </m:r>
                      </m:sub>
                    </m:sSub>
                    <m:r>
                      <a:rPr lang="en-GB" dirty="0">
                        <a:solidFill>
                          <a:srgbClr val="EBEBEB"/>
                        </a:solidFill>
                        <a:latin typeface="Cambria Math" panose="02040503050406030204" pitchFamily="18" charset="0"/>
                      </a:rPr>
                      <m:t>)</m:t>
                    </m:r>
                    <m:r>
                      <a:rPr lang="en-GB" i="1" dirty="0">
                        <a:solidFill>
                          <a:srgbClr val="EBEBEB"/>
                        </a:solidFill>
                        <a:latin typeface="Cambria Math" panose="02040503050406030204" pitchFamily="18" charset="0"/>
                      </a:rPr>
                      <m:t>=</m:t>
                    </m:r>
                    <m:r>
                      <a:rPr lang="en-GB" i="1">
                        <a:solidFill>
                          <a:srgbClr val="EBEBEB"/>
                        </a:solidFill>
                        <a:latin typeface="Cambria Math" panose="02040503050406030204" pitchFamily="18" charset="0"/>
                      </a:rPr>
                      <m:t>𝑦</m:t>
                    </m:r>
                    <m:r>
                      <a:rPr lang="en-GB" i="1">
                        <a:solidFill>
                          <a:srgbClr val="EBEBEB"/>
                        </a:solidFill>
                        <a:latin typeface="Cambria Math" panose="02040503050406030204" pitchFamily="18" charset="0"/>
                      </a:rPr>
                      <m:t>(0)=1</m:t>
                    </m:r>
                  </m:oMath>
                </a14:m>
                <a:endParaRPr lang="en-US" dirty="0">
                  <a:solidFill>
                    <a:srgbClr val="EBEBEB"/>
                  </a:solidFill>
                </a:endParaRPr>
              </a:p>
              <a:p>
                <a:r>
                  <a:rPr lang="en-US" dirty="0">
                    <a:solidFill>
                      <a:srgbClr val="EBEBEB"/>
                    </a:solidFill>
                  </a:rPr>
                  <a:t>Dominio: </a:t>
                </a:r>
                <a14:m>
                  <m:oMath xmlns:m="http://schemas.openxmlformats.org/officeDocument/2006/math">
                    <m:r>
                      <a:rPr lang="en-GB" i="1">
                        <a:solidFill>
                          <a:srgbClr val="EBEBEB"/>
                        </a:solidFill>
                        <a:latin typeface="Cambria Math" panose="02040503050406030204" pitchFamily="18" charset="0"/>
                      </a:rPr>
                      <m:t>[</m:t>
                    </m:r>
                    <m:sSub>
                      <m:sSubPr>
                        <m:ctrlPr>
                          <a:rPr lang="en-GB" i="1">
                            <a:solidFill>
                              <a:srgbClr val="EBEBEB"/>
                            </a:solidFill>
                            <a:latin typeface="Cambria Math" panose="02040503050406030204" pitchFamily="18" charset="0"/>
                          </a:rPr>
                        </m:ctrlPr>
                      </m:sSubPr>
                      <m:e>
                        <m:r>
                          <m:rPr>
                            <m:sty m:val="p"/>
                          </m:rPr>
                          <a:rPr lang="en-GB" i="1">
                            <a:solidFill>
                              <a:srgbClr val="EBEBEB"/>
                            </a:solidFill>
                            <a:latin typeface="Cambria Math" panose="02040503050406030204" pitchFamily="18" charset="0"/>
                          </a:rPr>
                          <m:t>t</m:t>
                        </m:r>
                      </m:e>
                      <m:sub>
                        <m:r>
                          <a:rPr lang="en-GB" i="1">
                            <a:solidFill>
                              <a:srgbClr val="EBEBEB"/>
                            </a:solidFill>
                            <a:latin typeface="Cambria Math" panose="02040503050406030204" pitchFamily="18" charset="0"/>
                          </a:rPr>
                          <m:t>0</m:t>
                        </m:r>
                      </m:sub>
                    </m:sSub>
                    <m:r>
                      <a:rPr lang="en-GB" i="1">
                        <a:solidFill>
                          <a:srgbClr val="EBEBEB"/>
                        </a:solidFill>
                        <a:latin typeface="Cambria Math" panose="02040503050406030204" pitchFamily="18" charset="0"/>
                      </a:rPr>
                      <m:t>,  </m:t>
                    </m:r>
                    <m:sSub>
                      <m:sSubPr>
                        <m:ctrlPr>
                          <a:rPr lang="en-GB" i="1">
                            <a:solidFill>
                              <a:srgbClr val="EBEBEB"/>
                            </a:solidFill>
                            <a:latin typeface="Cambria Math" panose="02040503050406030204" pitchFamily="18" charset="0"/>
                          </a:rPr>
                        </m:ctrlPr>
                      </m:sSubPr>
                      <m:e>
                        <m:r>
                          <m:rPr>
                            <m:sty m:val="p"/>
                          </m:rPr>
                          <a:rPr lang="en-GB" i="1">
                            <a:solidFill>
                              <a:srgbClr val="EBEBEB"/>
                            </a:solidFill>
                            <a:latin typeface="Cambria Math" panose="02040503050406030204" pitchFamily="18" charset="0"/>
                          </a:rPr>
                          <m:t>t</m:t>
                        </m:r>
                      </m:e>
                      <m:sub>
                        <m:r>
                          <m:rPr>
                            <m:sty m:val="p"/>
                          </m:rPr>
                          <a:rPr lang="en-GB" i="1">
                            <a:solidFill>
                              <a:srgbClr val="EBEBEB"/>
                            </a:solidFill>
                            <a:latin typeface="Cambria Math" panose="02040503050406030204" pitchFamily="18" charset="0"/>
                          </a:rPr>
                          <m:t>f</m:t>
                        </m:r>
                      </m:sub>
                    </m:sSub>
                    <m:r>
                      <a:rPr lang="en-GB" i="1">
                        <a:solidFill>
                          <a:srgbClr val="EBEBEB"/>
                        </a:solidFill>
                        <a:latin typeface="Cambria Math" panose="02040503050406030204" pitchFamily="18" charset="0"/>
                      </a:rPr>
                      <m:t>]=[0.0, 1.0]</m:t>
                    </m:r>
                  </m:oMath>
                </a14:m>
                <a:endParaRPr lang="en-US" dirty="0">
                  <a:solidFill>
                    <a:srgbClr val="EBEBEB"/>
                  </a:solidFill>
                </a:endParaRPr>
              </a:p>
              <a:p>
                <a:r>
                  <a:rPr lang="en-US" dirty="0" err="1">
                    <a:solidFill>
                      <a:srgbClr val="EBEBEB"/>
                    </a:solidFill>
                  </a:rPr>
                  <a:t>Tamaño</a:t>
                </a:r>
                <a:r>
                  <a:rPr lang="en-US" dirty="0">
                    <a:solidFill>
                      <a:srgbClr val="EBEBEB"/>
                    </a:solidFill>
                  </a:rPr>
                  <a:t> de paso: </a:t>
                </a:r>
                <a14:m>
                  <m:oMath xmlns:m="http://schemas.openxmlformats.org/officeDocument/2006/math">
                    <m:r>
                      <m:rPr>
                        <m:sty m:val="p"/>
                      </m:rPr>
                      <a:rPr lang="en-GB" i="1">
                        <a:solidFill>
                          <a:srgbClr val="EBEBEB"/>
                        </a:solidFill>
                        <a:latin typeface="Cambria Math" panose="02040503050406030204" pitchFamily="18" charset="0"/>
                      </a:rPr>
                      <m:t>Δ</m:t>
                    </m:r>
                    <m:r>
                      <a:rPr lang="en-GB" i="1">
                        <a:solidFill>
                          <a:srgbClr val="EBEBEB"/>
                        </a:solidFill>
                        <a:latin typeface="Cambria Math" panose="02040503050406030204" pitchFamily="18" charset="0"/>
                      </a:rPr>
                      <m:t>𝑡</m:t>
                    </m:r>
                    <m:r>
                      <a:rPr lang="en-GB" i="1">
                        <a:solidFill>
                          <a:srgbClr val="EBEBEB"/>
                        </a:solidFill>
                        <a:latin typeface="Cambria Math" panose="02040503050406030204" pitchFamily="18" charset="0"/>
                      </a:rPr>
                      <m:t>=0.1</m:t>
                    </m:r>
                  </m:oMath>
                </a14:m>
                <a:endParaRPr lang="en-US" dirty="0">
                  <a:solidFill>
                    <a:srgbClr val="EBEBEB"/>
                  </a:solidFill>
                </a:endParaRPr>
              </a:p>
              <a:p>
                <a:endParaRPr lang="en-US" dirty="0">
                  <a:solidFill>
                    <a:srgbClr val="EBEBEB"/>
                  </a:solidFill>
                </a:endParaRPr>
              </a:p>
            </p:txBody>
          </p:sp>
        </mc:Choice>
        <mc:Fallback xmlns="">
          <p:sp>
            <p:nvSpPr>
              <p:cNvPr id="9" name="Content Placeholder 8">
                <a:extLst>
                  <a:ext uri="{FF2B5EF4-FFF2-40B4-BE49-F238E27FC236}">
                    <a16:creationId xmlns:a16="http://schemas.microsoft.com/office/drawing/2014/main" id="{81E7B4AF-7DAB-7FB3-64E3-342423F0D2A8}"/>
                  </a:ext>
                </a:extLst>
              </p:cNvPr>
              <p:cNvSpPr>
                <a:spLocks noGrp="1" noRot="1" noChangeAspect="1" noMove="1" noResize="1" noEditPoints="1" noAdjustHandles="1" noChangeArrowheads="1" noChangeShapeType="1" noTextEdit="1"/>
              </p:cNvSpPr>
              <p:nvPr>
                <p:ph idx="1"/>
              </p:nvPr>
            </p:nvSpPr>
            <p:spPr>
              <a:xfrm>
                <a:off x="589097" y="1503641"/>
                <a:ext cx="4842977" cy="5354359"/>
              </a:xfrm>
              <a:blipFill>
                <a:blip r:embed="rId3"/>
                <a:stretch>
                  <a:fillRect l="-630" t="-683" r="-1763"/>
                </a:stretch>
              </a:blipFill>
            </p:spPr>
            <p:txBody>
              <a:bodyPr/>
              <a:lstStyle/>
              <a:p>
                <a:r>
                  <a:rPr lang="es-ES">
                    <a:noFill/>
                  </a:rPr>
                  <a:t> </a:t>
                </a:r>
              </a:p>
            </p:txBody>
          </p:sp>
        </mc:Fallback>
      </mc:AlternateContent>
      <p:sp>
        <p:nvSpPr>
          <p:cNvPr id="3" name="Marcador de número de diapositiva 2">
            <a:extLst>
              <a:ext uri="{FF2B5EF4-FFF2-40B4-BE49-F238E27FC236}">
                <a16:creationId xmlns:a16="http://schemas.microsoft.com/office/drawing/2014/main" id="{0D89254E-DD9A-F19F-DDBD-7C760CC34718}"/>
              </a:ext>
            </a:extLst>
          </p:cNvPr>
          <p:cNvSpPr>
            <a:spLocks noGrp="1"/>
          </p:cNvSpPr>
          <p:nvPr>
            <p:ph type="sldNum" sz="quarter" idx="12"/>
          </p:nvPr>
        </p:nvSpPr>
        <p:spPr/>
        <p:txBody>
          <a:bodyPr/>
          <a:lstStyle/>
          <a:p>
            <a:fld id="{E7DC7EB3-C4C6-4D12-A310-6984ACFEFAFF}" type="slidenum">
              <a:rPr lang="en-GB" smtClean="0"/>
              <a:t>7</a:t>
            </a:fld>
            <a:endParaRPr lang="en-GB"/>
          </a:p>
        </p:txBody>
      </p:sp>
      <p:pic>
        <p:nvPicPr>
          <p:cNvPr id="6" name="Marcador de contenido 4">
            <a:extLst>
              <a:ext uri="{FF2B5EF4-FFF2-40B4-BE49-F238E27FC236}">
                <a16:creationId xmlns:a16="http://schemas.microsoft.com/office/drawing/2014/main" id="{E70DD870-3E12-1925-24F6-F9F9866A23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8510" y="3586761"/>
            <a:ext cx="4959180" cy="2975510"/>
          </a:xfrm>
          <a:prstGeom prst="rect">
            <a:avLst/>
          </a:prstGeom>
          <a:effectLst/>
        </p:spPr>
      </p:pic>
      <p:sp>
        <p:nvSpPr>
          <p:cNvPr id="7" name="Content Placeholder 8">
            <a:extLst>
              <a:ext uri="{FF2B5EF4-FFF2-40B4-BE49-F238E27FC236}">
                <a16:creationId xmlns:a16="http://schemas.microsoft.com/office/drawing/2014/main" id="{F3F39F66-CC0A-C871-95B1-A9C483064280}"/>
              </a:ext>
            </a:extLst>
          </p:cNvPr>
          <p:cNvSpPr txBox="1">
            <a:spLocks/>
          </p:cNvSpPr>
          <p:nvPr/>
        </p:nvSpPr>
        <p:spPr>
          <a:xfrm>
            <a:off x="1542066" y="3752153"/>
            <a:ext cx="4166509" cy="37854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solidFill>
                <a:srgbClr val="EBEBEB"/>
              </a:solidFill>
            </a:endParaRPr>
          </a:p>
        </p:txBody>
      </p:sp>
      <p:sp>
        <p:nvSpPr>
          <p:cNvPr id="10" name="Elipse 9">
            <a:extLst>
              <a:ext uri="{FF2B5EF4-FFF2-40B4-BE49-F238E27FC236}">
                <a16:creationId xmlns:a16="http://schemas.microsoft.com/office/drawing/2014/main" id="{9B10BCCC-0021-C228-04CE-5DC64147F261}"/>
              </a:ext>
            </a:extLst>
          </p:cNvPr>
          <p:cNvSpPr/>
          <p:nvPr/>
        </p:nvSpPr>
        <p:spPr>
          <a:xfrm>
            <a:off x="9356656" y="2312585"/>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822D2FB2-9DFC-D041-BD1F-88017BEF9E4B}"/>
                  </a:ext>
                </a:extLst>
              </p:cNvPr>
              <p:cNvSpPr txBox="1"/>
              <p:nvPr/>
            </p:nvSpPr>
            <p:spPr>
              <a:xfrm>
                <a:off x="9469810" y="2543712"/>
                <a:ext cx="2394835" cy="669992"/>
              </a:xfrm>
              <a:prstGeom prst="rect">
                <a:avLst/>
              </a:prstGeom>
              <a:noFill/>
            </p:spPr>
            <p:txBody>
              <a:bodyPr wrap="square" rtlCol="0">
                <a:spAutoFit/>
              </a:bodyPr>
              <a:lstStyle/>
              <a:p>
                <a:pPr algn="ctr"/>
                <a:r>
                  <a:rPr lang="es-ES" b="1" dirty="0"/>
                  <a:t>Solución real:</a:t>
                </a:r>
              </a:p>
              <a:p>
                <a:pPr algn="ctr"/>
                <a14:m>
                  <m:oMathPara xmlns:m="http://schemas.openxmlformats.org/officeDocument/2006/math">
                    <m:o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𝒕</m:t>
                      </m:r>
                      <m:r>
                        <a:rPr lang="en-GB" b="1"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𝒆</m:t>
                          </m:r>
                        </m:e>
                        <m:sup>
                          <m:r>
                            <a:rPr lang="en-GB" b="1" i="1" smtClean="0">
                              <a:latin typeface="Cambria Math" panose="02040503050406030204" pitchFamily="18" charset="0"/>
                            </a:rPr>
                            <m:t>−</m:t>
                          </m:r>
                          <m:r>
                            <a:rPr lang="en-GB" b="1" i="1" smtClean="0">
                              <a:latin typeface="Cambria Math" panose="02040503050406030204" pitchFamily="18" charset="0"/>
                            </a:rPr>
                            <m:t>𝟐</m:t>
                          </m:r>
                          <m:r>
                            <a:rPr lang="en-GB" b="1" i="1" smtClean="0">
                              <a:latin typeface="Cambria Math" panose="02040503050406030204" pitchFamily="18" charset="0"/>
                            </a:rPr>
                            <m:t>𝒕</m:t>
                          </m:r>
                        </m:sup>
                      </m:sSup>
                    </m:oMath>
                  </m:oMathPara>
                </a14:m>
                <a:endParaRPr lang="es-ES" b="1" dirty="0"/>
              </a:p>
            </p:txBody>
          </p:sp>
        </mc:Choice>
        <mc:Fallback xmlns="">
          <p:sp>
            <p:nvSpPr>
              <p:cNvPr id="13" name="CuadroTexto 12">
                <a:extLst>
                  <a:ext uri="{FF2B5EF4-FFF2-40B4-BE49-F238E27FC236}">
                    <a16:creationId xmlns:a16="http://schemas.microsoft.com/office/drawing/2014/main" id="{822D2FB2-9DFC-D041-BD1F-88017BEF9E4B}"/>
                  </a:ext>
                </a:extLst>
              </p:cNvPr>
              <p:cNvSpPr txBox="1">
                <a:spLocks noRot="1" noChangeAspect="1" noMove="1" noResize="1" noEditPoints="1" noAdjustHandles="1" noChangeArrowheads="1" noChangeShapeType="1" noTextEdit="1"/>
              </p:cNvSpPr>
              <p:nvPr/>
            </p:nvSpPr>
            <p:spPr>
              <a:xfrm>
                <a:off x="9469810" y="2543712"/>
                <a:ext cx="2394835" cy="669992"/>
              </a:xfrm>
              <a:prstGeom prst="rect">
                <a:avLst/>
              </a:prstGeom>
              <a:blipFill>
                <a:blip r:embed="rId5"/>
                <a:stretch>
                  <a:fillRect t="-4545" b="-6364"/>
                </a:stretch>
              </a:blipFill>
            </p:spPr>
            <p:txBody>
              <a:bodyPr/>
              <a:lstStyle/>
              <a:p>
                <a:r>
                  <a:rPr lang="es-ES">
                    <a:noFill/>
                  </a:rPr>
                  <a:t> </a:t>
                </a:r>
              </a:p>
            </p:txBody>
          </p:sp>
        </mc:Fallback>
      </mc:AlternateContent>
      <p:grpSp>
        <p:nvGrpSpPr>
          <p:cNvPr id="17" name="Grupo 16">
            <a:extLst>
              <a:ext uri="{FF2B5EF4-FFF2-40B4-BE49-F238E27FC236}">
                <a16:creationId xmlns:a16="http://schemas.microsoft.com/office/drawing/2014/main" id="{DE521C15-E33F-7119-2CE8-BD6A69215F5E}"/>
              </a:ext>
            </a:extLst>
          </p:cNvPr>
          <p:cNvGrpSpPr/>
          <p:nvPr/>
        </p:nvGrpSpPr>
        <p:grpSpPr>
          <a:xfrm>
            <a:off x="5326938" y="368658"/>
            <a:ext cx="5172346" cy="3036690"/>
            <a:chOff x="5326938" y="368658"/>
            <a:chExt cx="5172346" cy="3036690"/>
          </a:xfrm>
        </p:grpSpPr>
        <p:pic>
          <p:nvPicPr>
            <p:cNvPr id="5" name="Marcador de contenido 4">
              <a:extLst>
                <a:ext uri="{FF2B5EF4-FFF2-40B4-BE49-F238E27FC236}">
                  <a16:creationId xmlns:a16="http://schemas.microsoft.com/office/drawing/2014/main" id="{77FB8B4B-5F67-55F0-9F6B-DC0F39807B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26938" y="368658"/>
              <a:ext cx="5172346" cy="2922374"/>
            </a:xfrm>
            <a:prstGeom prst="rect">
              <a:avLst/>
            </a:prstGeom>
            <a:effectLst/>
          </p:spPr>
        </p:pic>
        <p:sp>
          <p:nvSpPr>
            <p:cNvPr id="15" name="CuadroTexto 14">
              <a:extLst>
                <a:ext uri="{FF2B5EF4-FFF2-40B4-BE49-F238E27FC236}">
                  <a16:creationId xmlns:a16="http://schemas.microsoft.com/office/drawing/2014/main" id="{7C1F383E-9E80-2D68-28F3-F48E4D0E72A4}"/>
                </a:ext>
              </a:extLst>
            </p:cNvPr>
            <p:cNvSpPr txBox="1"/>
            <p:nvPr/>
          </p:nvSpPr>
          <p:spPr>
            <a:xfrm>
              <a:off x="5390316" y="3128349"/>
              <a:ext cx="4341151" cy="276999"/>
            </a:xfrm>
            <a:prstGeom prst="rect">
              <a:avLst/>
            </a:prstGeom>
            <a:noFill/>
          </p:spPr>
          <p:txBody>
            <a:bodyPr wrap="square" rtlCol="0">
              <a:spAutoFit/>
            </a:bodyPr>
            <a:lstStyle/>
            <a:p>
              <a:r>
                <a:rPr lang="es-ES" sz="1200" dirty="0"/>
                <a:t>Aplicación del método de Euler (</a:t>
              </a:r>
              <a:r>
                <a:rPr lang="es-ES" sz="1200" dirty="0" err="1">
                  <a:hlinkClick r:id="rId7"/>
                </a:rPr>
                <a:t>calcworkshop</a:t>
              </a:r>
              <a:r>
                <a:rPr lang="es-ES" sz="1200" dirty="0"/>
                <a:t>)</a:t>
              </a:r>
            </a:p>
          </p:txBody>
        </p:sp>
      </p:grpSp>
      <p:sp>
        <p:nvSpPr>
          <p:cNvPr id="4" name="CuadroTexto 3">
            <a:extLst>
              <a:ext uri="{FF2B5EF4-FFF2-40B4-BE49-F238E27FC236}">
                <a16:creationId xmlns:a16="http://schemas.microsoft.com/office/drawing/2014/main" id="{E514A498-4CA9-0590-7C7D-97DEA733F082}"/>
              </a:ext>
            </a:extLst>
          </p:cNvPr>
          <p:cNvSpPr txBox="1"/>
          <p:nvPr/>
        </p:nvSpPr>
        <p:spPr>
          <a:xfrm>
            <a:off x="6661543" y="6515935"/>
            <a:ext cx="4946779" cy="276999"/>
          </a:xfrm>
          <a:prstGeom prst="rect">
            <a:avLst/>
          </a:prstGeom>
          <a:noFill/>
        </p:spPr>
        <p:txBody>
          <a:bodyPr wrap="square" rtlCol="0">
            <a:spAutoFit/>
          </a:bodyPr>
          <a:lstStyle/>
          <a:p>
            <a:pPr algn="ctr"/>
            <a:r>
              <a:rPr lang="es-ES" sz="1200" dirty="0"/>
              <a:t>Comparativa entre Euler y solución real (elaboración propia)</a:t>
            </a:r>
          </a:p>
        </p:txBody>
      </p:sp>
    </p:spTree>
    <p:extLst>
      <p:ext uri="{BB962C8B-B14F-4D97-AF65-F5344CB8AC3E}">
        <p14:creationId xmlns:p14="http://schemas.microsoft.com/office/powerpoint/2010/main" val="253799208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0C3FAF-8076-472A-C60B-C9697BA7AD1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FC36967-B9CF-D8CC-31B1-8411E0960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221A70-7EB8-5E86-AF54-81419C04A8EF}"/>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Métodos de Runge-</a:t>
            </a:r>
            <a:r>
              <a:rPr lang="es-ES" dirty="0" err="1">
                <a:solidFill>
                  <a:srgbClr val="EBEBEB"/>
                </a:solidFill>
              </a:rPr>
              <a:t>Kutta</a:t>
            </a:r>
            <a:endParaRPr lang="es-ES" dirty="0">
              <a:solidFill>
                <a:srgbClr val="EBEBEB"/>
              </a:solidFill>
            </a:endParaRPr>
          </a:p>
        </p:txBody>
      </p:sp>
      <p:sp>
        <p:nvSpPr>
          <p:cNvPr id="14" name="Freeform 31">
            <a:extLst>
              <a:ext uri="{FF2B5EF4-FFF2-40B4-BE49-F238E27FC236}">
                <a16:creationId xmlns:a16="http://schemas.microsoft.com/office/drawing/2014/main" id="{4F9C8DB2-78A3-BC5F-CCE0-9C930A93EB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1F292BEF-31F2-0343-D8AD-578560A5B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624C92DD-DA10-245C-DBAE-66E523949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8D286E3C-D7A5-4677-8668-E70D801A7A8A}"/>
                  </a:ext>
                </a:extLst>
              </p:cNvPr>
              <p:cNvSpPr>
                <a:spLocks noGrp="1"/>
              </p:cNvSpPr>
              <p:nvPr>
                <p:ph idx="1"/>
              </p:nvPr>
            </p:nvSpPr>
            <p:spPr>
              <a:xfrm>
                <a:off x="194972" y="2438400"/>
                <a:ext cx="5214309" cy="3785419"/>
              </a:xfrm>
            </p:spPr>
            <p:txBody>
              <a:bodyPr>
                <a:noAutofit/>
              </a:bodyPr>
              <a:lstStyle/>
              <a:p>
                <a:r>
                  <a:rPr lang="en-GB" sz="2200" dirty="0" err="1">
                    <a:solidFill>
                      <a:srgbClr val="EBEBEB"/>
                    </a:solidFill>
                  </a:rPr>
                  <a:t>Órdenes</a:t>
                </a:r>
                <a:r>
                  <a:rPr lang="en-GB" sz="2200" dirty="0">
                    <a:solidFill>
                      <a:srgbClr val="EBEBEB"/>
                    </a:solidFill>
                  </a:rPr>
                  <a:t> 1, 2, 3, y 4</a:t>
                </a:r>
              </a:p>
              <a:p>
                <a:r>
                  <a:rPr lang="en-GB" sz="2200" dirty="0" err="1">
                    <a:solidFill>
                      <a:srgbClr val="EBEBEB"/>
                    </a:solidFill>
                  </a:rPr>
                  <a:t>Partiendo</a:t>
                </a:r>
                <a:r>
                  <a:rPr lang="en-GB" sz="2200" dirty="0">
                    <a:solidFill>
                      <a:srgbClr val="EBEBEB"/>
                    </a:solidFill>
                  </a:rPr>
                  <a:t> de un PVI, </a:t>
                </a:r>
                <a:r>
                  <a:rPr lang="en-GB" sz="2200" dirty="0" err="1">
                    <a:solidFill>
                      <a:srgbClr val="EBEBEB"/>
                    </a:solidFill>
                  </a:rPr>
                  <a:t>calcularemos</a:t>
                </a:r>
                <a:r>
                  <a:rPr lang="en-GB" sz="2200" dirty="0">
                    <a:solidFill>
                      <a:srgbClr val="EBEBEB"/>
                    </a:solidFill>
                  </a:rPr>
                  <a:t>:</a:t>
                </a:r>
              </a:p>
              <a:p>
                <a:pPr marL="0" indent="0">
                  <a:buNone/>
                </a:pPr>
                <a:endParaRPr lang="en-GB" sz="2200" dirty="0">
                  <a:solidFill>
                    <a:srgbClr val="EBEBEB"/>
                  </a:solidFill>
                </a:endParaRPr>
              </a:p>
              <a:p>
                <a:pPr marL="0" indent="0">
                  <a:buNone/>
                </a:pPr>
                <a14:m>
                  <m:oMathPara xmlns:m="http://schemas.openxmlformats.org/officeDocument/2006/math">
                    <m:oMath>
                      <m:eqArr>
                        <m:eqArrPr>
                          <m:ctrlPr>
                            <a:rPr lang="en-GB" sz="2200" i="1" smtClean="0">
                              <a:solidFill>
                                <a:srgbClr val="EBEBEB"/>
                              </a:solidFill>
                              <a:latin typeface="Cambria Math" panose="02040503050406030204" pitchFamily="18" charset="0"/>
                            </a:rPr>
                          </m:ctrlPr>
                        </m:eqArr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r>
                                <a:rPr lang="en-GB" sz="2200" i="1">
                                  <a:solidFill>
                                    <a:srgbClr val="EBEBEB"/>
                                  </a:solidFill>
                                  <a:latin typeface="Cambria Math" panose="02040503050406030204" pitchFamily="18" charset="0"/>
                                </a:rPr>
                                <m:t>+1</m:t>
                              </m:r>
                            </m:sub>
                          </m:sSub>
                          <m:r>
                            <m:rPr>
                              <m:aln/>
                            </m:rPr>
                            <a:rPr lang="en-GB" sz="2200" i="1">
                              <a:solidFill>
                                <a:srgbClr val="EBEBEB"/>
                              </a:solidFill>
                              <a:latin typeface="Cambria Math" panose="02040503050406030204" pitchFamily="18" charset="0"/>
                            </a:rPr>
                            <m:t>&amp;</m:t>
                          </m:r>
                          <m:r>
                            <a:rPr lang="en-GB" sz="2200" i="1">
                              <a:solidFill>
                                <a:srgbClr val="EBEBEB"/>
                              </a:solidFill>
                              <a:latin typeface="Cambria Math" panose="02040503050406030204" pitchFamily="18" charset="0"/>
                            </a:rPr>
                            <m:t>=</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a:rPr lang="en-GB" sz="2200" i="1">
                              <a:solidFill>
                                <a:srgbClr val="EBEBEB"/>
                              </a:solidFill>
                              <a:latin typeface="Cambria Math" panose="02040503050406030204" pitchFamily="18" charset="0"/>
                            </a:rPr>
                            <m:t>/6⋅</m:t>
                          </m:r>
                          <m:d>
                            <m:dPr>
                              <m:ctrlPr>
                                <a:rPr lang="en-GB" sz="2200" i="1">
                                  <a:solidFill>
                                    <a:srgbClr val="EBEBEB"/>
                                  </a:solidFill>
                                  <a:latin typeface="Cambria Math" panose="02040503050406030204" pitchFamily="18" charset="0"/>
                                </a:rPr>
                              </m:ctrlPr>
                            </m:d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1</m:t>
                                  </m:r>
                                </m:sub>
                              </m:sSub>
                              <m:r>
                                <a:rPr lang="en-GB" sz="2200" i="1">
                                  <a:solidFill>
                                    <a:srgbClr val="EBEBEB"/>
                                  </a:solidFill>
                                  <a:latin typeface="Cambria Math" panose="02040503050406030204" pitchFamily="18" charset="0"/>
                                </a:rPr>
                                <m:t>+2</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2</m:t>
                                  </m:r>
                                </m:sub>
                              </m:sSub>
                              <m:r>
                                <a:rPr lang="en-GB" sz="2200" i="1">
                                  <a:solidFill>
                                    <a:srgbClr val="EBEBEB"/>
                                  </a:solidFill>
                                  <a:latin typeface="Cambria Math" panose="02040503050406030204" pitchFamily="18" charset="0"/>
                                </a:rPr>
                                <m:t>+2</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3</m:t>
                                  </m:r>
                                </m:sub>
                              </m:sSub>
                              <m:r>
                                <a:rPr lang="en-GB" sz="2200" i="1">
                                  <a:solidFill>
                                    <a:srgbClr val="EBEBEB"/>
                                  </a:solidFill>
                                  <a:latin typeface="Cambria Math" panose="02040503050406030204" pitchFamily="18" charset="0"/>
                                </a:rPr>
                                <m:t>+</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4</m:t>
                                  </m:r>
                                </m:sub>
                              </m:sSub>
                            </m:e>
                          </m:d>
                        </m:e>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1</m:t>
                              </m:r>
                            </m:sub>
                          </m:sSub>
                          <m:r>
                            <m:rPr>
                              <m:aln/>
                            </m:rPr>
                            <a:rPr lang="en-GB" sz="2200" i="1">
                              <a:solidFill>
                                <a:srgbClr val="EBEBEB"/>
                              </a:solidFill>
                              <a:latin typeface="Cambria Math" panose="02040503050406030204" pitchFamily="18" charset="0"/>
                            </a:rPr>
                            <m:t>&amp;</m:t>
                          </m:r>
                          <m:r>
                            <a:rPr lang="en-GB" sz="2200" i="1">
                              <a:solidFill>
                                <a:srgbClr val="EBEBEB"/>
                              </a:solidFill>
                              <a:latin typeface="Cambria Math" panose="02040503050406030204" pitchFamily="18" charset="0"/>
                            </a:rPr>
                            <m:t>=</m:t>
                          </m:r>
                          <m:r>
                            <a:rPr lang="en-GB" sz="2200" i="1">
                              <a:solidFill>
                                <a:srgbClr val="EBEBEB"/>
                              </a:solidFill>
                              <a:latin typeface="Cambria Math" panose="02040503050406030204" pitchFamily="18" charset="0"/>
                            </a:rPr>
                            <m:t>𝑓</m:t>
                          </m:r>
                          <m:d>
                            <m:dPr>
                              <m:ctrlPr>
                                <a:rPr lang="en-GB" sz="2200" i="1">
                                  <a:solidFill>
                                    <a:srgbClr val="EBEBEB"/>
                                  </a:solidFill>
                                  <a:latin typeface="Cambria Math" panose="02040503050406030204" pitchFamily="18" charset="0"/>
                                </a:rPr>
                              </m:ctrlPr>
                            </m:d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𝑡</m:t>
                                  </m:r>
                                </m:e>
                                <m:sub>
                                  <m:r>
                                    <a:rPr lang="en-GB" sz="2200" i="1">
                                      <a:solidFill>
                                        <a:srgbClr val="EBEBEB"/>
                                      </a:solidFill>
                                      <a:latin typeface="Cambria Math" panose="02040503050406030204" pitchFamily="18" charset="0"/>
                                    </a:rPr>
                                    <m:t>𝑛</m:t>
                                  </m:r>
                                </m:sub>
                              </m:sSub>
                              <m:r>
                                <m:rPr>
                                  <m:nor/>
                                </m:rPr>
                                <a:rPr lang="en-GB" sz="2200" i="0">
                                  <a:solidFill>
                                    <a:srgbClr val="EBEBEB"/>
                                  </a:solidFill>
                                  <a:latin typeface="Cambria Math" panose="02040503050406030204" pitchFamily="18" charset="0"/>
                                </a:rPr>
                                <m:t>, </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sub>
                              </m:sSub>
                            </m:e>
                          </m:d>
                        </m:e>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2</m:t>
                              </m:r>
                            </m:sub>
                          </m:sSub>
                          <m:r>
                            <m:rPr>
                              <m:aln/>
                            </m:rPr>
                            <a:rPr lang="en-GB" sz="2200" i="1">
                              <a:solidFill>
                                <a:srgbClr val="EBEBEB"/>
                              </a:solidFill>
                              <a:latin typeface="Cambria Math" panose="02040503050406030204" pitchFamily="18" charset="0"/>
                            </a:rPr>
                            <m:t>&amp;</m:t>
                          </m:r>
                          <m:r>
                            <a:rPr lang="en-GB" sz="2200" i="1">
                              <a:solidFill>
                                <a:srgbClr val="EBEBEB"/>
                              </a:solidFill>
                              <a:latin typeface="Cambria Math" panose="02040503050406030204" pitchFamily="18" charset="0"/>
                            </a:rPr>
                            <m:t>=</m:t>
                          </m:r>
                          <m:r>
                            <a:rPr lang="en-GB" sz="2200" i="1">
                              <a:solidFill>
                                <a:srgbClr val="EBEBEB"/>
                              </a:solidFill>
                              <a:latin typeface="Cambria Math" panose="02040503050406030204" pitchFamily="18" charset="0"/>
                            </a:rPr>
                            <m:t>𝑓</m:t>
                          </m:r>
                          <m:d>
                            <m:dPr>
                              <m:ctrlPr>
                                <a:rPr lang="en-GB" sz="2200" i="1">
                                  <a:solidFill>
                                    <a:srgbClr val="EBEBEB"/>
                                  </a:solidFill>
                                  <a:latin typeface="Cambria Math" panose="02040503050406030204" pitchFamily="18" charset="0"/>
                                </a:rPr>
                              </m:ctrlPr>
                            </m:d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𝑡</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a:rPr lang="en-GB" sz="2200" i="1">
                                  <a:solidFill>
                                    <a:srgbClr val="EBEBEB"/>
                                  </a:solidFill>
                                  <a:latin typeface="Cambria Math" panose="02040503050406030204" pitchFamily="18" charset="0"/>
                                </a:rPr>
                                <m:t>/2</m:t>
                              </m:r>
                              <m:r>
                                <m:rPr>
                                  <m:nor/>
                                </m:rPr>
                                <a:rPr lang="en-GB" sz="2200" i="0">
                                  <a:solidFill>
                                    <a:srgbClr val="EBEBEB"/>
                                  </a:solidFill>
                                  <a:latin typeface="Cambria Math" panose="02040503050406030204" pitchFamily="18" charset="0"/>
                                </a:rPr>
                                <m:t>, </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1</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a:rPr lang="en-GB" sz="2200" i="1">
                                  <a:solidFill>
                                    <a:srgbClr val="EBEBEB"/>
                                  </a:solidFill>
                                  <a:latin typeface="Cambria Math" panose="02040503050406030204" pitchFamily="18" charset="0"/>
                                </a:rPr>
                                <m:t>/2</m:t>
                              </m:r>
                            </m:e>
                          </m:d>
                        </m:e>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3</m:t>
                              </m:r>
                            </m:sub>
                          </m:sSub>
                          <m:r>
                            <m:rPr>
                              <m:aln/>
                            </m:rPr>
                            <a:rPr lang="en-GB" sz="2200" i="1">
                              <a:solidFill>
                                <a:srgbClr val="EBEBEB"/>
                              </a:solidFill>
                              <a:latin typeface="Cambria Math" panose="02040503050406030204" pitchFamily="18" charset="0"/>
                            </a:rPr>
                            <m:t>&amp;</m:t>
                          </m:r>
                          <m:r>
                            <a:rPr lang="en-GB" sz="2200" i="1">
                              <a:solidFill>
                                <a:srgbClr val="EBEBEB"/>
                              </a:solidFill>
                              <a:latin typeface="Cambria Math" panose="02040503050406030204" pitchFamily="18" charset="0"/>
                            </a:rPr>
                            <m:t>=</m:t>
                          </m:r>
                          <m:r>
                            <a:rPr lang="en-GB" sz="2200" i="1">
                              <a:solidFill>
                                <a:srgbClr val="EBEBEB"/>
                              </a:solidFill>
                              <a:latin typeface="Cambria Math" panose="02040503050406030204" pitchFamily="18" charset="0"/>
                            </a:rPr>
                            <m:t>𝑓</m:t>
                          </m:r>
                          <m:d>
                            <m:dPr>
                              <m:ctrlPr>
                                <a:rPr lang="en-GB" sz="2200" i="1">
                                  <a:solidFill>
                                    <a:srgbClr val="EBEBEB"/>
                                  </a:solidFill>
                                  <a:latin typeface="Cambria Math" panose="02040503050406030204" pitchFamily="18" charset="0"/>
                                </a:rPr>
                              </m:ctrlPr>
                            </m:d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𝑡</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a:rPr lang="en-GB" sz="2200" i="1">
                                  <a:solidFill>
                                    <a:srgbClr val="EBEBEB"/>
                                  </a:solidFill>
                                  <a:latin typeface="Cambria Math" panose="02040503050406030204" pitchFamily="18" charset="0"/>
                                </a:rPr>
                                <m:t>/2</m:t>
                              </m:r>
                              <m:r>
                                <m:rPr>
                                  <m:nor/>
                                </m:rPr>
                                <a:rPr lang="en-GB" sz="2200" i="0">
                                  <a:solidFill>
                                    <a:srgbClr val="EBEBEB"/>
                                  </a:solidFill>
                                  <a:latin typeface="Cambria Math" panose="02040503050406030204" pitchFamily="18" charset="0"/>
                                </a:rPr>
                                <m:t>, </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2</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a:rPr lang="en-GB" sz="2200" i="1">
                                  <a:solidFill>
                                    <a:srgbClr val="EBEBEB"/>
                                  </a:solidFill>
                                  <a:latin typeface="Cambria Math" panose="02040503050406030204" pitchFamily="18" charset="0"/>
                                </a:rPr>
                                <m:t>/2</m:t>
                              </m:r>
                            </m:e>
                          </m:d>
                        </m:e>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4</m:t>
                              </m:r>
                            </m:sub>
                          </m:sSub>
                          <m:r>
                            <m:rPr>
                              <m:aln/>
                            </m:rPr>
                            <a:rPr lang="en-GB" sz="2200" i="1">
                              <a:solidFill>
                                <a:srgbClr val="EBEBEB"/>
                              </a:solidFill>
                              <a:latin typeface="Cambria Math" panose="02040503050406030204" pitchFamily="18" charset="0"/>
                            </a:rPr>
                            <m:t>&amp;</m:t>
                          </m:r>
                          <m:r>
                            <a:rPr lang="en-GB" sz="2200" i="1">
                              <a:solidFill>
                                <a:srgbClr val="EBEBEB"/>
                              </a:solidFill>
                              <a:latin typeface="Cambria Math" panose="02040503050406030204" pitchFamily="18" charset="0"/>
                            </a:rPr>
                            <m:t>=</m:t>
                          </m:r>
                          <m:r>
                            <a:rPr lang="en-GB" sz="2200" i="1">
                              <a:solidFill>
                                <a:srgbClr val="EBEBEB"/>
                              </a:solidFill>
                              <a:latin typeface="Cambria Math" panose="02040503050406030204" pitchFamily="18" charset="0"/>
                            </a:rPr>
                            <m:t>𝑓</m:t>
                          </m:r>
                          <m:d>
                            <m:dPr>
                              <m:ctrlPr>
                                <a:rPr lang="en-GB" sz="2200" i="1">
                                  <a:solidFill>
                                    <a:srgbClr val="EBEBEB"/>
                                  </a:solidFill>
                                  <a:latin typeface="Cambria Math" panose="02040503050406030204" pitchFamily="18" charset="0"/>
                                </a:rPr>
                              </m:ctrlPr>
                            </m:dPr>
                            <m:e>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𝑡</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r>
                                <m:rPr>
                                  <m:nor/>
                                </m:rPr>
                                <a:rPr lang="en-GB" sz="2200" i="0">
                                  <a:solidFill>
                                    <a:srgbClr val="EBEBEB"/>
                                  </a:solidFill>
                                  <a:latin typeface="Cambria Math" panose="02040503050406030204" pitchFamily="18" charset="0"/>
                                </a:rPr>
                                <m:t>, </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𝑦</m:t>
                                  </m:r>
                                </m:e>
                                <m:sub>
                                  <m:r>
                                    <a:rPr lang="en-GB" sz="2200" i="1">
                                      <a:solidFill>
                                        <a:srgbClr val="EBEBEB"/>
                                      </a:solidFill>
                                      <a:latin typeface="Cambria Math" panose="02040503050406030204" pitchFamily="18" charset="0"/>
                                    </a:rPr>
                                    <m:t>𝑛</m:t>
                                  </m:r>
                                </m:sub>
                              </m:sSub>
                              <m:r>
                                <a:rPr lang="en-GB" sz="2200" i="1">
                                  <a:solidFill>
                                    <a:srgbClr val="EBEBEB"/>
                                  </a:solidFill>
                                  <a:latin typeface="Cambria Math" panose="02040503050406030204" pitchFamily="18" charset="0"/>
                                </a:rPr>
                                <m:t>+</m:t>
                              </m:r>
                              <m:sSub>
                                <m:sSubPr>
                                  <m:ctrlPr>
                                    <a:rPr lang="en-GB" sz="2200" i="1">
                                      <a:solidFill>
                                        <a:srgbClr val="EBEBEB"/>
                                      </a:solidFill>
                                      <a:latin typeface="Cambria Math" panose="02040503050406030204" pitchFamily="18" charset="0"/>
                                    </a:rPr>
                                  </m:ctrlPr>
                                </m:sSubPr>
                                <m:e>
                                  <m:r>
                                    <a:rPr lang="en-GB" sz="2200" i="1">
                                      <a:solidFill>
                                        <a:srgbClr val="EBEBEB"/>
                                      </a:solidFill>
                                      <a:latin typeface="Cambria Math" panose="02040503050406030204" pitchFamily="18" charset="0"/>
                                    </a:rPr>
                                    <m:t>𝐾</m:t>
                                  </m:r>
                                </m:e>
                                <m:sub>
                                  <m:r>
                                    <a:rPr lang="en-GB" sz="2200" i="1">
                                      <a:solidFill>
                                        <a:srgbClr val="EBEBEB"/>
                                      </a:solidFill>
                                      <a:latin typeface="Cambria Math" panose="02040503050406030204" pitchFamily="18" charset="0"/>
                                    </a:rPr>
                                    <m:t>3</m:t>
                                  </m:r>
                                </m:sub>
                              </m:sSub>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Δ</m:t>
                              </m:r>
                              <m:r>
                                <a:rPr lang="en-GB" sz="2200" i="1">
                                  <a:solidFill>
                                    <a:srgbClr val="EBEBEB"/>
                                  </a:solidFill>
                                  <a:latin typeface="Cambria Math" panose="02040503050406030204" pitchFamily="18" charset="0"/>
                                </a:rPr>
                                <m:t>𝑡</m:t>
                              </m:r>
                            </m:e>
                          </m:d>
                        </m:e>
                      </m:eqArr>
                    </m:oMath>
                  </m:oMathPara>
                </a14:m>
                <a:endParaRPr lang="en-US" sz="2200" dirty="0">
                  <a:solidFill>
                    <a:srgbClr val="EBEBEB"/>
                  </a:solidFill>
                </a:endParaRPr>
              </a:p>
            </p:txBody>
          </p:sp>
        </mc:Choice>
        <mc:Fallback xmlns="">
          <p:sp>
            <p:nvSpPr>
              <p:cNvPr id="9" name="Content Placeholder 8">
                <a:extLst>
                  <a:ext uri="{FF2B5EF4-FFF2-40B4-BE49-F238E27FC236}">
                    <a16:creationId xmlns:a16="http://schemas.microsoft.com/office/drawing/2014/main" id="{8D286E3C-D7A5-4677-8668-E70D801A7A8A}"/>
                  </a:ext>
                </a:extLst>
              </p:cNvPr>
              <p:cNvSpPr>
                <a:spLocks noGrp="1" noRot="1" noChangeAspect="1" noMove="1" noResize="1" noEditPoints="1" noAdjustHandles="1" noChangeArrowheads="1" noChangeShapeType="1" noTextEdit="1"/>
              </p:cNvSpPr>
              <p:nvPr>
                <p:ph idx="1"/>
              </p:nvPr>
            </p:nvSpPr>
            <p:spPr>
              <a:xfrm>
                <a:off x="194972" y="2438400"/>
                <a:ext cx="5214309" cy="3785419"/>
              </a:xfrm>
              <a:blipFill>
                <a:blip r:embed="rId3"/>
                <a:stretch>
                  <a:fillRect l="-819" t="-1127"/>
                </a:stretch>
              </a:blipFill>
            </p:spPr>
            <p:txBody>
              <a:bodyPr/>
              <a:lstStyle/>
              <a:p>
                <a:r>
                  <a:rPr lang="es-ES">
                    <a:noFill/>
                  </a:rPr>
                  <a:t> </a:t>
                </a:r>
              </a:p>
            </p:txBody>
          </p:sp>
        </mc:Fallback>
      </mc:AlternateContent>
      <p:sp>
        <p:nvSpPr>
          <p:cNvPr id="3" name="Marcador de número de diapositiva 2">
            <a:extLst>
              <a:ext uri="{FF2B5EF4-FFF2-40B4-BE49-F238E27FC236}">
                <a16:creationId xmlns:a16="http://schemas.microsoft.com/office/drawing/2014/main" id="{B65B2834-BDFE-7AD0-512B-9C9B85D3CD6A}"/>
              </a:ext>
            </a:extLst>
          </p:cNvPr>
          <p:cNvSpPr>
            <a:spLocks noGrp="1"/>
          </p:cNvSpPr>
          <p:nvPr>
            <p:ph type="sldNum" sz="quarter" idx="12"/>
          </p:nvPr>
        </p:nvSpPr>
        <p:spPr/>
        <p:txBody>
          <a:bodyPr/>
          <a:lstStyle/>
          <a:p>
            <a:fld id="{E7DC7EB3-C4C6-4D12-A310-6984ACFEFAFF}" type="slidenum">
              <a:rPr lang="en-GB" smtClean="0"/>
              <a:t>8</a:t>
            </a:fld>
            <a:endParaRPr lang="en-GB"/>
          </a:p>
        </p:txBody>
      </p:sp>
      <p:grpSp>
        <p:nvGrpSpPr>
          <p:cNvPr id="6" name="Grupo 5">
            <a:extLst>
              <a:ext uri="{FF2B5EF4-FFF2-40B4-BE49-F238E27FC236}">
                <a16:creationId xmlns:a16="http://schemas.microsoft.com/office/drawing/2014/main" id="{3E9451F6-7F0F-AF26-3254-AF545749276D}"/>
              </a:ext>
            </a:extLst>
          </p:cNvPr>
          <p:cNvGrpSpPr/>
          <p:nvPr/>
        </p:nvGrpSpPr>
        <p:grpSpPr>
          <a:xfrm>
            <a:off x="6303030" y="1314450"/>
            <a:ext cx="5715000" cy="4732436"/>
            <a:chOff x="6303030" y="1314450"/>
            <a:chExt cx="5715000" cy="4732436"/>
          </a:xfrm>
        </p:grpSpPr>
        <p:pic>
          <p:nvPicPr>
            <p:cNvPr id="4" name="Imagen 3">
              <a:extLst>
                <a:ext uri="{FF2B5EF4-FFF2-40B4-BE49-F238E27FC236}">
                  <a16:creationId xmlns:a16="http://schemas.microsoft.com/office/drawing/2014/main" id="{1E4FA4AD-8EA4-A7A2-047B-8CB7B1C31F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3030" y="1314450"/>
              <a:ext cx="5715000" cy="4229100"/>
            </a:xfrm>
            <a:prstGeom prst="rect">
              <a:avLst/>
            </a:prstGeom>
          </p:spPr>
        </p:pic>
        <p:sp>
          <p:nvSpPr>
            <p:cNvPr id="5" name="CuadroTexto 4">
              <a:extLst>
                <a:ext uri="{FF2B5EF4-FFF2-40B4-BE49-F238E27FC236}">
                  <a16:creationId xmlns:a16="http://schemas.microsoft.com/office/drawing/2014/main" id="{C7971AEF-0206-25F8-6A18-2E0400D23A06}"/>
                </a:ext>
              </a:extLst>
            </p:cNvPr>
            <p:cNvSpPr txBox="1"/>
            <p:nvPr/>
          </p:nvSpPr>
          <p:spPr>
            <a:xfrm>
              <a:off x="6782720" y="5739109"/>
              <a:ext cx="4221978" cy="307777"/>
            </a:xfrm>
            <a:prstGeom prst="rect">
              <a:avLst/>
            </a:prstGeom>
            <a:noFill/>
          </p:spPr>
          <p:txBody>
            <a:bodyPr wrap="square" rtlCol="0">
              <a:spAutoFit/>
            </a:bodyPr>
            <a:lstStyle/>
            <a:p>
              <a:pPr algn="ctr"/>
              <a:r>
                <a:rPr lang="es-ES" sz="1400" dirty="0"/>
                <a:t>Método de Runge-</a:t>
              </a:r>
              <a:r>
                <a:rPr lang="es-ES" sz="1400" dirty="0" err="1"/>
                <a:t>Kutta</a:t>
              </a:r>
              <a:r>
                <a:rPr lang="es-ES" sz="1400" dirty="0"/>
                <a:t> (</a:t>
              </a:r>
              <a:r>
                <a:rPr lang="es-ES" sz="1400" dirty="0" err="1">
                  <a:hlinkClick r:id="rId5"/>
                </a:rPr>
                <a:t>onlinelibrary</a:t>
              </a:r>
              <a:r>
                <a:rPr lang="es-ES" sz="1400" dirty="0"/>
                <a:t>)</a:t>
              </a:r>
            </a:p>
          </p:txBody>
        </p:sp>
      </p:grpSp>
    </p:spTree>
    <p:extLst>
      <p:ext uri="{BB962C8B-B14F-4D97-AF65-F5344CB8AC3E}">
        <p14:creationId xmlns:p14="http://schemas.microsoft.com/office/powerpoint/2010/main" val="289657217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D54E95-A658-375E-1CB7-4A5DE405948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4F181DB-CBD9-B372-DA59-F357C157E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661D11-FB0C-4718-F8EF-2AC06D998412}"/>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Métodos de Adams-Bashforth</a:t>
            </a:r>
          </a:p>
        </p:txBody>
      </p:sp>
      <p:sp>
        <p:nvSpPr>
          <p:cNvPr id="14" name="Freeform 31">
            <a:extLst>
              <a:ext uri="{FF2B5EF4-FFF2-40B4-BE49-F238E27FC236}">
                <a16:creationId xmlns:a16="http://schemas.microsoft.com/office/drawing/2014/main" id="{C1C6A853-0DF2-0471-2BE2-F93ED6424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7EE207ED-8480-8CBB-6AC1-612ED9316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90A163ED-2261-28A0-7F2D-FDB89F05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10007D56-8DC3-D5E0-CFF8-A95B071EED5F}"/>
                  </a:ext>
                </a:extLst>
              </p:cNvPr>
              <p:cNvSpPr>
                <a:spLocks noGrp="1"/>
              </p:cNvSpPr>
              <p:nvPr>
                <p:ph idx="1"/>
              </p:nvPr>
            </p:nvSpPr>
            <p:spPr>
              <a:xfrm>
                <a:off x="190051" y="2251587"/>
                <a:ext cx="5214309" cy="3785419"/>
              </a:xfrm>
            </p:spPr>
            <p:txBody>
              <a:bodyPr>
                <a:noAutofit/>
              </a:bodyPr>
              <a:lstStyle/>
              <a:p>
                <a:r>
                  <a:rPr lang="es-ES" sz="2200" noProof="0" dirty="0">
                    <a:solidFill>
                      <a:srgbClr val="EBEBEB"/>
                    </a:solidFill>
                  </a:rPr>
                  <a:t>Métodos </a:t>
                </a:r>
                <a:r>
                  <a:rPr lang="es-ES" sz="2200" noProof="0" dirty="0" err="1">
                    <a:solidFill>
                      <a:srgbClr val="EBEBEB"/>
                    </a:solidFill>
                  </a:rPr>
                  <a:t>multipaso</a:t>
                </a:r>
                <a:r>
                  <a:rPr lang="es-ES" sz="2200" noProof="0" dirty="0">
                    <a:solidFill>
                      <a:srgbClr val="EBEBEB"/>
                    </a:solidFill>
                  </a:rPr>
                  <a:t> explícitos</a:t>
                </a:r>
              </a:p>
              <a:p>
                <a:r>
                  <a:rPr lang="es-ES" sz="2200" dirty="0">
                    <a:solidFill>
                      <a:srgbClr val="EBEBEB"/>
                    </a:solidFill>
                  </a:rPr>
                  <a:t>Órdenes 1, 2, 3, y 4</a:t>
                </a:r>
                <a:endParaRPr lang="es-ES" sz="2200" noProof="0" dirty="0">
                  <a:solidFill>
                    <a:srgbClr val="EBEBEB"/>
                  </a:solidFill>
                </a:endParaRPr>
              </a:p>
              <a:p>
                <a:r>
                  <a:rPr lang="es-ES" sz="2200" noProof="0" dirty="0">
                    <a:solidFill>
                      <a:srgbClr val="EBEBEB"/>
                    </a:solidFill>
                  </a:rPr>
                  <a:t>Se necesitan valores de arranque, los conseguiremos con RK4</a:t>
                </a:r>
              </a:p>
              <a:p>
                <a:r>
                  <a:rPr lang="es-ES" sz="2200" noProof="0" dirty="0">
                    <a:solidFill>
                      <a:srgbClr val="EBEBEB"/>
                    </a:solidFill>
                  </a:rPr>
                  <a:t>Cálculo iterativo con </a:t>
                </a:r>
                <a14:m>
                  <m:oMath xmlns:m="http://schemas.openxmlformats.org/officeDocument/2006/math">
                    <m:r>
                      <m:rPr>
                        <m:sty m:val="p"/>
                      </m:rPr>
                      <a:rPr lang="en-GB" sz="2200" b="0" i="1" noProof="0" smtClean="0">
                        <a:solidFill>
                          <a:srgbClr val="EBEBEB"/>
                        </a:solidFill>
                        <a:latin typeface="Cambria Math" panose="02040503050406030204" pitchFamily="18" charset="0"/>
                      </a:rPr>
                      <m:t>Δ</m:t>
                    </m:r>
                    <m:r>
                      <a:rPr lang="en-GB" sz="2200" b="0" i="1" noProof="0" smtClean="0">
                        <a:solidFill>
                          <a:srgbClr val="EBEBEB"/>
                        </a:solidFill>
                        <a:latin typeface="Cambria Math" panose="02040503050406030204" pitchFamily="18" charset="0"/>
                      </a:rPr>
                      <m:t>𝑡</m:t>
                    </m:r>
                  </m:oMath>
                </a14:m>
                <a:endParaRPr lang="es-ES" sz="2200" dirty="0">
                  <a:solidFill>
                    <a:srgbClr val="EBEBEB"/>
                  </a:solidFill>
                </a:endParaRPr>
              </a:p>
              <a:p>
                <a:pPr marL="0" indent="0">
                  <a:buNone/>
                </a:pPr>
                <a:endParaRPr lang="es-ES" sz="2200" dirty="0">
                  <a:solidFill>
                    <a:srgbClr val="EBEBEB"/>
                  </a:solidFill>
                </a:endParaRPr>
              </a:p>
              <a:p>
                <a:pPr marL="0" indent="0">
                  <a:buNone/>
                </a:pPr>
                <a:endParaRPr lang="es-ES" sz="2200" dirty="0">
                  <a:solidFill>
                    <a:srgbClr val="EBEBEB"/>
                  </a:solidFill>
                </a:endParaRPr>
              </a:p>
              <a:p>
                <a:endParaRPr lang="es-ES" sz="2200" noProof="0" dirty="0">
                  <a:solidFill>
                    <a:srgbClr val="EBEBEB"/>
                  </a:solidFill>
                </a:endParaRPr>
              </a:p>
              <a:p>
                <a:r>
                  <a:rPr lang="es-ES" sz="2200" dirty="0">
                    <a:solidFill>
                      <a:srgbClr val="EBEBEB"/>
                    </a:solidFill>
                  </a:rPr>
                  <a:t>Fórmula para aplicar orden 4</a:t>
                </a:r>
                <a:endParaRPr lang="es-ES" sz="2200" noProof="0" dirty="0">
                  <a:solidFill>
                    <a:srgbClr val="EBEBEB"/>
                  </a:solidFill>
                </a:endParaRPr>
              </a:p>
            </p:txBody>
          </p:sp>
        </mc:Choice>
        <mc:Fallback xmlns="">
          <p:sp>
            <p:nvSpPr>
              <p:cNvPr id="9" name="Content Placeholder 8">
                <a:extLst>
                  <a:ext uri="{FF2B5EF4-FFF2-40B4-BE49-F238E27FC236}">
                    <a16:creationId xmlns:a16="http://schemas.microsoft.com/office/drawing/2014/main" id="{10007D56-8DC3-D5E0-CFF8-A95B071EED5F}"/>
                  </a:ext>
                </a:extLst>
              </p:cNvPr>
              <p:cNvSpPr>
                <a:spLocks noGrp="1" noRot="1" noChangeAspect="1" noMove="1" noResize="1" noEditPoints="1" noAdjustHandles="1" noChangeArrowheads="1" noChangeShapeType="1" noTextEdit="1"/>
              </p:cNvSpPr>
              <p:nvPr>
                <p:ph idx="1"/>
              </p:nvPr>
            </p:nvSpPr>
            <p:spPr>
              <a:xfrm>
                <a:off x="190051" y="2251587"/>
                <a:ext cx="5214309" cy="3785419"/>
              </a:xfrm>
              <a:blipFill>
                <a:blip r:embed="rId3"/>
                <a:stretch>
                  <a:fillRect l="-701" t="-966" r="-1869" b="-9018"/>
                </a:stretch>
              </a:blipFill>
            </p:spPr>
            <p:txBody>
              <a:bodyPr/>
              <a:lstStyle/>
              <a:p>
                <a:r>
                  <a:rPr lang="es-ES">
                    <a:noFill/>
                  </a:rPr>
                  <a:t> </a:t>
                </a:r>
              </a:p>
            </p:txBody>
          </p:sp>
        </mc:Fallback>
      </mc:AlternateContent>
      <p:pic>
        <p:nvPicPr>
          <p:cNvPr id="5" name="Imagen 4">
            <a:extLst>
              <a:ext uri="{FF2B5EF4-FFF2-40B4-BE49-F238E27FC236}">
                <a16:creationId xmlns:a16="http://schemas.microsoft.com/office/drawing/2014/main" id="{E32A9169-6585-4C93-3C8F-CDA5318088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4013" y="1487230"/>
            <a:ext cx="6171612" cy="3883539"/>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97A56CE-8473-C23C-025C-025A276BFFCB}"/>
                  </a:ext>
                </a:extLst>
              </p:cNvPr>
              <p:cNvSpPr txBox="1"/>
              <p:nvPr/>
            </p:nvSpPr>
            <p:spPr>
              <a:xfrm>
                <a:off x="5273756" y="5794583"/>
                <a:ext cx="7174367" cy="400110"/>
              </a:xfrm>
              <a:prstGeom prst="rect">
                <a:avLst/>
              </a:prstGeom>
              <a:noFill/>
            </p:spPr>
            <p:txBody>
              <a:bodyPr wrap="square" rtlCol="0">
                <a:spAutoFit/>
              </a:bodyPr>
              <a:lstStyle/>
              <a:p>
                <a:pPr/>
                <a14:m>
                  <m:oMathPara xmlns:m="http://schemas.openxmlformats.org/officeDocument/2006/math">
                    <m:oMath>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𝒚</m:t>
                          </m:r>
                        </m:e>
                        <m:sub>
                          <m:r>
                            <a:rPr lang="es-ES" sz="2000" b="1" i="1">
                              <a:solidFill>
                                <a:schemeClr val="tx1"/>
                              </a:solidFill>
                              <a:latin typeface="Cambria Math" panose="02040503050406030204" pitchFamily="18" charset="0"/>
                            </a:rPr>
                            <m:t>𝒏</m:t>
                          </m:r>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𝟏</m:t>
                          </m:r>
                        </m:sub>
                      </m:sSub>
                      <m:r>
                        <a:rPr lang="es-ES" sz="2000" b="1" i="1">
                          <a:solidFill>
                            <a:schemeClr val="tx1"/>
                          </a:solidFill>
                          <a:latin typeface="Cambria Math" panose="02040503050406030204" pitchFamily="18" charset="0"/>
                        </a:rPr>
                        <m:t>=</m:t>
                      </m:r>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𝒚</m:t>
                          </m:r>
                        </m:e>
                        <m:sub>
                          <m:r>
                            <a:rPr lang="es-ES" sz="2000" b="1" i="1">
                              <a:solidFill>
                                <a:schemeClr val="tx1"/>
                              </a:solidFill>
                              <a:latin typeface="Cambria Math" panose="02040503050406030204" pitchFamily="18" charset="0"/>
                            </a:rPr>
                            <m:t>𝒏</m:t>
                          </m:r>
                        </m:sub>
                      </m:sSub>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𝒉</m:t>
                      </m:r>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𝟐𝟒</m:t>
                      </m:r>
                      <m:r>
                        <a:rPr lang="es-ES" sz="2000" b="1" i="1">
                          <a:solidFill>
                            <a:schemeClr val="tx1"/>
                          </a:solidFill>
                          <a:latin typeface="Cambria Math" panose="02040503050406030204" pitchFamily="18" charset="0"/>
                        </a:rPr>
                        <m:t>⋅</m:t>
                      </m:r>
                      <m:d>
                        <m:dPr>
                          <m:ctrlPr>
                            <a:rPr lang="es-ES" sz="2000" b="1" i="1">
                              <a:solidFill>
                                <a:schemeClr val="tx1"/>
                              </a:solidFill>
                              <a:latin typeface="Cambria Math" panose="02040503050406030204" pitchFamily="18" charset="0"/>
                            </a:rPr>
                          </m:ctrlPr>
                        </m:dPr>
                        <m:e>
                          <m:r>
                            <a:rPr lang="es-ES" sz="2000" b="1" i="1">
                              <a:solidFill>
                                <a:schemeClr val="tx1"/>
                              </a:solidFill>
                              <a:latin typeface="Cambria Math" panose="02040503050406030204" pitchFamily="18" charset="0"/>
                            </a:rPr>
                            <m:t>𝟓𝟓</m:t>
                          </m:r>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𝒇</m:t>
                              </m:r>
                            </m:e>
                            <m:sub>
                              <m:r>
                                <a:rPr lang="es-ES" sz="2000" b="1" i="1">
                                  <a:solidFill>
                                    <a:schemeClr val="tx1"/>
                                  </a:solidFill>
                                  <a:latin typeface="Cambria Math" panose="02040503050406030204" pitchFamily="18" charset="0"/>
                                </a:rPr>
                                <m:t>𝒏</m:t>
                              </m:r>
                            </m:sub>
                          </m:sSub>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𝟓𝟗</m:t>
                          </m:r>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𝒇</m:t>
                              </m:r>
                            </m:e>
                            <m:sub>
                              <m:r>
                                <a:rPr lang="es-ES" sz="2000" b="1" i="1">
                                  <a:solidFill>
                                    <a:schemeClr val="tx1"/>
                                  </a:solidFill>
                                  <a:latin typeface="Cambria Math" panose="02040503050406030204" pitchFamily="18" charset="0"/>
                                </a:rPr>
                                <m:t>𝒏</m:t>
                              </m:r>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𝟏</m:t>
                              </m:r>
                            </m:sub>
                          </m:sSub>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𝟑𝟕</m:t>
                          </m:r>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𝒇</m:t>
                              </m:r>
                            </m:e>
                            <m:sub>
                              <m:r>
                                <a:rPr lang="es-ES" sz="2000" b="1" i="1">
                                  <a:solidFill>
                                    <a:schemeClr val="tx1"/>
                                  </a:solidFill>
                                  <a:latin typeface="Cambria Math" panose="02040503050406030204" pitchFamily="18" charset="0"/>
                                </a:rPr>
                                <m:t>𝒏</m:t>
                              </m:r>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𝟐</m:t>
                              </m:r>
                            </m:sub>
                          </m:sSub>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𝟗</m:t>
                          </m:r>
                          <m:sSub>
                            <m:sSubPr>
                              <m:ctrlPr>
                                <a:rPr lang="es-ES" sz="2000" b="1" i="1">
                                  <a:solidFill>
                                    <a:schemeClr val="tx1"/>
                                  </a:solidFill>
                                  <a:latin typeface="Cambria Math" panose="02040503050406030204" pitchFamily="18" charset="0"/>
                                </a:rPr>
                              </m:ctrlPr>
                            </m:sSubPr>
                            <m:e>
                              <m:r>
                                <a:rPr lang="es-ES" sz="2000" b="1" i="1">
                                  <a:solidFill>
                                    <a:schemeClr val="tx1"/>
                                  </a:solidFill>
                                  <a:latin typeface="Cambria Math" panose="02040503050406030204" pitchFamily="18" charset="0"/>
                                </a:rPr>
                                <m:t>𝒇</m:t>
                              </m:r>
                            </m:e>
                            <m:sub>
                              <m:r>
                                <a:rPr lang="es-ES" sz="2000" b="1" i="1">
                                  <a:solidFill>
                                    <a:schemeClr val="tx1"/>
                                  </a:solidFill>
                                  <a:latin typeface="Cambria Math" panose="02040503050406030204" pitchFamily="18" charset="0"/>
                                </a:rPr>
                                <m:t>𝒏</m:t>
                              </m:r>
                              <m:r>
                                <a:rPr lang="es-ES" sz="2000" b="1" i="1">
                                  <a:solidFill>
                                    <a:schemeClr val="tx1"/>
                                  </a:solidFill>
                                  <a:latin typeface="Cambria Math" panose="02040503050406030204" pitchFamily="18" charset="0"/>
                                </a:rPr>
                                <m:t>−</m:t>
                              </m:r>
                              <m:r>
                                <a:rPr lang="es-ES" sz="2000" b="1" i="1">
                                  <a:solidFill>
                                    <a:schemeClr val="tx1"/>
                                  </a:solidFill>
                                  <a:latin typeface="Cambria Math" panose="02040503050406030204" pitchFamily="18" charset="0"/>
                                </a:rPr>
                                <m:t>𝟑</m:t>
                              </m:r>
                            </m:sub>
                          </m:sSub>
                        </m:e>
                      </m:d>
                    </m:oMath>
                  </m:oMathPara>
                </a14:m>
                <a:endParaRPr lang="es-ES" sz="2000" b="1" dirty="0">
                  <a:solidFill>
                    <a:schemeClr val="tx1"/>
                  </a:solidFill>
                </a:endParaRPr>
              </a:p>
            </p:txBody>
          </p:sp>
        </mc:Choice>
        <mc:Fallback xmlns="">
          <p:sp>
            <p:nvSpPr>
              <p:cNvPr id="6" name="CuadroTexto 5">
                <a:extLst>
                  <a:ext uri="{FF2B5EF4-FFF2-40B4-BE49-F238E27FC236}">
                    <a16:creationId xmlns:a16="http://schemas.microsoft.com/office/drawing/2014/main" id="{397A56CE-8473-C23C-025C-025A276BFFCB}"/>
                  </a:ext>
                </a:extLst>
              </p:cNvPr>
              <p:cNvSpPr txBox="1">
                <a:spLocks noRot="1" noChangeAspect="1" noMove="1" noResize="1" noEditPoints="1" noAdjustHandles="1" noChangeArrowheads="1" noChangeShapeType="1" noTextEdit="1"/>
              </p:cNvSpPr>
              <p:nvPr/>
            </p:nvSpPr>
            <p:spPr>
              <a:xfrm>
                <a:off x="5273756" y="5794583"/>
                <a:ext cx="7174367" cy="400110"/>
              </a:xfrm>
              <a:prstGeom prst="rect">
                <a:avLst/>
              </a:prstGeom>
              <a:blipFill>
                <a:blip r:embed="rId5"/>
                <a:stretch>
                  <a:fillRect b="-18462"/>
                </a:stretch>
              </a:blipFill>
            </p:spPr>
            <p:txBody>
              <a:bodyPr/>
              <a:lstStyle/>
              <a:p>
                <a:r>
                  <a:rPr lang="es-ES">
                    <a:noFill/>
                  </a:rPr>
                  <a:t> </a:t>
                </a:r>
              </a:p>
            </p:txBody>
          </p:sp>
        </mc:Fallback>
      </mc:AlternateContent>
      <p:cxnSp>
        <p:nvCxnSpPr>
          <p:cNvPr id="8" name="Conector recto de flecha 7">
            <a:extLst>
              <a:ext uri="{FF2B5EF4-FFF2-40B4-BE49-F238E27FC236}">
                <a16:creationId xmlns:a16="http://schemas.microsoft.com/office/drawing/2014/main" id="{FFB6771B-6CC4-6590-2B1C-C9DA2A8EF616}"/>
              </a:ext>
            </a:extLst>
          </p:cNvPr>
          <p:cNvCxnSpPr>
            <a:cxnSpLocks/>
          </p:cNvCxnSpPr>
          <p:nvPr/>
        </p:nvCxnSpPr>
        <p:spPr>
          <a:xfrm>
            <a:off x="4739219" y="6037006"/>
            <a:ext cx="936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Marcador de número de diapositiva 2">
            <a:extLst>
              <a:ext uri="{FF2B5EF4-FFF2-40B4-BE49-F238E27FC236}">
                <a16:creationId xmlns:a16="http://schemas.microsoft.com/office/drawing/2014/main" id="{660FB3FE-DCF5-C590-EE9A-E21E0BB5B9EF}"/>
              </a:ext>
            </a:extLst>
          </p:cNvPr>
          <p:cNvSpPr>
            <a:spLocks noGrp="1"/>
          </p:cNvSpPr>
          <p:nvPr>
            <p:ph type="sldNum" sz="quarter" idx="12"/>
          </p:nvPr>
        </p:nvSpPr>
        <p:spPr/>
        <p:txBody>
          <a:bodyPr/>
          <a:lstStyle/>
          <a:p>
            <a:fld id="{E7DC7EB3-C4C6-4D12-A310-6984ACFEFAFF}" type="slidenum">
              <a:rPr lang="en-GB" smtClean="0"/>
              <a:t>9</a:t>
            </a:fld>
            <a:endParaRPr lang="en-GB"/>
          </a:p>
        </p:txBody>
      </p:sp>
    </p:spTree>
    <p:extLst>
      <p:ext uri="{BB962C8B-B14F-4D97-AF65-F5344CB8AC3E}">
        <p14:creationId xmlns:p14="http://schemas.microsoft.com/office/powerpoint/2010/main" val="215166502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D1DEA8-BFF7-23E4-5C8C-F5742F150E9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CF00BC3-3B21-6BE9-8A30-CABEE62DA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469CAE9-5249-673F-7CE6-E348418C9FAA}"/>
              </a:ext>
            </a:extLst>
          </p:cNvPr>
          <p:cNvSpPr>
            <a:spLocks noGrp="1"/>
          </p:cNvSpPr>
          <p:nvPr>
            <p:ph type="title"/>
          </p:nvPr>
        </p:nvSpPr>
        <p:spPr>
          <a:xfrm>
            <a:off x="252322" y="629266"/>
            <a:ext cx="5048351" cy="1622321"/>
          </a:xfrm>
        </p:spPr>
        <p:txBody>
          <a:bodyPr>
            <a:normAutofit fontScale="90000"/>
          </a:bodyPr>
          <a:lstStyle/>
          <a:p>
            <a:r>
              <a:rPr lang="es-ES" dirty="0">
                <a:solidFill>
                  <a:srgbClr val="EBEBEB"/>
                </a:solidFill>
              </a:rPr>
              <a:t>Métodos de Adams-Bashforth-Moulton</a:t>
            </a:r>
          </a:p>
        </p:txBody>
      </p:sp>
      <p:sp>
        <p:nvSpPr>
          <p:cNvPr id="14" name="Freeform 31">
            <a:extLst>
              <a:ext uri="{FF2B5EF4-FFF2-40B4-BE49-F238E27FC236}">
                <a16:creationId xmlns:a16="http://schemas.microsoft.com/office/drawing/2014/main" id="{E6922D75-B0F2-8414-8D5C-E8D67A043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4769D371-8145-7235-4507-21135D28B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ABBE46C0-C6F1-E468-AE4E-A73D9A859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928E63F1-74A8-85BD-7549-2BC9737C35CA}"/>
                  </a:ext>
                </a:extLst>
              </p:cNvPr>
              <p:cNvSpPr>
                <a:spLocks noGrp="1"/>
              </p:cNvSpPr>
              <p:nvPr>
                <p:ph idx="1"/>
              </p:nvPr>
            </p:nvSpPr>
            <p:spPr>
              <a:xfrm>
                <a:off x="331743" y="2020374"/>
                <a:ext cx="5279914" cy="4171735"/>
              </a:xfrm>
            </p:spPr>
            <p:txBody>
              <a:bodyPr>
                <a:noAutofit/>
              </a:bodyPr>
              <a:lstStyle/>
              <a:p>
                <a:r>
                  <a:rPr lang="es-ES" sz="2200" noProof="0" dirty="0">
                    <a:solidFill>
                      <a:srgbClr val="EBEBEB"/>
                    </a:solidFill>
                  </a:rPr>
                  <a:t>Sistema Predictor-Corrector</a:t>
                </a:r>
              </a:p>
              <a:p>
                <a:r>
                  <a:rPr lang="es-ES" sz="2200" noProof="0" dirty="0">
                    <a:solidFill>
                      <a:srgbClr val="EBEBEB"/>
                    </a:solidFill>
                  </a:rPr>
                  <a:t>Combina Adams-Bashforth y Adams-Moulton</a:t>
                </a:r>
              </a:p>
              <a:p>
                <a:r>
                  <a:rPr lang="es-ES" sz="2200" dirty="0">
                    <a:solidFill>
                      <a:srgbClr val="EBEBEB"/>
                    </a:solidFill>
                  </a:rPr>
                  <a:t>Órdenes 0, 1, 2, 3, y 4</a:t>
                </a:r>
                <a:endParaRPr lang="es-ES" sz="2200" noProof="0" dirty="0">
                  <a:solidFill>
                    <a:srgbClr val="EBEBEB"/>
                  </a:solidFill>
                </a:endParaRPr>
              </a:p>
              <a:p>
                <a:r>
                  <a:rPr lang="es-ES" sz="2200" noProof="0" dirty="0">
                    <a:solidFill>
                      <a:srgbClr val="EBEBEB"/>
                    </a:solidFill>
                  </a:rPr>
                  <a:t>Se necesitan valores de arranque, los conseguiremos con RK4</a:t>
                </a:r>
              </a:p>
              <a:p>
                <a:r>
                  <a:rPr lang="es-ES" sz="2200" noProof="0" dirty="0">
                    <a:solidFill>
                      <a:srgbClr val="EBEBEB"/>
                    </a:solidFill>
                  </a:rPr>
                  <a:t>Cálculo iterativo con </a:t>
                </a:r>
                <a14:m>
                  <m:oMath xmlns:m="http://schemas.openxmlformats.org/officeDocument/2006/math">
                    <m:r>
                      <m:rPr>
                        <m:sty m:val="p"/>
                      </m:rPr>
                      <a:rPr lang="en-GB" sz="2200" b="0" i="1" noProof="0" smtClean="0">
                        <a:solidFill>
                          <a:srgbClr val="EBEBEB"/>
                        </a:solidFill>
                        <a:latin typeface="Cambria Math" panose="02040503050406030204" pitchFamily="18" charset="0"/>
                      </a:rPr>
                      <m:t>Δ</m:t>
                    </m:r>
                    <m:r>
                      <a:rPr lang="en-GB" sz="2200" b="0" i="1" noProof="0" smtClean="0">
                        <a:solidFill>
                          <a:srgbClr val="EBEBEB"/>
                        </a:solidFill>
                        <a:latin typeface="Cambria Math" panose="02040503050406030204" pitchFamily="18" charset="0"/>
                      </a:rPr>
                      <m:t>𝑡</m:t>
                    </m:r>
                  </m:oMath>
                </a14:m>
                <a:endParaRPr lang="es-ES" sz="2200" dirty="0">
                  <a:solidFill>
                    <a:srgbClr val="EBEBEB"/>
                  </a:solidFill>
                </a:endParaRPr>
              </a:p>
              <a:p>
                <a:pPr marL="0" indent="0">
                  <a:buNone/>
                </a:pPr>
                <a:endParaRPr lang="es-ES" sz="2200" dirty="0">
                  <a:solidFill>
                    <a:srgbClr val="EBEBEB"/>
                  </a:solidFill>
                </a:endParaRPr>
              </a:p>
              <a:p>
                <a:endParaRPr lang="es-ES" sz="2200" noProof="0" dirty="0">
                  <a:solidFill>
                    <a:srgbClr val="EBEBEB"/>
                  </a:solidFill>
                </a:endParaRPr>
              </a:p>
              <a:p>
                <a:r>
                  <a:rPr lang="es-ES" sz="2200" dirty="0">
                    <a:solidFill>
                      <a:srgbClr val="EBEBEB"/>
                    </a:solidFill>
                  </a:rPr>
                  <a:t>Fórmula para aplicar orden 4</a:t>
                </a:r>
                <a:endParaRPr lang="es-ES" sz="2200" noProof="0" dirty="0">
                  <a:solidFill>
                    <a:srgbClr val="EBEBEB"/>
                  </a:solidFill>
                </a:endParaRPr>
              </a:p>
            </p:txBody>
          </p:sp>
        </mc:Choice>
        <mc:Fallback xmlns="">
          <p:sp>
            <p:nvSpPr>
              <p:cNvPr id="9" name="Content Placeholder 8">
                <a:extLst>
                  <a:ext uri="{FF2B5EF4-FFF2-40B4-BE49-F238E27FC236}">
                    <a16:creationId xmlns:a16="http://schemas.microsoft.com/office/drawing/2014/main" id="{928E63F1-74A8-85BD-7549-2BC9737C35CA}"/>
                  </a:ext>
                </a:extLst>
              </p:cNvPr>
              <p:cNvSpPr>
                <a:spLocks noGrp="1" noRot="1" noChangeAspect="1" noMove="1" noResize="1" noEditPoints="1" noAdjustHandles="1" noChangeArrowheads="1" noChangeShapeType="1" noTextEdit="1"/>
              </p:cNvSpPr>
              <p:nvPr>
                <p:ph idx="1"/>
              </p:nvPr>
            </p:nvSpPr>
            <p:spPr>
              <a:xfrm>
                <a:off x="331743" y="2020374"/>
                <a:ext cx="5279914" cy="4171735"/>
              </a:xfrm>
              <a:blipFill>
                <a:blip r:embed="rId3"/>
                <a:stretch>
                  <a:fillRect l="-692" t="-876" r="-577" b="-686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E0D7F4C-CB2E-B708-9C44-1FF6A493B8BB}"/>
                  </a:ext>
                </a:extLst>
              </p:cNvPr>
              <p:cNvSpPr txBox="1"/>
              <p:nvPr/>
            </p:nvSpPr>
            <p:spPr>
              <a:xfrm>
                <a:off x="4891485" y="5813299"/>
                <a:ext cx="7430929" cy="554254"/>
              </a:xfrm>
              <a:prstGeom prst="rect">
                <a:avLst/>
              </a:prstGeom>
              <a:noFill/>
            </p:spPr>
            <p:txBody>
              <a:bodyPr wrap="square" rtlCol="0">
                <a:spAutoFit/>
              </a:bodyPr>
              <a:lstStyle/>
              <a:p>
                <a:pPr/>
                <a14:m>
                  <m:oMathPara xmlns:m="http://schemas.openxmlformats.org/officeDocument/2006/math">
                    <m:oMath>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𝐲</m:t>
                          </m:r>
                        </m:e>
                        <m:sub>
                          <m:r>
                            <a:rPr lang="en-GB" sz="1600" b="1" i="0" smtClean="0">
                              <a:latin typeface="Cambria Math" panose="02040503050406030204" pitchFamily="18" charset="0"/>
                            </a:rPr>
                            <m:t>𝐧</m:t>
                          </m:r>
                          <m:r>
                            <a:rPr lang="en-GB" sz="1600" b="1" i="0" smtClean="0">
                              <a:latin typeface="Cambria Math" panose="02040503050406030204" pitchFamily="18" charset="0"/>
                            </a:rPr>
                            <m:t>+</m:t>
                          </m:r>
                          <m:r>
                            <a:rPr lang="en-GB" sz="1600" b="1" i="0" smtClean="0">
                              <a:latin typeface="Cambria Math" panose="02040503050406030204" pitchFamily="18" charset="0"/>
                            </a:rPr>
                            <m:t>𝟏</m:t>
                          </m:r>
                        </m:sub>
                      </m:sSub>
                      <m:r>
                        <a:rPr lang="en-GB" sz="1600" b="1" i="0" smtClean="0">
                          <a:latin typeface="Cambria Math" panose="02040503050406030204" pitchFamily="18" charset="0"/>
                        </a:rPr>
                        <m:t>=</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𝐲</m:t>
                          </m:r>
                        </m:e>
                        <m:sub>
                          <m:r>
                            <a:rPr lang="en-GB" sz="1600" b="1" i="0" smtClean="0">
                              <a:latin typeface="Cambria Math" panose="02040503050406030204" pitchFamily="18" charset="0"/>
                            </a:rPr>
                            <m:t>𝐧</m:t>
                          </m:r>
                        </m:sub>
                      </m:sSub>
                      <m:r>
                        <a:rPr lang="en-GB" sz="1600" b="1" i="0" smtClean="0">
                          <a:latin typeface="Cambria Math" panose="02040503050406030204" pitchFamily="18" charset="0"/>
                        </a:rPr>
                        <m:t>+</m:t>
                      </m:r>
                      <m:f>
                        <m:fPr>
                          <m:ctrlPr>
                            <a:rPr lang="en-GB" sz="1600" b="1" i="0" smtClean="0">
                              <a:latin typeface="Cambria Math" panose="02040503050406030204" pitchFamily="18" charset="0"/>
                            </a:rPr>
                          </m:ctrlPr>
                        </m:fPr>
                        <m:num>
                          <m:r>
                            <a:rPr lang="en-GB" sz="1600" b="1" i="0" smtClean="0">
                              <a:latin typeface="Cambria Math" panose="02040503050406030204" pitchFamily="18" charset="0"/>
                            </a:rPr>
                            <m:t>𝚫</m:t>
                          </m:r>
                          <m:r>
                            <a:rPr lang="en-GB" sz="1600" b="1" i="0" smtClean="0">
                              <a:latin typeface="Cambria Math" panose="02040503050406030204" pitchFamily="18" charset="0"/>
                            </a:rPr>
                            <m:t>𝐭</m:t>
                          </m:r>
                        </m:num>
                        <m:den>
                          <m:r>
                            <a:rPr lang="en-GB" sz="1600" b="1" i="0" smtClean="0">
                              <a:latin typeface="Cambria Math" panose="02040503050406030204" pitchFamily="18" charset="0"/>
                            </a:rPr>
                            <m:t>𝟕𝟐𝟎</m:t>
                          </m:r>
                        </m:den>
                      </m:f>
                      <m:r>
                        <a:rPr lang="en-GB" sz="1600" b="1" i="0" smtClean="0">
                          <a:latin typeface="Cambria Math" panose="02040503050406030204" pitchFamily="18" charset="0"/>
                        </a:rPr>
                        <m:t>⋅</m:t>
                      </m:r>
                      <m:d>
                        <m:dPr>
                          <m:ctrlPr>
                            <a:rPr lang="en-GB" sz="1600" b="1" i="0" smtClean="0">
                              <a:latin typeface="Cambria Math" panose="02040503050406030204" pitchFamily="18" charset="0"/>
                            </a:rPr>
                          </m:ctrlPr>
                        </m:dPr>
                        <m:e>
                          <m:r>
                            <a:rPr lang="en-GB" sz="1600" b="1" i="0" smtClean="0">
                              <a:latin typeface="Cambria Math" panose="02040503050406030204" pitchFamily="18" charset="0"/>
                            </a:rPr>
                            <m:t>𝟐𝟓𝟏</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𝐟</m:t>
                              </m:r>
                            </m:e>
                            <m:sub>
                              <m:r>
                                <a:rPr lang="en-GB" sz="1600" b="1" i="0" smtClean="0">
                                  <a:latin typeface="Cambria Math" panose="02040503050406030204" pitchFamily="18" charset="0"/>
                                </a:rPr>
                                <m:t>𝐧</m:t>
                              </m:r>
                              <m:r>
                                <a:rPr lang="en-GB" sz="1600" b="1" i="0" smtClean="0">
                                  <a:latin typeface="Cambria Math" panose="02040503050406030204" pitchFamily="18" charset="0"/>
                                </a:rPr>
                                <m:t>+</m:t>
                              </m:r>
                              <m:r>
                                <a:rPr lang="en-GB" sz="1600" b="1" i="0" smtClean="0">
                                  <a:latin typeface="Cambria Math" panose="02040503050406030204" pitchFamily="18" charset="0"/>
                                </a:rPr>
                                <m:t>𝟏</m:t>
                              </m:r>
                            </m:sub>
                          </m:sSub>
                          <m:r>
                            <a:rPr lang="en-GB" sz="1600" b="1" i="0" smtClean="0">
                              <a:latin typeface="Cambria Math" panose="02040503050406030204" pitchFamily="18" charset="0"/>
                            </a:rPr>
                            <m:t>+</m:t>
                          </m:r>
                          <m:r>
                            <a:rPr lang="en-GB" sz="1600" b="1" i="0" smtClean="0">
                              <a:latin typeface="Cambria Math" panose="02040503050406030204" pitchFamily="18" charset="0"/>
                            </a:rPr>
                            <m:t>𝟔𝟒𝟔</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𝐟</m:t>
                              </m:r>
                            </m:e>
                            <m:sub>
                              <m:r>
                                <a:rPr lang="en-GB" sz="1600" b="1" i="0" smtClean="0">
                                  <a:latin typeface="Cambria Math" panose="02040503050406030204" pitchFamily="18" charset="0"/>
                                </a:rPr>
                                <m:t>𝐧</m:t>
                              </m:r>
                            </m:sub>
                          </m:sSub>
                          <m:r>
                            <a:rPr lang="en-GB" sz="1600" b="1" i="0" smtClean="0">
                              <a:latin typeface="Cambria Math" panose="02040503050406030204" pitchFamily="18" charset="0"/>
                            </a:rPr>
                            <m:t>−</m:t>
                          </m:r>
                          <m:r>
                            <a:rPr lang="en-GB" sz="1600" b="1" i="0" smtClean="0">
                              <a:latin typeface="Cambria Math" panose="02040503050406030204" pitchFamily="18" charset="0"/>
                            </a:rPr>
                            <m:t>𝟐𝟔𝟒</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𝐟</m:t>
                              </m:r>
                            </m:e>
                            <m:sub>
                              <m:r>
                                <a:rPr lang="en-GB" sz="1600" b="1" i="0" smtClean="0">
                                  <a:latin typeface="Cambria Math" panose="02040503050406030204" pitchFamily="18" charset="0"/>
                                </a:rPr>
                                <m:t>𝐧</m:t>
                              </m:r>
                              <m:r>
                                <a:rPr lang="en-GB" sz="1600" b="1" i="0" smtClean="0">
                                  <a:latin typeface="Cambria Math" panose="02040503050406030204" pitchFamily="18" charset="0"/>
                                </a:rPr>
                                <m:t>−</m:t>
                              </m:r>
                              <m:r>
                                <a:rPr lang="en-GB" sz="1600" b="1" i="0" smtClean="0">
                                  <a:latin typeface="Cambria Math" panose="02040503050406030204" pitchFamily="18" charset="0"/>
                                </a:rPr>
                                <m:t>𝟏</m:t>
                              </m:r>
                            </m:sub>
                          </m:sSub>
                          <m:r>
                            <a:rPr lang="en-GB" sz="1600" b="1" i="0" smtClean="0">
                              <a:latin typeface="Cambria Math" panose="02040503050406030204" pitchFamily="18" charset="0"/>
                            </a:rPr>
                            <m:t>+</m:t>
                          </m:r>
                          <m:r>
                            <a:rPr lang="en-GB" sz="1600" b="1" i="0" smtClean="0">
                              <a:latin typeface="Cambria Math" panose="02040503050406030204" pitchFamily="18" charset="0"/>
                            </a:rPr>
                            <m:t>𝟏𝟎𝟔</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𝐟</m:t>
                              </m:r>
                            </m:e>
                            <m:sub>
                              <m:r>
                                <a:rPr lang="en-GB" sz="1600" b="1" i="0" smtClean="0">
                                  <a:latin typeface="Cambria Math" panose="02040503050406030204" pitchFamily="18" charset="0"/>
                                </a:rPr>
                                <m:t>𝐧</m:t>
                              </m:r>
                              <m:r>
                                <a:rPr lang="en-GB" sz="1600" b="1" i="0" smtClean="0">
                                  <a:latin typeface="Cambria Math" panose="02040503050406030204" pitchFamily="18" charset="0"/>
                                </a:rPr>
                                <m:t>−</m:t>
                              </m:r>
                              <m:r>
                                <a:rPr lang="en-GB" sz="1600" b="1" i="0" smtClean="0">
                                  <a:latin typeface="Cambria Math" panose="02040503050406030204" pitchFamily="18" charset="0"/>
                                </a:rPr>
                                <m:t>𝟐</m:t>
                              </m:r>
                            </m:sub>
                          </m:sSub>
                          <m:r>
                            <a:rPr lang="en-GB" sz="1600" b="1" i="0" smtClean="0">
                              <a:latin typeface="Cambria Math" panose="02040503050406030204" pitchFamily="18" charset="0"/>
                            </a:rPr>
                            <m:t>+</m:t>
                          </m:r>
                          <m:r>
                            <a:rPr lang="en-GB" sz="1600" b="1" i="0" smtClean="0">
                              <a:latin typeface="Cambria Math" panose="02040503050406030204" pitchFamily="18" charset="0"/>
                            </a:rPr>
                            <m:t>𝟏𝟗</m:t>
                          </m:r>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𝐟</m:t>
                              </m:r>
                            </m:e>
                            <m:sub>
                              <m:r>
                                <a:rPr lang="en-GB" sz="1600" b="1" i="0" smtClean="0">
                                  <a:latin typeface="Cambria Math" panose="02040503050406030204" pitchFamily="18" charset="0"/>
                                </a:rPr>
                                <m:t>𝐧</m:t>
                              </m:r>
                              <m:r>
                                <a:rPr lang="en-GB" sz="1600" b="1" i="0" smtClean="0">
                                  <a:latin typeface="Cambria Math" panose="02040503050406030204" pitchFamily="18" charset="0"/>
                                </a:rPr>
                                <m:t>−</m:t>
                              </m:r>
                              <m:r>
                                <a:rPr lang="en-GB" sz="1600" b="1" i="0" smtClean="0">
                                  <a:latin typeface="Cambria Math" panose="02040503050406030204" pitchFamily="18" charset="0"/>
                                </a:rPr>
                                <m:t>𝟑</m:t>
                              </m:r>
                            </m:sub>
                          </m:sSub>
                        </m:e>
                      </m:d>
                    </m:oMath>
                  </m:oMathPara>
                </a14:m>
                <a:endParaRPr lang="es-ES" sz="1600" b="1" dirty="0">
                  <a:solidFill>
                    <a:schemeClr val="tx1"/>
                  </a:solidFill>
                </a:endParaRPr>
              </a:p>
            </p:txBody>
          </p:sp>
        </mc:Choice>
        <mc:Fallback xmlns="">
          <p:sp>
            <p:nvSpPr>
              <p:cNvPr id="6" name="CuadroTexto 5">
                <a:extLst>
                  <a:ext uri="{FF2B5EF4-FFF2-40B4-BE49-F238E27FC236}">
                    <a16:creationId xmlns:a16="http://schemas.microsoft.com/office/drawing/2014/main" id="{3E0D7F4C-CB2E-B708-9C44-1FF6A493B8BB}"/>
                  </a:ext>
                </a:extLst>
              </p:cNvPr>
              <p:cNvSpPr txBox="1">
                <a:spLocks noRot="1" noChangeAspect="1" noMove="1" noResize="1" noEditPoints="1" noAdjustHandles="1" noChangeArrowheads="1" noChangeShapeType="1" noTextEdit="1"/>
              </p:cNvSpPr>
              <p:nvPr/>
            </p:nvSpPr>
            <p:spPr>
              <a:xfrm>
                <a:off x="4891485" y="5813299"/>
                <a:ext cx="7430929" cy="554254"/>
              </a:xfrm>
              <a:prstGeom prst="rect">
                <a:avLst/>
              </a:prstGeom>
              <a:blipFill>
                <a:blip r:embed="rId4"/>
                <a:stretch>
                  <a:fillRect/>
                </a:stretch>
              </a:blipFill>
            </p:spPr>
            <p:txBody>
              <a:bodyPr/>
              <a:lstStyle/>
              <a:p>
                <a:r>
                  <a:rPr lang="es-ES">
                    <a:noFill/>
                  </a:rPr>
                  <a:t> </a:t>
                </a:r>
              </a:p>
            </p:txBody>
          </p:sp>
        </mc:Fallback>
      </mc:AlternateContent>
      <p:cxnSp>
        <p:nvCxnSpPr>
          <p:cNvPr id="8" name="Conector recto de flecha 7">
            <a:extLst>
              <a:ext uri="{FF2B5EF4-FFF2-40B4-BE49-F238E27FC236}">
                <a16:creationId xmlns:a16="http://schemas.microsoft.com/office/drawing/2014/main" id="{F41F5172-D673-E504-AEB3-62C72DA53A9A}"/>
              </a:ext>
            </a:extLst>
          </p:cNvPr>
          <p:cNvCxnSpPr>
            <a:cxnSpLocks/>
          </p:cNvCxnSpPr>
          <p:nvPr/>
        </p:nvCxnSpPr>
        <p:spPr>
          <a:xfrm>
            <a:off x="4803182" y="6161142"/>
            <a:ext cx="60216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25851BF4-2025-F68C-56C1-696AE986AC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4336" y="1143000"/>
            <a:ext cx="5725696" cy="4511848"/>
          </a:xfrm>
          <a:prstGeom prst="rect">
            <a:avLst/>
          </a:prstGeom>
        </p:spPr>
      </p:pic>
      <p:sp>
        <p:nvSpPr>
          <p:cNvPr id="3" name="Marcador de número de diapositiva 2">
            <a:extLst>
              <a:ext uri="{FF2B5EF4-FFF2-40B4-BE49-F238E27FC236}">
                <a16:creationId xmlns:a16="http://schemas.microsoft.com/office/drawing/2014/main" id="{E5763394-5776-A2A7-0943-AFB04CF21C4C}"/>
              </a:ext>
            </a:extLst>
          </p:cNvPr>
          <p:cNvSpPr>
            <a:spLocks noGrp="1"/>
          </p:cNvSpPr>
          <p:nvPr>
            <p:ph type="sldNum" sz="quarter" idx="12"/>
          </p:nvPr>
        </p:nvSpPr>
        <p:spPr/>
        <p:txBody>
          <a:bodyPr/>
          <a:lstStyle/>
          <a:p>
            <a:fld id="{E7DC7EB3-C4C6-4D12-A310-6984ACFEFAFF}" type="slidenum">
              <a:rPr lang="en-GB" smtClean="0"/>
              <a:t>10</a:t>
            </a:fld>
            <a:endParaRPr lang="en-GB"/>
          </a:p>
        </p:txBody>
      </p:sp>
    </p:spTree>
    <p:extLst>
      <p:ext uri="{BB962C8B-B14F-4D97-AF65-F5344CB8AC3E}">
        <p14:creationId xmlns:p14="http://schemas.microsoft.com/office/powerpoint/2010/main" val="165665199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B53FF-F0DA-F924-1075-BA51E5CFF249}"/>
              </a:ext>
            </a:extLst>
          </p:cNvPr>
          <p:cNvSpPr>
            <a:spLocks noGrp="1"/>
          </p:cNvSpPr>
          <p:nvPr>
            <p:ph type="title"/>
          </p:nvPr>
        </p:nvSpPr>
        <p:spPr/>
        <p:txBody>
          <a:bodyPr/>
          <a:lstStyle/>
          <a:p>
            <a:r>
              <a:rPr lang="es-ES" dirty="0"/>
              <a:t>Problemas de prueba</a:t>
            </a:r>
          </a:p>
        </p:txBody>
      </p:sp>
      <p:sp>
        <p:nvSpPr>
          <p:cNvPr id="3" name="Marcador de contenido 2">
            <a:extLst>
              <a:ext uri="{FF2B5EF4-FFF2-40B4-BE49-F238E27FC236}">
                <a16:creationId xmlns:a16="http://schemas.microsoft.com/office/drawing/2014/main" id="{7FAE899A-9A04-4C67-326B-099E68EF60BB}"/>
              </a:ext>
            </a:extLst>
          </p:cNvPr>
          <p:cNvSpPr>
            <a:spLocks noGrp="1"/>
          </p:cNvSpPr>
          <p:nvPr>
            <p:ph idx="1"/>
          </p:nvPr>
        </p:nvSpPr>
        <p:spPr/>
        <p:txBody>
          <a:bodyPr>
            <a:normAutofit/>
          </a:bodyPr>
          <a:lstStyle/>
          <a:p>
            <a:r>
              <a:rPr lang="es-ES" sz="2400" b="1" dirty="0" err="1"/>
              <a:t>SimpleAdvDiff</a:t>
            </a:r>
            <a:r>
              <a:rPr lang="es-ES" sz="2400" dirty="0"/>
              <a:t>: Modelo de Advección-Difusión</a:t>
            </a:r>
          </a:p>
          <a:p>
            <a:r>
              <a:rPr lang="es-ES" sz="2400" b="1" dirty="0"/>
              <a:t>AdvDiff1D</a:t>
            </a:r>
            <a:r>
              <a:rPr lang="es-ES" sz="2400" dirty="0"/>
              <a:t>: Modelo de Advección-Difusión-Reacción</a:t>
            </a:r>
          </a:p>
          <a:p>
            <a:r>
              <a:rPr lang="es-ES" sz="2400" b="1" dirty="0"/>
              <a:t>Brusselator1D</a:t>
            </a:r>
            <a:r>
              <a:rPr lang="es-ES" sz="2400" dirty="0"/>
              <a:t>: Modelo de Reacción-Difusión</a:t>
            </a:r>
          </a:p>
          <a:p>
            <a:r>
              <a:rPr lang="es-ES" sz="2400" b="1" dirty="0"/>
              <a:t>Brusselator2D</a:t>
            </a:r>
            <a:r>
              <a:rPr lang="es-ES" sz="2400" dirty="0"/>
              <a:t>: Forma bidimensional </a:t>
            </a:r>
          </a:p>
        </p:txBody>
      </p:sp>
      <p:sp>
        <p:nvSpPr>
          <p:cNvPr id="4" name="Marcador de número de diapositiva 3">
            <a:extLst>
              <a:ext uri="{FF2B5EF4-FFF2-40B4-BE49-F238E27FC236}">
                <a16:creationId xmlns:a16="http://schemas.microsoft.com/office/drawing/2014/main" id="{2074E10A-1682-5F09-7FB3-50DA4FFC88C9}"/>
              </a:ext>
            </a:extLst>
          </p:cNvPr>
          <p:cNvSpPr>
            <a:spLocks noGrp="1"/>
          </p:cNvSpPr>
          <p:nvPr>
            <p:ph type="sldNum" sz="quarter" idx="12"/>
          </p:nvPr>
        </p:nvSpPr>
        <p:spPr/>
        <p:txBody>
          <a:bodyPr/>
          <a:lstStyle/>
          <a:p>
            <a:fld id="{E7DC7EB3-C4C6-4D12-A310-6984ACFEFAFF}" type="slidenum">
              <a:rPr lang="en-GB" smtClean="0"/>
              <a:t>11</a:t>
            </a:fld>
            <a:endParaRPr lang="en-GB"/>
          </a:p>
        </p:txBody>
      </p:sp>
    </p:spTree>
    <p:extLst>
      <p:ext uri="{BB962C8B-B14F-4D97-AF65-F5344CB8AC3E}">
        <p14:creationId xmlns:p14="http://schemas.microsoft.com/office/powerpoint/2010/main" val="684377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19D02BF7-B514-8799-E5B4-7451FDA0717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002EFA9-435B-FBF6-BC55-E9968A7A820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E856BF71-516E-4BAC-FAAD-21DB43126E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98DA659F-CBC0-4E05-C0AD-99ABD5D8E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pic>
        <p:nvPicPr>
          <p:cNvPr id="14" name="Picture 13">
            <a:extLst>
              <a:ext uri="{FF2B5EF4-FFF2-40B4-BE49-F238E27FC236}">
                <a16:creationId xmlns:a16="http://schemas.microsoft.com/office/drawing/2014/main" id="{E0757A45-8937-C9BE-DA31-7B946A5576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5C998AA5-4D73-ECA2-D003-F3DDCF7748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AA1FAC54-682B-C4EB-2D9D-E76063F20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20" name="Rectangle 19">
            <a:extLst>
              <a:ext uri="{FF2B5EF4-FFF2-40B4-BE49-F238E27FC236}">
                <a16:creationId xmlns:a16="http://schemas.microsoft.com/office/drawing/2014/main" id="{C8072864-5554-50C3-EBB5-8E79ADE33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s-ES" noProof="0" dirty="0"/>
          </a:p>
        </p:txBody>
      </p:sp>
      <p:sp>
        <p:nvSpPr>
          <p:cNvPr id="22" name="Freeform 36">
            <a:extLst>
              <a:ext uri="{FF2B5EF4-FFF2-40B4-BE49-F238E27FC236}">
                <a16:creationId xmlns:a16="http://schemas.microsoft.com/office/drawing/2014/main" id="{88BC7264-4883-9B86-66E2-124B754CE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s-ES" noProof="0" dirty="0"/>
          </a:p>
        </p:txBody>
      </p:sp>
      <p:sp useBgFill="1">
        <p:nvSpPr>
          <p:cNvPr id="24" name="Freeform: Shape 23">
            <a:extLst>
              <a:ext uri="{FF2B5EF4-FFF2-40B4-BE49-F238E27FC236}">
                <a16:creationId xmlns:a16="http://schemas.microsoft.com/office/drawing/2014/main" id="{8ABBC3CA-0F7F-DB74-548C-A422D5BCC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noProof="0" dirty="0">
              <a:solidFill>
                <a:schemeClr val="tx1"/>
              </a:solidFill>
            </a:endParaRPr>
          </a:p>
        </p:txBody>
      </p:sp>
      <p:sp>
        <p:nvSpPr>
          <p:cNvPr id="3" name="Marcador de texto 2">
            <a:extLst>
              <a:ext uri="{FF2B5EF4-FFF2-40B4-BE49-F238E27FC236}">
                <a16:creationId xmlns:a16="http://schemas.microsoft.com/office/drawing/2014/main" id="{50722623-C25E-6BC0-CEFD-8FDA7A848166}"/>
              </a:ext>
            </a:extLst>
          </p:cNvPr>
          <p:cNvSpPr>
            <a:spLocks noGrp="1"/>
          </p:cNvSpPr>
          <p:nvPr>
            <p:ph type="body" idx="1"/>
          </p:nvPr>
        </p:nvSpPr>
        <p:spPr>
          <a:xfrm>
            <a:off x="1154955" y="4777380"/>
            <a:ext cx="6974911" cy="861420"/>
          </a:xfrm>
        </p:spPr>
        <p:txBody>
          <a:bodyPr vert="horz" lIns="91440" tIns="45720" rIns="91440" bIns="45720" rtlCol="0" anchor="t">
            <a:normAutofit/>
          </a:bodyPr>
          <a:lstStyle/>
          <a:p>
            <a:endParaRPr lang="es-ES" sz="2000" b="0" i="0" kern="1200" cap="all" noProof="0" dirty="0">
              <a:solidFill>
                <a:schemeClr val="tx1">
                  <a:lumMod val="85000"/>
                  <a:lumOff val="15000"/>
                </a:schemeClr>
              </a:solidFill>
              <a:latin typeface="+mj-lt"/>
              <a:ea typeface="+mj-ea"/>
              <a:cs typeface="+mj-cs"/>
            </a:endParaRPr>
          </a:p>
        </p:txBody>
      </p:sp>
      <p:sp>
        <p:nvSpPr>
          <p:cNvPr id="2" name="Título 1">
            <a:extLst>
              <a:ext uri="{FF2B5EF4-FFF2-40B4-BE49-F238E27FC236}">
                <a16:creationId xmlns:a16="http://schemas.microsoft.com/office/drawing/2014/main" id="{9AC4F0A7-CE4D-D528-68F6-2260E97F8105}"/>
              </a:ext>
            </a:extLst>
          </p:cNvPr>
          <p:cNvSpPr>
            <a:spLocks noGrp="1"/>
          </p:cNvSpPr>
          <p:nvPr>
            <p:ph type="title"/>
          </p:nvPr>
        </p:nvSpPr>
        <p:spPr>
          <a:xfrm>
            <a:off x="1154955" y="1447800"/>
            <a:ext cx="6974915" cy="3329581"/>
          </a:xfrm>
        </p:spPr>
        <p:txBody>
          <a:bodyPr vert="horz" lIns="91440" tIns="45720" rIns="91440" bIns="45720" rtlCol="0" anchor="b">
            <a:normAutofit/>
          </a:bodyPr>
          <a:lstStyle/>
          <a:p>
            <a:r>
              <a:rPr lang="es-ES" sz="7200" b="0" i="0" kern="1200" dirty="0">
                <a:solidFill>
                  <a:schemeClr val="tx2"/>
                </a:solidFill>
                <a:latin typeface="+mj-lt"/>
                <a:ea typeface="+mj-ea"/>
                <a:cs typeface="+mj-cs"/>
              </a:rPr>
              <a:t>Tecnología</a:t>
            </a:r>
            <a:r>
              <a:rPr lang="es-ES" sz="7200" dirty="0"/>
              <a:t>s de paralelismo</a:t>
            </a:r>
            <a:endParaRPr lang="es-ES" sz="7200" b="0" i="0" kern="1200" noProof="0" dirty="0">
              <a:solidFill>
                <a:schemeClr val="tx2"/>
              </a:solidFill>
              <a:latin typeface="+mj-lt"/>
              <a:ea typeface="+mj-ea"/>
              <a:cs typeface="+mj-cs"/>
            </a:endParaRPr>
          </a:p>
        </p:txBody>
      </p:sp>
      <p:sp>
        <p:nvSpPr>
          <p:cNvPr id="26" name="Rectangle 25">
            <a:extLst>
              <a:ext uri="{FF2B5EF4-FFF2-40B4-BE49-F238E27FC236}">
                <a16:creationId xmlns:a16="http://schemas.microsoft.com/office/drawing/2014/main" id="{B3EFE4E0-A949-A29B-182B-9E2BDBFAB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4" name="Marcador de número de diapositiva 3">
            <a:extLst>
              <a:ext uri="{FF2B5EF4-FFF2-40B4-BE49-F238E27FC236}">
                <a16:creationId xmlns:a16="http://schemas.microsoft.com/office/drawing/2014/main" id="{3CC3A771-D583-AAFF-4F7B-BB603F33E85E}"/>
              </a:ext>
            </a:extLst>
          </p:cNvPr>
          <p:cNvSpPr>
            <a:spLocks noGrp="1"/>
          </p:cNvSpPr>
          <p:nvPr>
            <p:ph type="sldNum" sz="quarter" idx="12"/>
          </p:nvPr>
        </p:nvSpPr>
        <p:spPr/>
        <p:txBody>
          <a:bodyPr/>
          <a:lstStyle/>
          <a:p>
            <a:fld id="{E7DC7EB3-C4C6-4D12-A310-6984ACFEFAFF}" type="slidenum">
              <a:rPr lang="en-GB" smtClean="0"/>
              <a:t>12</a:t>
            </a:fld>
            <a:endParaRPr lang="en-GB"/>
          </a:p>
        </p:txBody>
      </p:sp>
    </p:spTree>
    <p:extLst>
      <p:ext uri="{BB962C8B-B14F-4D97-AF65-F5344CB8AC3E}">
        <p14:creationId xmlns:p14="http://schemas.microsoft.com/office/powerpoint/2010/main" val="95701955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4968-1DDF-B79D-4621-DCF9F35912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51B92F-C491-6225-636D-D0E533319D4D}"/>
              </a:ext>
            </a:extLst>
          </p:cNvPr>
          <p:cNvSpPr>
            <a:spLocks noGrp="1"/>
          </p:cNvSpPr>
          <p:nvPr>
            <p:ph type="title"/>
          </p:nvPr>
        </p:nvSpPr>
        <p:spPr>
          <a:xfrm>
            <a:off x="252322" y="629266"/>
            <a:ext cx="5048351" cy="1622321"/>
          </a:xfrm>
        </p:spPr>
        <p:txBody>
          <a:bodyPr>
            <a:normAutofit/>
          </a:bodyPr>
          <a:lstStyle/>
          <a:p>
            <a:r>
              <a:rPr lang="es-ES" dirty="0" err="1">
                <a:solidFill>
                  <a:srgbClr val="EBEBEB"/>
                </a:solidFill>
              </a:rPr>
              <a:t>OpenMP</a:t>
            </a:r>
            <a:endParaRPr lang="es-ES" dirty="0">
              <a:solidFill>
                <a:srgbClr val="EBEBEB"/>
              </a:solidFill>
            </a:endParaRPr>
          </a:p>
        </p:txBody>
      </p:sp>
      <p:sp>
        <p:nvSpPr>
          <p:cNvPr id="9" name="Content Placeholder 8">
            <a:extLst>
              <a:ext uri="{FF2B5EF4-FFF2-40B4-BE49-F238E27FC236}">
                <a16:creationId xmlns:a16="http://schemas.microsoft.com/office/drawing/2014/main" id="{B0F64552-4B2C-FC4C-4F30-3630E0C1DB6A}"/>
              </a:ext>
            </a:extLst>
          </p:cNvPr>
          <p:cNvSpPr>
            <a:spLocks noGrp="1"/>
          </p:cNvSpPr>
          <p:nvPr>
            <p:ph idx="1"/>
          </p:nvPr>
        </p:nvSpPr>
        <p:spPr>
          <a:xfrm>
            <a:off x="659946" y="1799422"/>
            <a:ext cx="8946761" cy="3785419"/>
          </a:xfrm>
        </p:spPr>
        <p:txBody>
          <a:bodyPr>
            <a:normAutofit/>
          </a:bodyPr>
          <a:lstStyle/>
          <a:p>
            <a:r>
              <a:rPr lang="es-ES" sz="2400" noProof="0" dirty="0">
                <a:solidFill>
                  <a:srgbClr val="EBEBEB"/>
                </a:solidFill>
              </a:rPr>
              <a:t>Interfaz de programación paralela</a:t>
            </a:r>
          </a:p>
          <a:p>
            <a:r>
              <a:rPr lang="es-ES" sz="2400" b="1" dirty="0">
                <a:solidFill>
                  <a:srgbClr val="EBEBEB"/>
                </a:solidFill>
              </a:rPr>
              <a:t>Arquitecturas multiprocesador </a:t>
            </a:r>
            <a:r>
              <a:rPr lang="es-ES" sz="2400" dirty="0">
                <a:solidFill>
                  <a:srgbClr val="EBEBEB"/>
                </a:solidFill>
              </a:rPr>
              <a:t>de memoria compartida</a:t>
            </a:r>
          </a:p>
          <a:p>
            <a:r>
              <a:rPr lang="es-ES" sz="2400" noProof="0" dirty="0">
                <a:solidFill>
                  <a:srgbClr val="EBEBEB"/>
                </a:solidFill>
              </a:rPr>
              <a:t>Modelo de ejecución </a:t>
            </a:r>
            <a:r>
              <a:rPr lang="es-ES" sz="2400" b="1" noProof="0" dirty="0" err="1">
                <a:solidFill>
                  <a:srgbClr val="EBEBEB"/>
                </a:solidFill>
              </a:rPr>
              <a:t>fork-join</a:t>
            </a:r>
            <a:endParaRPr lang="es-ES" sz="2400" b="1" noProof="0" dirty="0">
              <a:solidFill>
                <a:srgbClr val="EBEBEB"/>
              </a:solidFill>
            </a:endParaRPr>
          </a:p>
          <a:p>
            <a:r>
              <a:rPr lang="es-ES" sz="2400" dirty="0">
                <a:solidFill>
                  <a:srgbClr val="EBEBEB"/>
                </a:solidFill>
              </a:rPr>
              <a:t>Surge en 1997</a:t>
            </a:r>
          </a:p>
          <a:p>
            <a:r>
              <a:rPr lang="es-ES" sz="2400" noProof="0" dirty="0" err="1">
                <a:solidFill>
                  <a:srgbClr val="EBEBEB"/>
                </a:solidFill>
              </a:rPr>
              <a:t>Multithreading</a:t>
            </a:r>
            <a:endParaRPr lang="es-ES" sz="2400" noProof="0" dirty="0">
              <a:solidFill>
                <a:srgbClr val="EBEBEB"/>
              </a:solidFill>
            </a:endParaRPr>
          </a:p>
        </p:txBody>
      </p:sp>
      <p:sp>
        <p:nvSpPr>
          <p:cNvPr id="3" name="Marcador de número de diapositiva 2">
            <a:extLst>
              <a:ext uri="{FF2B5EF4-FFF2-40B4-BE49-F238E27FC236}">
                <a16:creationId xmlns:a16="http://schemas.microsoft.com/office/drawing/2014/main" id="{03161AD7-6306-52A1-F66B-AA8470F154AE}"/>
              </a:ext>
            </a:extLst>
          </p:cNvPr>
          <p:cNvSpPr>
            <a:spLocks noGrp="1"/>
          </p:cNvSpPr>
          <p:nvPr>
            <p:ph type="sldNum" sz="quarter" idx="12"/>
          </p:nvPr>
        </p:nvSpPr>
        <p:spPr/>
        <p:txBody>
          <a:bodyPr/>
          <a:lstStyle/>
          <a:p>
            <a:fld id="{E7DC7EB3-C4C6-4D12-A310-6984ACFEFAFF}" type="slidenum">
              <a:rPr lang="en-GB" smtClean="0"/>
              <a:t>13</a:t>
            </a:fld>
            <a:endParaRPr lang="en-GB"/>
          </a:p>
        </p:txBody>
      </p:sp>
      <p:grpSp>
        <p:nvGrpSpPr>
          <p:cNvPr id="5" name="Grupo 4">
            <a:extLst>
              <a:ext uri="{FF2B5EF4-FFF2-40B4-BE49-F238E27FC236}">
                <a16:creationId xmlns:a16="http://schemas.microsoft.com/office/drawing/2014/main" id="{E6D5D8DA-9D38-6983-B5AA-54C2BDE18376}"/>
              </a:ext>
            </a:extLst>
          </p:cNvPr>
          <p:cNvGrpSpPr/>
          <p:nvPr/>
        </p:nvGrpSpPr>
        <p:grpSpPr>
          <a:xfrm>
            <a:off x="3538755" y="3275242"/>
            <a:ext cx="8225805" cy="2662344"/>
            <a:chOff x="3570653" y="3162611"/>
            <a:chExt cx="8225805" cy="2662344"/>
          </a:xfrm>
        </p:grpSpPr>
        <p:pic>
          <p:nvPicPr>
            <p:cNvPr id="10" name="Imagen 9">
              <a:extLst>
                <a:ext uri="{FF2B5EF4-FFF2-40B4-BE49-F238E27FC236}">
                  <a16:creationId xmlns:a16="http://schemas.microsoft.com/office/drawing/2014/main" id="{846EBD7C-1464-38B9-E246-13571202C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0653" y="3162611"/>
              <a:ext cx="8225805" cy="2323790"/>
            </a:xfrm>
            <a:prstGeom prst="rect">
              <a:avLst/>
            </a:prstGeom>
          </p:spPr>
        </p:pic>
        <p:sp>
          <p:nvSpPr>
            <p:cNvPr id="4" name="CuadroTexto 3">
              <a:extLst>
                <a:ext uri="{FF2B5EF4-FFF2-40B4-BE49-F238E27FC236}">
                  <a16:creationId xmlns:a16="http://schemas.microsoft.com/office/drawing/2014/main" id="{4AE522D1-F9CF-D31E-EB0A-0D5209865892}"/>
                </a:ext>
              </a:extLst>
            </p:cNvPr>
            <p:cNvSpPr txBox="1"/>
            <p:nvPr/>
          </p:nvSpPr>
          <p:spPr>
            <a:xfrm>
              <a:off x="5708462" y="5486401"/>
              <a:ext cx="3950186" cy="338554"/>
            </a:xfrm>
            <a:prstGeom prst="rect">
              <a:avLst/>
            </a:prstGeom>
            <a:noFill/>
          </p:spPr>
          <p:txBody>
            <a:bodyPr wrap="square" rtlCol="0">
              <a:spAutoFit/>
            </a:bodyPr>
            <a:lstStyle/>
            <a:p>
              <a:pPr algn="ctr"/>
              <a:r>
                <a:rPr lang="es-ES" sz="1600" dirty="0"/>
                <a:t>Modelo </a:t>
              </a:r>
              <a:r>
                <a:rPr lang="es-ES" sz="1600" dirty="0" err="1"/>
                <a:t>fork-join</a:t>
              </a:r>
              <a:r>
                <a:rPr lang="es-ES" sz="1600" dirty="0"/>
                <a:t> (</a:t>
              </a:r>
              <a:r>
                <a:rPr lang="es-ES" sz="1600" dirty="0" err="1">
                  <a:hlinkClick r:id="rId4"/>
                </a:rPr>
                <a:t>hpc-tutorials</a:t>
              </a:r>
              <a:r>
                <a:rPr lang="es-ES" sz="1600" dirty="0"/>
                <a:t>)</a:t>
              </a:r>
            </a:p>
          </p:txBody>
        </p:sp>
      </p:grpSp>
    </p:spTree>
    <p:extLst>
      <p:ext uri="{BB962C8B-B14F-4D97-AF65-F5344CB8AC3E}">
        <p14:creationId xmlns:p14="http://schemas.microsoft.com/office/powerpoint/2010/main" val="552257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C6842A-ECF6-83CC-7879-A003353BA34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5E08BC9-946B-0588-DDD6-65F2AE79A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D42F76-5B98-60AA-25A9-C27B74A7608D}"/>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CUDA</a:t>
            </a:r>
          </a:p>
        </p:txBody>
      </p:sp>
      <p:sp>
        <p:nvSpPr>
          <p:cNvPr id="14" name="Freeform 31">
            <a:extLst>
              <a:ext uri="{FF2B5EF4-FFF2-40B4-BE49-F238E27FC236}">
                <a16:creationId xmlns:a16="http://schemas.microsoft.com/office/drawing/2014/main" id="{5F09A8AD-0B2A-EEC3-B7F4-740D98FD34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AB1652F0-CBC3-0EC9-F975-6CD674D92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FAECDA8D-09C3-5D49-6344-6E416FF5B9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89D122FA-AB14-CF81-873D-86E63C21EDC5}"/>
              </a:ext>
            </a:extLst>
          </p:cNvPr>
          <p:cNvSpPr>
            <a:spLocks noGrp="1"/>
          </p:cNvSpPr>
          <p:nvPr>
            <p:ph idx="1"/>
          </p:nvPr>
        </p:nvSpPr>
        <p:spPr>
          <a:xfrm>
            <a:off x="181505" y="1873570"/>
            <a:ext cx="5210977" cy="4782411"/>
          </a:xfrm>
        </p:spPr>
        <p:txBody>
          <a:bodyPr>
            <a:normAutofit/>
          </a:bodyPr>
          <a:lstStyle/>
          <a:p>
            <a:r>
              <a:rPr lang="es-ES" sz="2200" noProof="0" dirty="0">
                <a:solidFill>
                  <a:srgbClr val="EBEBEB"/>
                </a:solidFill>
              </a:rPr>
              <a:t>Plataforma de computación paralela</a:t>
            </a:r>
          </a:p>
          <a:p>
            <a:r>
              <a:rPr lang="es-ES" sz="2200" noProof="0" dirty="0">
                <a:solidFill>
                  <a:srgbClr val="EBEBEB"/>
                </a:solidFill>
              </a:rPr>
              <a:t>Ejecutar código en </a:t>
            </a:r>
            <a:r>
              <a:rPr lang="es-ES" sz="2200" b="1" noProof="0" dirty="0" err="1">
                <a:solidFill>
                  <a:srgbClr val="EBEBEB"/>
                </a:solidFill>
              </a:rPr>
              <a:t>GPUs</a:t>
            </a:r>
            <a:endParaRPr lang="es-ES" sz="2200" b="1" noProof="0" dirty="0">
              <a:solidFill>
                <a:srgbClr val="EBEBEB"/>
              </a:solidFill>
            </a:endParaRPr>
          </a:p>
          <a:p>
            <a:r>
              <a:rPr lang="es-ES" sz="2200" dirty="0">
                <a:solidFill>
                  <a:srgbClr val="EBEBEB"/>
                </a:solidFill>
              </a:rPr>
              <a:t>GPU -&gt; Dispositivo de cómputo </a:t>
            </a:r>
            <a:r>
              <a:rPr lang="es-ES" sz="2200" b="1" dirty="0">
                <a:solidFill>
                  <a:srgbClr val="EBEBEB"/>
                </a:solidFill>
              </a:rPr>
              <a:t>masivamente paralelo</a:t>
            </a:r>
          </a:p>
          <a:p>
            <a:r>
              <a:rPr lang="es-ES" sz="2200" noProof="0" dirty="0">
                <a:solidFill>
                  <a:srgbClr val="EBEBEB"/>
                </a:solidFill>
              </a:rPr>
              <a:t>Nace en</a:t>
            </a:r>
            <a:r>
              <a:rPr lang="es-ES" sz="2200" dirty="0">
                <a:solidFill>
                  <a:srgbClr val="EBEBEB"/>
                </a:solidFill>
              </a:rPr>
              <a:t> 2000</a:t>
            </a:r>
          </a:p>
          <a:p>
            <a:r>
              <a:rPr lang="es-ES" sz="2200" noProof="0" dirty="0">
                <a:solidFill>
                  <a:srgbClr val="EBEBEB"/>
                </a:solidFill>
              </a:rPr>
              <a:t>Modelo </a:t>
            </a:r>
            <a:r>
              <a:rPr lang="es-ES" sz="2200" b="1" noProof="0" dirty="0">
                <a:solidFill>
                  <a:srgbClr val="EBEBEB"/>
                </a:solidFill>
              </a:rPr>
              <a:t>SIMT</a:t>
            </a:r>
            <a:r>
              <a:rPr lang="es-ES" sz="2200" noProof="0" dirty="0">
                <a:solidFill>
                  <a:srgbClr val="EBEBEB"/>
                </a:solidFill>
              </a:rPr>
              <a:t>, single </a:t>
            </a:r>
            <a:r>
              <a:rPr lang="es-ES" sz="2200" noProof="0" dirty="0" err="1">
                <a:solidFill>
                  <a:srgbClr val="EBEBEB"/>
                </a:solidFill>
              </a:rPr>
              <a:t>instruction</a:t>
            </a:r>
            <a:r>
              <a:rPr lang="es-ES" sz="2200" noProof="0" dirty="0">
                <a:solidFill>
                  <a:srgbClr val="EBEBEB"/>
                </a:solidFill>
              </a:rPr>
              <a:t> </a:t>
            </a:r>
            <a:r>
              <a:rPr lang="es-ES" sz="2200" noProof="0" dirty="0" err="1">
                <a:solidFill>
                  <a:srgbClr val="EBEBEB"/>
                </a:solidFill>
              </a:rPr>
              <a:t>multiple</a:t>
            </a:r>
            <a:r>
              <a:rPr lang="es-ES" sz="2200" noProof="0" dirty="0">
                <a:solidFill>
                  <a:srgbClr val="EBEBEB"/>
                </a:solidFill>
              </a:rPr>
              <a:t> </a:t>
            </a:r>
            <a:r>
              <a:rPr lang="es-ES" sz="2200" noProof="0" dirty="0" err="1">
                <a:solidFill>
                  <a:srgbClr val="EBEBEB"/>
                </a:solidFill>
              </a:rPr>
              <a:t>threads</a:t>
            </a:r>
            <a:endParaRPr lang="es-ES" sz="2200" noProof="0" dirty="0">
              <a:solidFill>
                <a:srgbClr val="EBEBEB"/>
              </a:solidFill>
            </a:endParaRPr>
          </a:p>
          <a:p>
            <a:r>
              <a:rPr lang="es-ES" sz="2200" b="1" noProof="0" dirty="0" err="1">
                <a:solidFill>
                  <a:srgbClr val="EBEBEB"/>
                </a:solidFill>
              </a:rPr>
              <a:t>Warps</a:t>
            </a:r>
            <a:r>
              <a:rPr lang="es-ES" sz="2200" noProof="0" dirty="0">
                <a:solidFill>
                  <a:srgbClr val="EBEBEB"/>
                </a:solidFill>
              </a:rPr>
              <a:t> de 32 hilos en el SM</a:t>
            </a:r>
          </a:p>
          <a:p>
            <a:r>
              <a:rPr lang="es-ES" sz="2200" b="1" dirty="0">
                <a:solidFill>
                  <a:srgbClr val="EBEBEB"/>
                </a:solidFill>
              </a:rPr>
              <a:t>Host-</a:t>
            </a:r>
            <a:r>
              <a:rPr lang="es-ES" sz="2200" b="1" dirty="0" err="1">
                <a:solidFill>
                  <a:srgbClr val="EBEBEB"/>
                </a:solidFill>
              </a:rPr>
              <a:t>Device</a:t>
            </a:r>
            <a:endParaRPr lang="es-ES" sz="2200" b="1" noProof="0" dirty="0">
              <a:solidFill>
                <a:srgbClr val="EBEBEB"/>
              </a:solidFill>
            </a:endParaRPr>
          </a:p>
        </p:txBody>
      </p:sp>
      <p:sp>
        <p:nvSpPr>
          <p:cNvPr id="3" name="Marcador de número de diapositiva 2">
            <a:extLst>
              <a:ext uri="{FF2B5EF4-FFF2-40B4-BE49-F238E27FC236}">
                <a16:creationId xmlns:a16="http://schemas.microsoft.com/office/drawing/2014/main" id="{25929F69-C703-07EE-FCE0-AE3B7BEF7778}"/>
              </a:ext>
            </a:extLst>
          </p:cNvPr>
          <p:cNvSpPr>
            <a:spLocks noGrp="1"/>
          </p:cNvSpPr>
          <p:nvPr>
            <p:ph type="sldNum" sz="quarter" idx="12"/>
          </p:nvPr>
        </p:nvSpPr>
        <p:spPr/>
        <p:txBody>
          <a:bodyPr/>
          <a:lstStyle/>
          <a:p>
            <a:fld id="{E7DC7EB3-C4C6-4D12-A310-6984ACFEFAFF}" type="slidenum">
              <a:rPr lang="en-GB" smtClean="0"/>
              <a:t>14</a:t>
            </a:fld>
            <a:endParaRPr lang="en-GB"/>
          </a:p>
        </p:txBody>
      </p:sp>
      <p:grpSp>
        <p:nvGrpSpPr>
          <p:cNvPr id="6" name="Grupo 5">
            <a:extLst>
              <a:ext uri="{FF2B5EF4-FFF2-40B4-BE49-F238E27FC236}">
                <a16:creationId xmlns:a16="http://schemas.microsoft.com/office/drawing/2014/main" id="{7CD9C550-FB67-A7B3-3A85-4C7001818E57}"/>
              </a:ext>
            </a:extLst>
          </p:cNvPr>
          <p:cNvGrpSpPr/>
          <p:nvPr/>
        </p:nvGrpSpPr>
        <p:grpSpPr>
          <a:xfrm>
            <a:off x="5850023" y="1301367"/>
            <a:ext cx="5906926" cy="4593819"/>
            <a:chOff x="5850023" y="1301367"/>
            <a:chExt cx="5906926" cy="4593819"/>
          </a:xfrm>
        </p:grpSpPr>
        <p:pic>
          <p:nvPicPr>
            <p:cNvPr id="5" name="Imagen 4">
              <a:extLst>
                <a:ext uri="{FF2B5EF4-FFF2-40B4-BE49-F238E27FC236}">
                  <a16:creationId xmlns:a16="http://schemas.microsoft.com/office/drawing/2014/main" id="{F4052078-7AAF-2427-40C6-454BF7F7C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0023" y="1301367"/>
              <a:ext cx="5906926" cy="4255265"/>
            </a:xfrm>
            <a:prstGeom prst="rect">
              <a:avLst/>
            </a:prstGeom>
          </p:spPr>
        </p:pic>
        <p:sp>
          <p:nvSpPr>
            <p:cNvPr id="4" name="CuadroTexto 3">
              <a:extLst>
                <a:ext uri="{FF2B5EF4-FFF2-40B4-BE49-F238E27FC236}">
                  <a16:creationId xmlns:a16="http://schemas.microsoft.com/office/drawing/2014/main" id="{C7D31637-A73B-9AEF-F501-2E03FE4B80A5}"/>
                </a:ext>
              </a:extLst>
            </p:cNvPr>
            <p:cNvSpPr txBox="1"/>
            <p:nvPr/>
          </p:nvSpPr>
          <p:spPr>
            <a:xfrm>
              <a:off x="6911163" y="5556632"/>
              <a:ext cx="4657060" cy="338554"/>
            </a:xfrm>
            <a:prstGeom prst="rect">
              <a:avLst/>
            </a:prstGeom>
            <a:noFill/>
          </p:spPr>
          <p:txBody>
            <a:bodyPr wrap="square" rtlCol="0">
              <a:spAutoFit/>
            </a:bodyPr>
            <a:lstStyle/>
            <a:p>
              <a:pPr algn="ctr"/>
              <a:r>
                <a:rPr lang="es-ES" sz="1600" dirty="0"/>
                <a:t>Arquitectura CUDA (</a:t>
              </a:r>
              <a:r>
                <a:rPr lang="es-ES" sz="1600" dirty="0" err="1">
                  <a:hlinkClick r:id="rId4"/>
                </a:rPr>
                <a:t>researchgate</a:t>
              </a:r>
              <a:r>
                <a:rPr lang="es-ES" sz="1600" dirty="0"/>
                <a:t>)</a:t>
              </a:r>
            </a:p>
          </p:txBody>
        </p:sp>
      </p:grpSp>
    </p:spTree>
    <p:extLst>
      <p:ext uri="{BB962C8B-B14F-4D97-AF65-F5344CB8AC3E}">
        <p14:creationId xmlns:p14="http://schemas.microsoft.com/office/powerpoint/2010/main" val="256205744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D2CF5D3E-3815-BF4A-880E-CE6BD41197A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4345A28-6F47-CC80-6E3B-158A6338F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606B44E2-EE24-5A1C-5CE2-45A46DB886E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B043290-F33E-BEF2-086B-D199A8C5F4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pic>
        <p:nvPicPr>
          <p:cNvPr id="14" name="Picture 13">
            <a:extLst>
              <a:ext uri="{FF2B5EF4-FFF2-40B4-BE49-F238E27FC236}">
                <a16:creationId xmlns:a16="http://schemas.microsoft.com/office/drawing/2014/main" id="{500F24C5-CBBF-2946-2145-A8042B356A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DB045DE0-B606-A1EA-21B6-8561FE6C5F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99969F46-0084-E8D1-5402-636312F34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20" name="Rectangle 19">
            <a:extLst>
              <a:ext uri="{FF2B5EF4-FFF2-40B4-BE49-F238E27FC236}">
                <a16:creationId xmlns:a16="http://schemas.microsoft.com/office/drawing/2014/main" id="{27DAA0C8-876A-D3EA-469E-C724E9E8F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s-ES" noProof="0" dirty="0"/>
          </a:p>
        </p:txBody>
      </p:sp>
      <p:sp>
        <p:nvSpPr>
          <p:cNvPr id="22" name="Freeform 36">
            <a:extLst>
              <a:ext uri="{FF2B5EF4-FFF2-40B4-BE49-F238E27FC236}">
                <a16:creationId xmlns:a16="http://schemas.microsoft.com/office/drawing/2014/main" id="{3BEB8557-623B-8EA8-D859-D09FA4BEC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s-ES" noProof="0" dirty="0"/>
          </a:p>
        </p:txBody>
      </p:sp>
      <p:sp useBgFill="1">
        <p:nvSpPr>
          <p:cNvPr id="24" name="Freeform: Shape 23">
            <a:extLst>
              <a:ext uri="{FF2B5EF4-FFF2-40B4-BE49-F238E27FC236}">
                <a16:creationId xmlns:a16="http://schemas.microsoft.com/office/drawing/2014/main" id="{36C43EA6-9302-0CB2-0A36-0D9B99C9E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noProof="0" dirty="0">
              <a:solidFill>
                <a:schemeClr val="tx1"/>
              </a:solidFill>
            </a:endParaRPr>
          </a:p>
        </p:txBody>
      </p:sp>
      <p:sp>
        <p:nvSpPr>
          <p:cNvPr id="3" name="Marcador de texto 2">
            <a:extLst>
              <a:ext uri="{FF2B5EF4-FFF2-40B4-BE49-F238E27FC236}">
                <a16:creationId xmlns:a16="http://schemas.microsoft.com/office/drawing/2014/main" id="{340538A4-1C2B-707A-A40E-BE611F4DB666}"/>
              </a:ext>
            </a:extLst>
          </p:cNvPr>
          <p:cNvSpPr>
            <a:spLocks noGrp="1"/>
          </p:cNvSpPr>
          <p:nvPr>
            <p:ph type="body" idx="1"/>
          </p:nvPr>
        </p:nvSpPr>
        <p:spPr>
          <a:xfrm>
            <a:off x="1154955" y="4777380"/>
            <a:ext cx="6974911" cy="861420"/>
          </a:xfrm>
        </p:spPr>
        <p:txBody>
          <a:bodyPr vert="horz" lIns="91440" tIns="45720" rIns="91440" bIns="45720" rtlCol="0" anchor="t">
            <a:normAutofit/>
          </a:bodyPr>
          <a:lstStyle/>
          <a:p>
            <a:endParaRPr lang="es-ES" sz="2000" b="0" i="0" kern="1200" cap="all" noProof="0" dirty="0">
              <a:solidFill>
                <a:schemeClr val="tx1">
                  <a:lumMod val="85000"/>
                  <a:lumOff val="15000"/>
                </a:schemeClr>
              </a:solidFill>
              <a:latin typeface="+mj-lt"/>
              <a:ea typeface="+mj-ea"/>
              <a:cs typeface="+mj-cs"/>
            </a:endParaRPr>
          </a:p>
        </p:txBody>
      </p:sp>
      <p:sp>
        <p:nvSpPr>
          <p:cNvPr id="2" name="Título 1">
            <a:extLst>
              <a:ext uri="{FF2B5EF4-FFF2-40B4-BE49-F238E27FC236}">
                <a16:creationId xmlns:a16="http://schemas.microsoft.com/office/drawing/2014/main" id="{3935AAF5-E068-6EF1-3CBD-FEFF6927ACBA}"/>
              </a:ext>
            </a:extLst>
          </p:cNvPr>
          <p:cNvSpPr>
            <a:spLocks noGrp="1"/>
          </p:cNvSpPr>
          <p:nvPr>
            <p:ph type="title"/>
          </p:nvPr>
        </p:nvSpPr>
        <p:spPr>
          <a:xfrm>
            <a:off x="1154955" y="1447800"/>
            <a:ext cx="7668725" cy="3329581"/>
          </a:xfrm>
        </p:spPr>
        <p:txBody>
          <a:bodyPr vert="horz" lIns="91440" tIns="45720" rIns="91440" bIns="45720" rtlCol="0" anchor="b">
            <a:normAutofit/>
          </a:bodyPr>
          <a:lstStyle/>
          <a:p>
            <a:r>
              <a:rPr lang="es-ES" sz="7200" b="0" i="0" kern="1200" dirty="0">
                <a:solidFill>
                  <a:schemeClr val="tx2"/>
                </a:solidFill>
                <a:latin typeface="+mj-lt"/>
                <a:ea typeface="+mj-ea"/>
                <a:cs typeface="+mj-cs"/>
              </a:rPr>
              <a:t>Implementación </a:t>
            </a:r>
            <a:r>
              <a:rPr lang="es-ES" sz="7200" b="0" i="0" kern="1200" dirty="0" err="1">
                <a:solidFill>
                  <a:schemeClr val="tx2"/>
                </a:solidFill>
                <a:latin typeface="+mj-lt"/>
                <a:ea typeface="+mj-ea"/>
                <a:cs typeface="+mj-cs"/>
              </a:rPr>
              <a:t>multihebra</a:t>
            </a:r>
            <a:endParaRPr lang="es-ES" sz="7200" b="0" i="0" kern="1200" noProof="0" dirty="0">
              <a:solidFill>
                <a:schemeClr val="tx2"/>
              </a:solidFill>
              <a:latin typeface="+mj-lt"/>
              <a:ea typeface="+mj-ea"/>
              <a:cs typeface="+mj-cs"/>
            </a:endParaRPr>
          </a:p>
        </p:txBody>
      </p:sp>
      <p:sp>
        <p:nvSpPr>
          <p:cNvPr id="26" name="Rectangle 25">
            <a:extLst>
              <a:ext uri="{FF2B5EF4-FFF2-40B4-BE49-F238E27FC236}">
                <a16:creationId xmlns:a16="http://schemas.microsoft.com/office/drawing/2014/main" id="{27BF6B44-4885-6FEC-AAE2-E4EA89054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4" name="Marcador de número de diapositiva 3">
            <a:extLst>
              <a:ext uri="{FF2B5EF4-FFF2-40B4-BE49-F238E27FC236}">
                <a16:creationId xmlns:a16="http://schemas.microsoft.com/office/drawing/2014/main" id="{C4F576F3-0152-57B9-A4AE-9C89CAF96061}"/>
              </a:ext>
            </a:extLst>
          </p:cNvPr>
          <p:cNvSpPr>
            <a:spLocks noGrp="1"/>
          </p:cNvSpPr>
          <p:nvPr>
            <p:ph type="sldNum" sz="quarter" idx="12"/>
          </p:nvPr>
        </p:nvSpPr>
        <p:spPr/>
        <p:txBody>
          <a:bodyPr/>
          <a:lstStyle/>
          <a:p>
            <a:fld id="{E7DC7EB3-C4C6-4D12-A310-6984ACFEFAFF}" type="slidenum">
              <a:rPr lang="en-GB" smtClean="0"/>
              <a:t>15</a:t>
            </a:fld>
            <a:endParaRPr lang="en-GB"/>
          </a:p>
        </p:txBody>
      </p:sp>
    </p:spTree>
    <p:extLst>
      <p:ext uri="{BB962C8B-B14F-4D97-AF65-F5344CB8AC3E}">
        <p14:creationId xmlns:p14="http://schemas.microsoft.com/office/powerpoint/2010/main" val="20861989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AD1BA2-3212-0399-7580-4B8D5524B7D5}"/>
              </a:ext>
            </a:extLst>
          </p:cNvPr>
          <p:cNvSpPr>
            <a:spLocks noGrp="1"/>
          </p:cNvSpPr>
          <p:nvPr>
            <p:ph type="title"/>
          </p:nvPr>
        </p:nvSpPr>
        <p:spPr/>
        <p:txBody>
          <a:bodyPr/>
          <a:lstStyle/>
          <a:p>
            <a:r>
              <a:rPr lang="es-ES" dirty="0"/>
              <a:t>Implementación secuencial</a:t>
            </a:r>
          </a:p>
        </p:txBody>
      </p:sp>
      <p:pic>
        <p:nvPicPr>
          <p:cNvPr id="7" name="Marcador de contenido 6">
            <a:extLst>
              <a:ext uri="{FF2B5EF4-FFF2-40B4-BE49-F238E27FC236}">
                <a16:creationId xmlns:a16="http://schemas.microsoft.com/office/drawing/2014/main" id="{E94EC78B-2AA1-4472-D3BD-6805BDA6E14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3218" y="1525742"/>
            <a:ext cx="5616466" cy="4684702"/>
          </a:xfrm>
          <a:prstGeom prst="rect">
            <a:avLst/>
          </a:prstGeom>
        </p:spPr>
      </p:pic>
      <p:pic>
        <p:nvPicPr>
          <p:cNvPr id="9" name="Marcador de contenido 8">
            <a:extLst>
              <a:ext uri="{FF2B5EF4-FFF2-40B4-BE49-F238E27FC236}">
                <a16:creationId xmlns:a16="http://schemas.microsoft.com/office/drawing/2014/main" id="{600F5450-A071-2220-18CB-61F3A32F01B9}"/>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5784113" y="1525742"/>
            <a:ext cx="6314670" cy="4976190"/>
          </a:xfrm>
          <a:prstGeom prst="rect">
            <a:avLst/>
          </a:prstGeom>
        </p:spPr>
      </p:pic>
      <p:sp>
        <p:nvSpPr>
          <p:cNvPr id="3" name="Marcador de número de diapositiva 2">
            <a:extLst>
              <a:ext uri="{FF2B5EF4-FFF2-40B4-BE49-F238E27FC236}">
                <a16:creationId xmlns:a16="http://schemas.microsoft.com/office/drawing/2014/main" id="{5FE07EC1-A4DA-22BE-DCC0-0AB54350210B}"/>
              </a:ext>
            </a:extLst>
          </p:cNvPr>
          <p:cNvSpPr>
            <a:spLocks noGrp="1"/>
          </p:cNvSpPr>
          <p:nvPr>
            <p:ph type="sldNum" sz="quarter" idx="12"/>
          </p:nvPr>
        </p:nvSpPr>
        <p:spPr/>
        <p:txBody>
          <a:bodyPr/>
          <a:lstStyle/>
          <a:p>
            <a:fld id="{E7DC7EB3-C4C6-4D12-A310-6984ACFEFAFF}" type="slidenum">
              <a:rPr lang="en-GB" smtClean="0"/>
              <a:t>16</a:t>
            </a:fld>
            <a:endParaRPr lang="en-GB"/>
          </a:p>
        </p:txBody>
      </p:sp>
    </p:spTree>
    <p:extLst>
      <p:ext uri="{BB962C8B-B14F-4D97-AF65-F5344CB8AC3E}">
        <p14:creationId xmlns:p14="http://schemas.microsoft.com/office/powerpoint/2010/main" val="1447861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6C3478-967B-8888-B858-DB989AE94503}"/>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2E61292-B6F8-62BB-598E-9B8F72854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6AFBD5A-4C4D-70C1-F38C-31DE00BEBA0B}"/>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Paralelismo por operaciones</a:t>
            </a:r>
          </a:p>
        </p:txBody>
      </p:sp>
      <p:sp>
        <p:nvSpPr>
          <p:cNvPr id="14" name="Freeform 31">
            <a:extLst>
              <a:ext uri="{FF2B5EF4-FFF2-40B4-BE49-F238E27FC236}">
                <a16:creationId xmlns:a16="http://schemas.microsoft.com/office/drawing/2014/main" id="{5CF0E8E7-3A0B-D155-3F6B-7DF76FDA1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349D80BB-AF0E-183C-DEDF-9D5A0A3C5C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0122F76D-B85F-55C8-1FAE-8F26498F3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3AB74553-C4E4-DA09-3F10-FF59FA4CA1CC}"/>
              </a:ext>
            </a:extLst>
          </p:cNvPr>
          <p:cNvSpPr>
            <a:spLocks noGrp="1"/>
          </p:cNvSpPr>
          <p:nvPr>
            <p:ph idx="1"/>
          </p:nvPr>
        </p:nvSpPr>
        <p:spPr>
          <a:xfrm>
            <a:off x="380277" y="2227428"/>
            <a:ext cx="5210977" cy="3785419"/>
          </a:xfrm>
        </p:spPr>
        <p:txBody>
          <a:bodyPr>
            <a:normAutofit/>
          </a:bodyPr>
          <a:lstStyle/>
          <a:p>
            <a:r>
              <a:rPr lang="es-ES" sz="2200" noProof="0" dirty="0">
                <a:solidFill>
                  <a:srgbClr val="EBEBEB"/>
                </a:solidFill>
              </a:rPr>
              <a:t>Cada función paraleliza su propio trabajo internamente</a:t>
            </a:r>
          </a:p>
          <a:p>
            <a:r>
              <a:rPr lang="es-ES" sz="2200" dirty="0">
                <a:solidFill>
                  <a:srgbClr val="EBEBEB"/>
                </a:solidFill>
              </a:rPr>
              <a:t>Creación de hilos, reparto del trabajo, sincronización y destrucción</a:t>
            </a:r>
          </a:p>
          <a:p>
            <a:r>
              <a:rPr lang="es-ES" sz="2200" noProof="0" dirty="0" err="1">
                <a:solidFill>
                  <a:srgbClr val="EBEBEB"/>
                </a:solidFill>
              </a:rPr>
              <a:t>Repart</a:t>
            </a:r>
            <a:r>
              <a:rPr lang="es-ES" sz="2200" dirty="0">
                <a:solidFill>
                  <a:srgbClr val="EBEBEB"/>
                </a:solidFill>
              </a:rPr>
              <a:t>o del trabajo función a función</a:t>
            </a:r>
          </a:p>
          <a:p>
            <a:r>
              <a:rPr lang="es-ES" sz="2200" dirty="0">
                <a:solidFill>
                  <a:srgbClr val="EBEBEB"/>
                </a:solidFill>
              </a:rPr>
              <a:t>Modularidad</a:t>
            </a:r>
          </a:p>
          <a:p>
            <a:r>
              <a:rPr lang="es-ES" sz="2200" noProof="0" dirty="0" err="1">
                <a:solidFill>
                  <a:srgbClr val="EBEBEB"/>
                </a:solidFill>
              </a:rPr>
              <a:t>Overhead</a:t>
            </a:r>
            <a:endParaRPr lang="es-ES" sz="2200" noProof="0" dirty="0">
              <a:solidFill>
                <a:srgbClr val="EBEBEB"/>
              </a:solidFill>
            </a:endParaRPr>
          </a:p>
        </p:txBody>
      </p:sp>
      <p:pic>
        <p:nvPicPr>
          <p:cNvPr id="5" name="Imagen 4">
            <a:extLst>
              <a:ext uri="{FF2B5EF4-FFF2-40B4-BE49-F238E27FC236}">
                <a16:creationId xmlns:a16="http://schemas.microsoft.com/office/drawing/2014/main" id="{E4DC7F6C-C639-54B6-6D67-040DE34B1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6577" y="1143000"/>
            <a:ext cx="5683916" cy="3785419"/>
          </a:xfrm>
          <a:prstGeom prst="rect">
            <a:avLst/>
          </a:prstGeom>
        </p:spPr>
      </p:pic>
      <p:pic>
        <p:nvPicPr>
          <p:cNvPr id="7" name="Imagen 6">
            <a:extLst>
              <a:ext uri="{FF2B5EF4-FFF2-40B4-BE49-F238E27FC236}">
                <a16:creationId xmlns:a16="http://schemas.microsoft.com/office/drawing/2014/main" id="{5C13D5F5-4545-3320-F821-AFE6A5450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5311" y="4926412"/>
            <a:ext cx="5683916" cy="1206382"/>
          </a:xfrm>
          <a:prstGeom prst="rect">
            <a:avLst/>
          </a:prstGeom>
        </p:spPr>
      </p:pic>
      <p:sp>
        <p:nvSpPr>
          <p:cNvPr id="3" name="Marcador de número de diapositiva 2">
            <a:extLst>
              <a:ext uri="{FF2B5EF4-FFF2-40B4-BE49-F238E27FC236}">
                <a16:creationId xmlns:a16="http://schemas.microsoft.com/office/drawing/2014/main" id="{C4C39C31-01AE-DB09-7195-287C98E21535}"/>
              </a:ext>
            </a:extLst>
          </p:cNvPr>
          <p:cNvSpPr>
            <a:spLocks noGrp="1"/>
          </p:cNvSpPr>
          <p:nvPr>
            <p:ph type="sldNum" sz="quarter" idx="12"/>
          </p:nvPr>
        </p:nvSpPr>
        <p:spPr/>
        <p:txBody>
          <a:bodyPr/>
          <a:lstStyle/>
          <a:p>
            <a:fld id="{E7DC7EB3-C4C6-4D12-A310-6984ACFEFAFF}" type="slidenum">
              <a:rPr lang="en-GB" smtClean="0"/>
              <a:t>17</a:t>
            </a:fld>
            <a:endParaRPr lang="en-GB"/>
          </a:p>
        </p:txBody>
      </p:sp>
    </p:spTree>
    <p:extLst>
      <p:ext uri="{BB962C8B-B14F-4D97-AF65-F5344CB8AC3E}">
        <p14:creationId xmlns:p14="http://schemas.microsoft.com/office/powerpoint/2010/main" val="3164274004"/>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9BFED3-F21B-23E1-4749-14B22892A35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D6C47547-C2C6-498E-D1AA-7A02706EA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E540A0-8FBF-D36B-487F-D1689448AA8D}"/>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Paralelismo por componentes</a:t>
            </a:r>
          </a:p>
        </p:txBody>
      </p:sp>
      <p:sp>
        <p:nvSpPr>
          <p:cNvPr id="14" name="Freeform 31">
            <a:extLst>
              <a:ext uri="{FF2B5EF4-FFF2-40B4-BE49-F238E27FC236}">
                <a16:creationId xmlns:a16="http://schemas.microsoft.com/office/drawing/2014/main" id="{EE6442E9-697F-4D4C-E89E-D38FF80A2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89D420EA-ED7F-E6CB-AC2E-55A5FD9E5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4B8EDEEE-FE60-7102-2E2D-9817A469D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A5CF9260-9862-94B9-D5B5-C2A39B991562}"/>
              </a:ext>
            </a:extLst>
          </p:cNvPr>
          <p:cNvSpPr>
            <a:spLocks noGrp="1"/>
          </p:cNvSpPr>
          <p:nvPr>
            <p:ph idx="1"/>
          </p:nvPr>
        </p:nvSpPr>
        <p:spPr>
          <a:xfrm>
            <a:off x="380277" y="2227428"/>
            <a:ext cx="5210977" cy="3785419"/>
          </a:xfrm>
        </p:spPr>
        <p:txBody>
          <a:bodyPr>
            <a:normAutofit/>
          </a:bodyPr>
          <a:lstStyle/>
          <a:p>
            <a:r>
              <a:rPr lang="es-ES" sz="2400" noProof="0" dirty="0">
                <a:solidFill>
                  <a:srgbClr val="EBEBEB"/>
                </a:solidFill>
              </a:rPr>
              <a:t>Una gran región </a:t>
            </a:r>
            <a:r>
              <a:rPr lang="es-ES" sz="2400" noProof="0" dirty="0" err="1">
                <a:solidFill>
                  <a:srgbClr val="EBEBEB"/>
                </a:solidFill>
              </a:rPr>
              <a:t>parallel</a:t>
            </a:r>
            <a:endParaRPr lang="es-ES" sz="2400" noProof="0" dirty="0">
              <a:solidFill>
                <a:srgbClr val="EBEBEB"/>
              </a:solidFill>
            </a:endParaRPr>
          </a:p>
          <a:p>
            <a:r>
              <a:rPr lang="es-ES" sz="2400" b="1" dirty="0">
                <a:solidFill>
                  <a:srgbClr val="EBEBEB"/>
                </a:solidFill>
              </a:rPr>
              <a:t>Único equipo de hilos </a:t>
            </a:r>
            <a:r>
              <a:rPr lang="es-ES" sz="2400" dirty="0">
                <a:solidFill>
                  <a:srgbClr val="EBEBEB"/>
                </a:solidFill>
              </a:rPr>
              <a:t>permanente</a:t>
            </a:r>
          </a:p>
          <a:p>
            <a:r>
              <a:rPr lang="es-ES" sz="2400" b="1" noProof="0" dirty="0">
                <a:solidFill>
                  <a:srgbClr val="EBEBEB"/>
                </a:solidFill>
              </a:rPr>
              <a:t>Menos barreras</a:t>
            </a:r>
          </a:p>
          <a:p>
            <a:r>
              <a:rPr lang="es-ES" sz="2400" dirty="0">
                <a:solidFill>
                  <a:srgbClr val="EBEBEB"/>
                </a:solidFill>
              </a:rPr>
              <a:t>Se trabaja sobre elementos individuales</a:t>
            </a:r>
            <a:endParaRPr lang="es-ES" sz="2400" noProof="0" dirty="0">
              <a:solidFill>
                <a:srgbClr val="EBEBEB"/>
              </a:solidFill>
            </a:endParaRPr>
          </a:p>
        </p:txBody>
      </p:sp>
      <p:pic>
        <p:nvPicPr>
          <p:cNvPr id="4" name="Imagen 3">
            <a:extLst>
              <a:ext uri="{FF2B5EF4-FFF2-40B4-BE49-F238E27FC236}">
                <a16:creationId xmlns:a16="http://schemas.microsoft.com/office/drawing/2014/main" id="{2C127211-6C96-D0E6-4B60-F0A401D046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811" y="1143000"/>
            <a:ext cx="5634015" cy="5221770"/>
          </a:xfrm>
          <a:prstGeom prst="rect">
            <a:avLst/>
          </a:prstGeom>
        </p:spPr>
      </p:pic>
      <p:sp>
        <p:nvSpPr>
          <p:cNvPr id="3" name="Marcador de número de diapositiva 2">
            <a:extLst>
              <a:ext uri="{FF2B5EF4-FFF2-40B4-BE49-F238E27FC236}">
                <a16:creationId xmlns:a16="http://schemas.microsoft.com/office/drawing/2014/main" id="{7D8A2DD0-D434-0B68-FE79-3B4B1DB2D2C2}"/>
              </a:ext>
            </a:extLst>
          </p:cNvPr>
          <p:cNvSpPr>
            <a:spLocks noGrp="1"/>
          </p:cNvSpPr>
          <p:nvPr>
            <p:ph type="sldNum" sz="quarter" idx="12"/>
          </p:nvPr>
        </p:nvSpPr>
        <p:spPr/>
        <p:txBody>
          <a:bodyPr/>
          <a:lstStyle/>
          <a:p>
            <a:fld id="{E7DC7EB3-C4C6-4D12-A310-6984ACFEFAFF}" type="slidenum">
              <a:rPr lang="en-GB" smtClean="0"/>
              <a:t>18</a:t>
            </a:fld>
            <a:endParaRPr lang="en-GB"/>
          </a:p>
        </p:txBody>
      </p:sp>
    </p:spTree>
    <p:extLst>
      <p:ext uri="{BB962C8B-B14F-4D97-AF65-F5344CB8AC3E}">
        <p14:creationId xmlns:p14="http://schemas.microsoft.com/office/powerpoint/2010/main" val="283847325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0604F9-1588-8132-531E-1CF50214163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170CC61-3F37-0C46-A080-D34AD07C5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2089B4-D9AC-E2E2-1285-9CCD2ABAFD2F}"/>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Resultados experimentales</a:t>
            </a:r>
          </a:p>
        </p:txBody>
      </p:sp>
      <p:sp>
        <p:nvSpPr>
          <p:cNvPr id="14" name="Freeform 31">
            <a:extLst>
              <a:ext uri="{FF2B5EF4-FFF2-40B4-BE49-F238E27FC236}">
                <a16:creationId xmlns:a16="http://schemas.microsoft.com/office/drawing/2014/main" id="{092A6569-9631-35AA-53C5-C7F526B15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F5B7B9DC-80F9-E5E2-6044-4BC3E319D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9D5037C3-B68B-C094-9795-B7ED3CAFA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292A8917-0BCD-65ED-04D9-4475ABEF8EDC}"/>
              </a:ext>
            </a:extLst>
          </p:cNvPr>
          <p:cNvSpPr>
            <a:spLocks noGrp="1"/>
          </p:cNvSpPr>
          <p:nvPr>
            <p:ph idx="1"/>
          </p:nvPr>
        </p:nvSpPr>
        <p:spPr>
          <a:xfrm>
            <a:off x="226872" y="2184896"/>
            <a:ext cx="2771092" cy="3785419"/>
          </a:xfrm>
        </p:spPr>
        <p:txBody>
          <a:bodyPr>
            <a:normAutofit/>
          </a:bodyPr>
          <a:lstStyle/>
          <a:p>
            <a:r>
              <a:rPr lang="es-ES" sz="2200" noProof="0" dirty="0">
                <a:solidFill>
                  <a:srgbClr val="EBEBEB"/>
                </a:solidFill>
              </a:rPr>
              <a:t>¿Es mejor el </a:t>
            </a:r>
            <a:r>
              <a:rPr lang="es-ES" sz="2200" noProof="0" dirty="0" err="1">
                <a:solidFill>
                  <a:srgbClr val="EBEBEB"/>
                </a:solidFill>
              </a:rPr>
              <a:t>parallelismo</a:t>
            </a:r>
            <a:r>
              <a:rPr lang="es-ES" sz="2200" noProof="0" dirty="0">
                <a:solidFill>
                  <a:srgbClr val="EBEBEB"/>
                </a:solidFill>
              </a:rPr>
              <a:t> por componentes? </a:t>
            </a:r>
            <a:r>
              <a:rPr lang="es-ES" sz="2200" b="1" noProof="0" dirty="0">
                <a:solidFill>
                  <a:srgbClr val="EBEBEB"/>
                </a:solidFill>
              </a:rPr>
              <a:t>No</a:t>
            </a:r>
            <a:r>
              <a:rPr lang="es-ES" sz="2200" noProof="0" dirty="0">
                <a:solidFill>
                  <a:srgbClr val="EBEBEB"/>
                </a:solidFill>
              </a:rPr>
              <a:t>.</a:t>
            </a:r>
          </a:p>
          <a:p>
            <a:r>
              <a:rPr lang="es-ES" sz="2200" b="1" dirty="0" err="1">
                <a:solidFill>
                  <a:srgbClr val="EBEBEB"/>
                </a:solidFill>
              </a:rPr>
              <a:t>Thread</a:t>
            </a:r>
            <a:r>
              <a:rPr lang="es-ES" sz="2200" b="1" dirty="0">
                <a:solidFill>
                  <a:srgbClr val="EBEBEB"/>
                </a:solidFill>
              </a:rPr>
              <a:t> </a:t>
            </a:r>
            <a:r>
              <a:rPr lang="es-ES" sz="2200" b="1" dirty="0" err="1">
                <a:solidFill>
                  <a:srgbClr val="EBEBEB"/>
                </a:solidFill>
              </a:rPr>
              <a:t>pooling</a:t>
            </a:r>
            <a:endParaRPr lang="es-ES" sz="2200" b="1" dirty="0">
              <a:solidFill>
                <a:srgbClr val="EBEBEB"/>
              </a:solidFill>
            </a:endParaRPr>
          </a:p>
          <a:p>
            <a:r>
              <a:rPr lang="es-ES" sz="2200" noProof="0" dirty="0">
                <a:solidFill>
                  <a:srgbClr val="EBEBEB"/>
                </a:solidFill>
              </a:rPr>
              <a:t>Hilos activos y                           dormidos</a:t>
            </a:r>
          </a:p>
        </p:txBody>
      </p:sp>
      <p:pic>
        <p:nvPicPr>
          <p:cNvPr id="5" name="Imagen 4">
            <a:extLst>
              <a:ext uri="{FF2B5EF4-FFF2-40B4-BE49-F238E27FC236}">
                <a16:creationId xmlns:a16="http://schemas.microsoft.com/office/drawing/2014/main" id="{53FB45F2-D8F4-F33D-B2C4-3AC1E3958C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6484" y="2338668"/>
            <a:ext cx="8495413" cy="4247707"/>
          </a:xfrm>
          <a:prstGeom prst="rect">
            <a:avLst/>
          </a:prstGeom>
        </p:spPr>
      </p:pic>
      <p:sp>
        <p:nvSpPr>
          <p:cNvPr id="7" name="Elipse 6">
            <a:extLst>
              <a:ext uri="{FF2B5EF4-FFF2-40B4-BE49-F238E27FC236}">
                <a16:creationId xmlns:a16="http://schemas.microsoft.com/office/drawing/2014/main" id="{F50F99E4-A79E-EA3A-6DCF-EE532696B502}"/>
              </a:ext>
            </a:extLst>
          </p:cNvPr>
          <p:cNvSpPr/>
          <p:nvPr/>
        </p:nvSpPr>
        <p:spPr>
          <a:xfrm>
            <a:off x="7315200" y="1143000"/>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55A82931-B91A-00AE-9F28-3EE982B277DD}"/>
              </a:ext>
            </a:extLst>
          </p:cNvPr>
          <p:cNvSpPr txBox="1"/>
          <p:nvPr/>
        </p:nvSpPr>
        <p:spPr>
          <a:xfrm>
            <a:off x="7428354" y="1374127"/>
            <a:ext cx="2394835" cy="646331"/>
          </a:xfrm>
          <a:prstGeom prst="rect">
            <a:avLst/>
          </a:prstGeom>
          <a:noFill/>
        </p:spPr>
        <p:txBody>
          <a:bodyPr wrap="square" rtlCol="0">
            <a:spAutoFit/>
          </a:bodyPr>
          <a:lstStyle/>
          <a:p>
            <a:pPr algn="ctr"/>
            <a:r>
              <a:rPr lang="es-ES" b="1" dirty="0"/>
              <a:t>Brusselator1D con 100K ecuaciones</a:t>
            </a:r>
          </a:p>
        </p:txBody>
      </p:sp>
      <p:sp>
        <p:nvSpPr>
          <p:cNvPr id="3" name="Marcador de número de diapositiva 2">
            <a:extLst>
              <a:ext uri="{FF2B5EF4-FFF2-40B4-BE49-F238E27FC236}">
                <a16:creationId xmlns:a16="http://schemas.microsoft.com/office/drawing/2014/main" id="{77BF62FF-DF82-ACCF-7EF8-0BC385530148}"/>
              </a:ext>
            </a:extLst>
          </p:cNvPr>
          <p:cNvSpPr>
            <a:spLocks noGrp="1"/>
          </p:cNvSpPr>
          <p:nvPr>
            <p:ph type="sldNum" sz="quarter" idx="12"/>
          </p:nvPr>
        </p:nvSpPr>
        <p:spPr/>
        <p:txBody>
          <a:bodyPr/>
          <a:lstStyle/>
          <a:p>
            <a:fld id="{E7DC7EB3-C4C6-4D12-A310-6984ACFEFAFF}" type="slidenum">
              <a:rPr lang="en-GB" smtClean="0"/>
              <a:t>19</a:t>
            </a:fld>
            <a:endParaRPr lang="en-GB"/>
          </a:p>
        </p:txBody>
      </p:sp>
      <p:sp>
        <p:nvSpPr>
          <p:cNvPr id="4" name="CuadroTexto 3">
            <a:extLst>
              <a:ext uri="{FF2B5EF4-FFF2-40B4-BE49-F238E27FC236}">
                <a16:creationId xmlns:a16="http://schemas.microsoft.com/office/drawing/2014/main" id="{B169D041-CB59-8790-A2F4-E1F984373C58}"/>
              </a:ext>
            </a:extLst>
          </p:cNvPr>
          <p:cNvSpPr txBox="1"/>
          <p:nvPr/>
        </p:nvSpPr>
        <p:spPr>
          <a:xfrm>
            <a:off x="3072814" y="6522577"/>
            <a:ext cx="8495413" cy="276999"/>
          </a:xfrm>
          <a:prstGeom prst="rect">
            <a:avLst/>
          </a:prstGeom>
          <a:noFill/>
        </p:spPr>
        <p:txBody>
          <a:bodyPr wrap="square" rtlCol="0">
            <a:spAutoFit/>
          </a:bodyPr>
          <a:lstStyle/>
          <a:p>
            <a:pPr algn="ctr"/>
            <a:r>
              <a:rPr lang="es-ES" sz="1200" dirty="0"/>
              <a:t>Comparativa de los tres métodos (elaboración propia)</a:t>
            </a:r>
          </a:p>
        </p:txBody>
      </p:sp>
    </p:spTree>
    <p:extLst>
      <p:ext uri="{BB962C8B-B14F-4D97-AF65-F5344CB8AC3E}">
        <p14:creationId xmlns:p14="http://schemas.microsoft.com/office/powerpoint/2010/main" val="255195822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4B9B873C-F020-9CF8-58D8-6EB0FF70979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9C8E7D2-0731-84C5-20C4-4A632944252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DAF17E3E-9912-4001-CE02-5EEFAD2366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EE5E37BA-83F8-F432-DFBB-F60318F57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pic>
        <p:nvPicPr>
          <p:cNvPr id="14" name="Picture 13">
            <a:extLst>
              <a:ext uri="{FF2B5EF4-FFF2-40B4-BE49-F238E27FC236}">
                <a16:creationId xmlns:a16="http://schemas.microsoft.com/office/drawing/2014/main" id="{A2555715-C321-CBD7-5619-57ADCF6999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DEE972A4-3282-5E8E-A5DE-D1571182FF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2FEFDFB0-60FE-9A01-33AA-05DE8541E1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20" name="Rectangle 19">
            <a:extLst>
              <a:ext uri="{FF2B5EF4-FFF2-40B4-BE49-F238E27FC236}">
                <a16:creationId xmlns:a16="http://schemas.microsoft.com/office/drawing/2014/main" id="{D73E34C9-89F8-1A38-B4DF-87B9A23F8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s-ES" noProof="0" dirty="0"/>
          </a:p>
        </p:txBody>
      </p:sp>
      <p:sp>
        <p:nvSpPr>
          <p:cNvPr id="22" name="Freeform 36">
            <a:extLst>
              <a:ext uri="{FF2B5EF4-FFF2-40B4-BE49-F238E27FC236}">
                <a16:creationId xmlns:a16="http://schemas.microsoft.com/office/drawing/2014/main" id="{A8121811-F52E-4175-377B-C8D674595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s-ES" noProof="0" dirty="0"/>
          </a:p>
        </p:txBody>
      </p:sp>
      <p:sp useBgFill="1">
        <p:nvSpPr>
          <p:cNvPr id="24" name="Freeform: Shape 23">
            <a:extLst>
              <a:ext uri="{FF2B5EF4-FFF2-40B4-BE49-F238E27FC236}">
                <a16:creationId xmlns:a16="http://schemas.microsoft.com/office/drawing/2014/main" id="{B35A8D79-AC7E-0C61-2515-E8A31B7E2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noProof="0" dirty="0">
              <a:solidFill>
                <a:schemeClr val="tx1"/>
              </a:solidFill>
            </a:endParaRPr>
          </a:p>
        </p:txBody>
      </p:sp>
      <p:sp>
        <p:nvSpPr>
          <p:cNvPr id="3" name="Marcador de texto 2">
            <a:extLst>
              <a:ext uri="{FF2B5EF4-FFF2-40B4-BE49-F238E27FC236}">
                <a16:creationId xmlns:a16="http://schemas.microsoft.com/office/drawing/2014/main" id="{EF0A68BD-F493-70DF-675C-1774F9180B90}"/>
              </a:ext>
            </a:extLst>
          </p:cNvPr>
          <p:cNvSpPr>
            <a:spLocks noGrp="1"/>
          </p:cNvSpPr>
          <p:nvPr>
            <p:ph type="body" idx="1"/>
          </p:nvPr>
        </p:nvSpPr>
        <p:spPr>
          <a:xfrm>
            <a:off x="1154955" y="4777380"/>
            <a:ext cx="6974911" cy="861420"/>
          </a:xfrm>
        </p:spPr>
        <p:txBody>
          <a:bodyPr vert="horz" lIns="91440" tIns="45720" rIns="91440" bIns="45720" rtlCol="0" anchor="t">
            <a:normAutofit/>
          </a:bodyPr>
          <a:lstStyle/>
          <a:p>
            <a:endParaRPr lang="es-ES" sz="2000" b="0" i="0" kern="1200" cap="all" noProof="0" dirty="0">
              <a:solidFill>
                <a:schemeClr val="tx1">
                  <a:lumMod val="85000"/>
                  <a:lumOff val="15000"/>
                </a:schemeClr>
              </a:solidFill>
              <a:latin typeface="+mj-lt"/>
              <a:ea typeface="+mj-ea"/>
              <a:cs typeface="+mj-cs"/>
            </a:endParaRPr>
          </a:p>
        </p:txBody>
      </p:sp>
      <p:sp>
        <p:nvSpPr>
          <p:cNvPr id="2" name="Título 1">
            <a:extLst>
              <a:ext uri="{FF2B5EF4-FFF2-40B4-BE49-F238E27FC236}">
                <a16:creationId xmlns:a16="http://schemas.microsoft.com/office/drawing/2014/main" id="{AE67DDC5-0961-817B-34E9-EF6CD6B3E804}"/>
              </a:ext>
            </a:extLst>
          </p:cNvPr>
          <p:cNvSpPr>
            <a:spLocks noGrp="1"/>
          </p:cNvSpPr>
          <p:nvPr>
            <p:ph type="title"/>
          </p:nvPr>
        </p:nvSpPr>
        <p:spPr>
          <a:xfrm>
            <a:off x="1154955" y="1447800"/>
            <a:ext cx="7668725" cy="3329581"/>
          </a:xfrm>
        </p:spPr>
        <p:txBody>
          <a:bodyPr vert="horz" lIns="91440" tIns="45720" rIns="91440" bIns="45720" rtlCol="0" anchor="b">
            <a:normAutofit/>
          </a:bodyPr>
          <a:lstStyle/>
          <a:p>
            <a:r>
              <a:rPr lang="es-ES" sz="7200" b="0" i="0" kern="1200" dirty="0">
                <a:solidFill>
                  <a:schemeClr val="tx2"/>
                </a:solidFill>
                <a:latin typeface="+mj-lt"/>
                <a:ea typeface="+mj-ea"/>
                <a:cs typeface="+mj-cs"/>
              </a:rPr>
              <a:t>Implementación para GPU</a:t>
            </a:r>
            <a:endParaRPr lang="es-ES" sz="7200" b="0" i="0" kern="1200" noProof="0" dirty="0">
              <a:solidFill>
                <a:schemeClr val="tx2"/>
              </a:solidFill>
              <a:latin typeface="+mj-lt"/>
              <a:ea typeface="+mj-ea"/>
              <a:cs typeface="+mj-cs"/>
            </a:endParaRPr>
          </a:p>
        </p:txBody>
      </p:sp>
      <p:sp>
        <p:nvSpPr>
          <p:cNvPr id="26" name="Rectangle 25">
            <a:extLst>
              <a:ext uri="{FF2B5EF4-FFF2-40B4-BE49-F238E27FC236}">
                <a16:creationId xmlns:a16="http://schemas.microsoft.com/office/drawing/2014/main" id="{C04B815F-776A-63F8-C676-EE7EFDBED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4" name="Marcador de número de diapositiva 3">
            <a:extLst>
              <a:ext uri="{FF2B5EF4-FFF2-40B4-BE49-F238E27FC236}">
                <a16:creationId xmlns:a16="http://schemas.microsoft.com/office/drawing/2014/main" id="{B0BF9DE7-906E-6F43-ED05-FE19B0E4017E}"/>
              </a:ext>
            </a:extLst>
          </p:cNvPr>
          <p:cNvSpPr>
            <a:spLocks noGrp="1"/>
          </p:cNvSpPr>
          <p:nvPr>
            <p:ph type="sldNum" sz="quarter" idx="12"/>
          </p:nvPr>
        </p:nvSpPr>
        <p:spPr/>
        <p:txBody>
          <a:bodyPr/>
          <a:lstStyle/>
          <a:p>
            <a:fld id="{E7DC7EB3-C4C6-4D12-A310-6984ACFEFAFF}" type="slidenum">
              <a:rPr lang="en-GB" smtClean="0"/>
              <a:t>20</a:t>
            </a:fld>
            <a:endParaRPr lang="en-GB"/>
          </a:p>
        </p:txBody>
      </p:sp>
    </p:spTree>
    <p:extLst>
      <p:ext uri="{BB962C8B-B14F-4D97-AF65-F5344CB8AC3E}">
        <p14:creationId xmlns:p14="http://schemas.microsoft.com/office/powerpoint/2010/main" val="240433601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1D2CD-7B84-D47C-AF70-B8BFE69BF19C}"/>
              </a:ext>
            </a:extLst>
          </p:cNvPr>
          <p:cNvSpPr>
            <a:spLocks noGrp="1"/>
          </p:cNvSpPr>
          <p:nvPr>
            <p:ph type="title"/>
          </p:nvPr>
        </p:nvSpPr>
        <p:spPr/>
        <p:txBody>
          <a:bodyPr/>
          <a:lstStyle/>
          <a:p>
            <a:r>
              <a:rPr lang="es-ES" dirty="0"/>
              <a:t>Planteamiento</a:t>
            </a:r>
          </a:p>
        </p:txBody>
      </p:sp>
      <p:sp>
        <p:nvSpPr>
          <p:cNvPr id="3" name="Marcador de contenido 2">
            <a:extLst>
              <a:ext uri="{FF2B5EF4-FFF2-40B4-BE49-F238E27FC236}">
                <a16:creationId xmlns:a16="http://schemas.microsoft.com/office/drawing/2014/main" id="{282C1C66-98E5-6FEA-46A0-960A34C9E049}"/>
              </a:ext>
            </a:extLst>
          </p:cNvPr>
          <p:cNvSpPr>
            <a:spLocks noGrp="1"/>
          </p:cNvSpPr>
          <p:nvPr>
            <p:ph idx="1"/>
          </p:nvPr>
        </p:nvSpPr>
        <p:spPr>
          <a:xfrm>
            <a:off x="598459" y="1234211"/>
            <a:ext cx="10002201" cy="5251649"/>
          </a:xfrm>
        </p:spPr>
        <p:txBody>
          <a:bodyPr>
            <a:normAutofit/>
          </a:bodyPr>
          <a:lstStyle/>
          <a:p>
            <a:r>
              <a:rPr lang="es-ES" sz="2400" b="1" dirty="0"/>
              <a:t>Misma estructura</a:t>
            </a:r>
            <a:r>
              <a:rPr lang="es-ES" sz="2400" dirty="0"/>
              <a:t>: clases abstractas padre (Problema y Método) y clases hijas que heredan de ellas</a:t>
            </a:r>
          </a:p>
          <a:p>
            <a:r>
              <a:rPr lang="es-ES" sz="2400" dirty="0"/>
              <a:t>Los </a:t>
            </a:r>
            <a:r>
              <a:rPr lang="es-ES" sz="2400" dirty="0" err="1"/>
              <a:t>kernels</a:t>
            </a:r>
            <a:r>
              <a:rPr lang="es-ES" sz="2400" dirty="0"/>
              <a:t> no son funciones miembro, hay que llamarlos</a:t>
            </a:r>
          </a:p>
          <a:p>
            <a:r>
              <a:rPr lang="es-ES" sz="2400" dirty="0"/>
              <a:t>Feval vacíos que </a:t>
            </a:r>
            <a:r>
              <a:rPr lang="es-ES" sz="2400" b="1" dirty="0"/>
              <a:t>sólo llaman </a:t>
            </a:r>
            <a:r>
              <a:rPr lang="es-ES" sz="2400" dirty="0"/>
              <a:t>a los </a:t>
            </a:r>
            <a:r>
              <a:rPr lang="es-ES" sz="2400" dirty="0" err="1"/>
              <a:t>kernels</a:t>
            </a:r>
            <a:r>
              <a:rPr lang="es-ES" sz="2400" dirty="0"/>
              <a:t> </a:t>
            </a:r>
            <a:r>
              <a:rPr lang="es-ES" sz="2400" dirty="0" err="1"/>
              <a:t>feval</a:t>
            </a:r>
            <a:endParaRPr lang="es-ES" sz="2400" dirty="0"/>
          </a:p>
          <a:p>
            <a:r>
              <a:rPr lang="es-ES" sz="2400" dirty="0"/>
              <a:t>Funciones auxiliares</a:t>
            </a:r>
          </a:p>
          <a:p>
            <a:pPr marL="0" indent="0">
              <a:buNone/>
            </a:pPr>
            <a:r>
              <a:rPr lang="es-ES" sz="2400" b="1" dirty="0"/>
              <a:t>           </a:t>
            </a:r>
            <a:r>
              <a:rPr lang="es-ES" sz="2400" b="1" dirty="0" err="1"/>
              <a:t>kernels</a:t>
            </a:r>
            <a:r>
              <a:rPr lang="es-ES" sz="2400" b="1" dirty="0"/>
              <a:t> auxiliares</a:t>
            </a:r>
          </a:p>
          <a:p>
            <a:r>
              <a:rPr lang="es-ES" sz="2400" dirty="0"/>
              <a:t>Memoria de constantes</a:t>
            </a:r>
          </a:p>
          <a:p>
            <a:pPr marL="0" indent="0">
              <a:buNone/>
            </a:pPr>
            <a:r>
              <a:rPr lang="es-ES" sz="2400" b="1" dirty="0"/>
              <a:t>    </a:t>
            </a:r>
            <a:r>
              <a:rPr lang="es-ES" sz="2400" b="1" dirty="0" err="1"/>
              <a:t>Structs</a:t>
            </a:r>
            <a:r>
              <a:rPr lang="es-ES" sz="2400" b="1" dirty="0"/>
              <a:t> constantes</a:t>
            </a:r>
          </a:p>
          <a:p>
            <a:r>
              <a:rPr lang="es-ES" sz="2400" b="1" dirty="0">
                <a:solidFill>
                  <a:srgbClr val="EBEBEB"/>
                </a:solidFill>
              </a:rPr>
              <a:t>Modelo SIMT</a:t>
            </a:r>
            <a:r>
              <a:rPr lang="es-ES" sz="2400" dirty="0">
                <a:solidFill>
                  <a:srgbClr val="EBEBEB"/>
                </a:solidFill>
              </a:rPr>
              <a:t>:                                                                                           todas las hebras ejecutan                                                                  concurrentemente</a:t>
            </a:r>
          </a:p>
          <a:p>
            <a:endParaRPr lang="es-ES" sz="2400" b="1" dirty="0"/>
          </a:p>
        </p:txBody>
      </p:sp>
      <p:sp>
        <p:nvSpPr>
          <p:cNvPr id="4" name="Marcador de número de diapositiva 3">
            <a:extLst>
              <a:ext uri="{FF2B5EF4-FFF2-40B4-BE49-F238E27FC236}">
                <a16:creationId xmlns:a16="http://schemas.microsoft.com/office/drawing/2014/main" id="{4A5957BB-B5AF-6FE5-6606-0C18FD988D82}"/>
              </a:ext>
            </a:extLst>
          </p:cNvPr>
          <p:cNvSpPr>
            <a:spLocks noGrp="1"/>
          </p:cNvSpPr>
          <p:nvPr>
            <p:ph type="sldNum" sz="quarter" idx="12"/>
          </p:nvPr>
        </p:nvSpPr>
        <p:spPr/>
        <p:txBody>
          <a:bodyPr/>
          <a:lstStyle/>
          <a:p>
            <a:fld id="{E7DC7EB3-C4C6-4D12-A310-6984ACFEFAFF}" type="slidenum">
              <a:rPr lang="en-GB" smtClean="0"/>
              <a:t>21</a:t>
            </a:fld>
            <a:endParaRPr lang="en-GB"/>
          </a:p>
        </p:txBody>
      </p:sp>
      <p:pic>
        <p:nvPicPr>
          <p:cNvPr id="6" name="Imagen 5">
            <a:extLst>
              <a:ext uri="{FF2B5EF4-FFF2-40B4-BE49-F238E27FC236}">
                <a16:creationId xmlns:a16="http://schemas.microsoft.com/office/drawing/2014/main" id="{74FC53EB-F8D7-398D-8868-7DF2047FF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5665" y="3333687"/>
            <a:ext cx="7154699" cy="3152173"/>
          </a:xfrm>
          <a:prstGeom prst="rect">
            <a:avLst/>
          </a:prstGeom>
        </p:spPr>
      </p:pic>
      <p:sp>
        <p:nvSpPr>
          <p:cNvPr id="27" name="Flecha: hacia abajo 26">
            <a:extLst>
              <a:ext uri="{FF2B5EF4-FFF2-40B4-BE49-F238E27FC236}">
                <a16:creationId xmlns:a16="http://schemas.microsoft.com/office/drawing/2014/main" id="{26F4A380-37DC-AA54-F828-D364392918BF}"/>
              </a:ext>
            </a:extLst>
          </p:cNvPr>
          <p:cNvSpPr/>
          <p:nvPr/>
        </p:nvSpPr>
        <p:spPr>
          <a:xfrm rot="18199267">
            <a:off x="1136099" y="3458897"/>
            <a:ext cx="329609" cy="4784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Flecha: hacia abajo 28">
            <a:extLst>
              <a:ext uri="{FF2B5EF4-FFF2-40B4-BE49-F238E27FC236}">
                <a16:creationId xmlns:a16="http://schemas.microsoft.com/office/drawing/2014/main" id="{DFB5D429-3CFC-68C4-716D-FCB8A86D8160}"/>
              </a:ext>
            </a:extLst>
          </p:cNvPr>
          <p:cNvSpPr/>
          <p:nvPr/>
        </p:nvSpPr>
        <p:spPr>
          <a:xfrm rot="3472060">
            <a:off x="3840313" y="4403738"/>
            <a:ext cx="329609" cy="4784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5403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9AF2F5-D633-97F6-4AD2-93B4584E7ED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211A1FB0-CFBD-767C-9655-6C120ACE2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337CA8-8536-6182-9432-8BD02767D0E3}"/>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Resultados experimentales</a:t>
            </a:r>
          </a:p>
        </p:txBody>
      </p:sp>
      <p:sp>
        <p:nvSpPr>
          <p:cNvPr id="14" name="Freeform 31">
            <a:extLst>
              <a:ext uri="{FF2B5EF4-FFF2-40B4-BE49-F238E27FC236}">
                <a16:creationId xmlns:a16="http://schemas.microsoft.com/office/drawing/2014/main" id="{ADE93D6E-36B4-CF19-45F9-CF9DBEA5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85ED0629-30D4-526D-97D0-183F885A1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78937EDD-D3D3-47D7-7B12-519DD68B7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CD155F6D-40B2-1837-5FAA-F363CFD19E7D}"/>
              </a:ext>
            </a:extLst>
          </p:cNvPr>
          <p:cNvSpPr>
            <a:spLocks noGrp="1"/>
          </p:cNvSpPr>
          <p:nvPr>
            <p:ph idx="1"/>
          </p:nvPr>
        </p:nvSpPr>
        <p:spPr>
          <a:xfrm>
            <a:off x="380278" y="2110465"/>
            <a:ext cx="3735622" cy="3785419"/>
          </a:xfrm>
        </p:spPr>
        <p:txBody>
          <a:bodyPr>
            <a:normAutofit/>
          </a:bodyPr>
          <a:lstStyle/>
          <a:p>
            <a:r>
              <a:rPr lang="es-ES" sz="2400" b="1" noProof="0" dirty="0">
                <a:solidFill>
                  <a:srgbClr val="EBEBEB"/>
                </a:solidFill>
              </a:rPr>
              <a:t>Ganancias en velocidad </a:t>
            </a:r>
            <a:r>
              <a:rPr lang="es-ES" sz="2400" noProof="0" dirty="0">
                <a:solidFill>
                  <a:srgbClr val="EBEBEB"/>
                </a:solidFill>
              </a:rPr>
              <a:t>similares en los 3 métodos</a:t>
            </a:r>
          </a:p>
          <a:p>
            <a:r>
              <a:rPr lang="es-ES" sz="2400" b="1" dirty="0" err="1">
                <a:solidFill>
                  <a:srgbClr val="EBEBEB"/>
                </a:solidFill>
              </a:rPr>
              <a:t>Speedup</a:t>
            </a:r>
            <a:r>
              <a:rPr lang="es-ES" sz="2400" b="1" dirty="0">
                <a:solidFill>
                  <a:srgbClr val="EBEBEB"/>
                </a:solidFill>
              </a:rPr>
              <a:t> similares</a:t>
            </a:r>
            <a:r>
              <a:rPr lang="es-ES" sz="2400" dirty="0">
                <a:solidFill>
                  <a:srgbClr val="EBEBEB"/>
                </a:solidFill>
              </a:rPr>
              <a:t>, entre 30 y 35 en todas las instancias</a:t>
            </a:r>
            <a:endParaRPr lang="es-ES" sz="2400" noProof="0" dirty="0">
              <a:solidFill>
                <a:srgbClr val="EBEBEB"/>
              </a:solidFill>
            </a:endParaRPr>
          </a:p>
        </p:txBody>
      </p:sp>
      <p:sp>
        <p:nvSpPr>
          <p:cNvPr id="7" name="Elipse 6">
            <a:extLst>
              <a:ext uri="{FF2B5EF4-FFF2-40B4-BE49-F238E27FC236}">
                <a16:creationId xmlns:a16="http://schemas.microsoft.com/office/drawing/2014/main" id="{3539A462-2D72-430F-5938-4E54ED9E2ED6}"/>
              </a:ext>
            </a:extLst>
          </p:cNvPr>
          <p:cNvSpPr/>
          <p:nvPr/>
        </p:nvSpPr>
        <p:spPr>
          <a:xfrm>
            <a:off x="7315200" y="1143000"/>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12568D65-43B4-DA29-CF02-3ABB1E52B5EE}"/>
              </a:ext>
            </a:extLst>
          </p:cNvPr>
          <p:cNvSpPr txBox="1"/>
          <p:nvPr/>
        </p:nvSpPr>
        <p:spPr>
          <a:xfrm>
            <a:off x="7428354" y="1374127"/>
            <a:ext cx="2394835" cy="646331"/>
          </a:xfrm>
          <a:prstGeom prst="rect">
            <a:avLst/>
          </a:prstGeom>
          <a:noFill/>
        </p:spPr>
        <p:txBody>
          <a:bodyPr wrap="square" rtlCol="0">
            <a:spAutoFit/>
          </a:bodyPr>
          <a:lstStyle/>
          <a:p>
            <a:pPr algn="ctr"/>
            <a:r>
              <a:rPr lang="es-ES" b="1" dirty="0"/>
              <a:t>Brusselator2D con 125K ecuaciones</a:t>
            </a:r>
          </a:p>
        </p:txBody>
      </p:sp>
      <p:pic>
        <p:nvPicPr>
          <p:cNvPr id="4" name="Imagen 3">
            <a:extLst>
              <a:ext uri="{FF2B5EF4-FFF2-40B4-BE49-F238E27FC236}">
                <a16:creationId xmlns:a16="http://schemas.microsoft.com/office/drawing/2014/main" id="{2E65E386-A712-B44B-3072-FC471B46C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0110" y="2455696"/>
            <a:ext cx="7931890" cy="3965945"/>
          </a:xfrm>
          <a:prstGeom prst="rect">
            <a:avLst/>
          </a:prstGeom>
        </p:spPr>
      </p:pic>
      <p:sp>
        <p:nvSpPr>
          <p:cNvPr id="3" name="Marcador de número de diapositiva 2">
            <a:extLst>
              <a:ext uri="{FF2B5EF4-FFF2-40B4-BE49-F238E27FC236}">
                <a16:creationId xmlns:a16="http://schemas.microsoft.com/office/drawing/2014/main" id="{18D5B818-F28C-C7A0-6A0B-DC849A4B2074}"/>
              </a:ext>
            </a:extLst>
          </p:cNvPr>
          <p:cNvSpPr>
            <a:spLocks noGrp="1"/>
          </p:cNvSpPr>
          <p:nvPr>
            <p:ph type="sldNum" sz="quarter" idx="12"/>
          </p:nvPr>
        </p:nvSpPr>
        <p:spPr/>
        <p:txBody>
          <a:bodyPr/>
          <a:lstStyle/>
          <a:p>
            <a:fld id="{E7DC7EB3-C4C6-4D12-A310-6984ACFEFAFF}" type="slidenum">
              <a:rPr lang="en-GB" smtClean="0"/>
              <a:t>22</a:t>
            </a:fld>
            <a:endParaRPr lang="en-GB"/>
          </a:p>
        </p:txBody>
      </p:sp>
      <p:sp>
        <p:nvSpPr>
          <p:cNvPr id="5" name="CuadroTexto 4">
            <a:extLst>
              <a:ext uri="{FF2B5EF4-FFF2-40B4-BE49-F238E27FC236}">
                <a16:creationId xmlns:a16="http://schemas.microsoft.com/office/drawing/2014/main" id="{D629A215-E4A0-B063-2A28-3FBE29DA48D7}"/>
              </a:ext>
            </a:extLst>
          </p:cNvPr>
          <p:cNvSpPr txBox="1"/>
          <p:nvPr/>
        </p:nvSpPr>
        <p:spPr>
          <a:xfrm>
            <a:off x="4260110" y="6421641"/>
            <a:ext cx="7627090" cy="276999"/>
          </a:xfrm>
          <a:prstGeom prst="rect">
            <a:avLst/>
          </a:prstGeom>
          <a:noFill/>
        </p:spPr>
        <p:txBody>
          <a:bodyPr wrap="square" rtlCol="0">
            <a:spAutoFit/>
          </a:bodyPr>
          <a:lstStyle/>
          <a:p>
            <a:pPr algn="ctr"/>
            <a:r>
              <a:rPr lang="es-ES" sz="1200" dirty="0"/>
              <a:t>Mediciones de los tres métodos (elaboración propia)</a:t>
            </a:r>
          </a:p>
        </p:txBody>
      </p:sp>
    </p:spTree>
    <p:extLst>
      <p:ext uri="{BB962C8B-B14F-4D97-AF65-F5344CB8AC3E}">
        <p14:creationId xmlns:p14="http://schemas.microsoft.com/office/powerpoint/2010/main" val="270447906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CA0DC-16D4-E0BB-3BD0-CBBE654E0A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046FF25-716C-FC40-9E67-E90F09751FDB}"/>
              </a:ext>
            </a:extLst>
          </p:cNvPr>
          <p:cNvSpPr>
            <a:spLocks noGrp="1"/>
          </p:cNvSpPr>
          <p:nvPr>
            <p:ph type="title"/>
          </p:nvPr>
        </p:nvSpPr>
        <p:spPr/>
        <p:txBody>
          <a:bodyPr/>
          <a:lstStyle/>
          <a:p>
            <a:r>
              <a:rPr lang="es-ES" dirty="0"/>
              <a:t>Resultados experimentales</a:t>
            </a:r>
          </a:p>
        </p:txBody>
      </p:sp>
      <p:sp>
        <p:nvSpPr>
          <p:cNvPr id="3" name="Marcador de texto 2">
            <a:extLst>
              <a:ext uri="{FF2B5EF4-FFF2-40B4-BE49-F238E27FC236}">
                <a16:creationId xmlns:a16="http://schemas.microsoft.com/office/drawing/2014/main" id="{AF0D2C20-5775-F7A5-9ADF-62B665C25F24}"/>
              </a:ext>
            </a:extLst>
          </p:cNvPr>
          <p:cNvSpPr>
            <a:spLocks noGrp="1"/>
          </p:cNvSpPr>
          <p:nvPr>
            <p:ph type="body" idx="1"/>
          </p:nvPr>
        </p:nvSpPr>
        <p:spPr>
          <a:xfrm>
            <a:off x="291039" y="1449568"/>
            <a:ext cx="5628406" cy="576262"/>
          </a:xfrm>
        </p:spPr>
        <p:txBody>
          <a:bodyPr/>
          <a:lstStyle/>
          <a:p>
            <a:pPr algn="ctr"/>
            <a:r>
              <a:rPr lang="es-ES" dirty="0"/>
              <a:t>Diferentes tamaños, mismo método</a:t>
            </a:r>
          </a:p>
        </p:txBody>
      </p:sp>
      <p:sp>
        <p:nvSpPr>
          <p:cNvPr id="5" name="Marcador de texto 4">
            <a:extLst>
              <a:ext uri="{FF2B5EF4-FFF2-40B4-BE49-F238E27FC236}">
                <a16:creationId xmlns:a16="http://schemas.microsoft.com/office/drawing/2014/main" id="{7A1789E2-3E1E-A3B8-D290-4C91F52509E8}"/>
              </a:ext>
            </a:extLst>
          </p:cNvPr>
          <p:cNvSpPr>
            <a:spLocks noGrp="1"/>
          </p:cNvSpPr>
          <p:nvPr>
            <p:ph type="body" sz="quarter" idx="3"/>
          </p:nvPr>
        </p:nvSpPr>
        <p:spPr>
          <a:xfrm>
            <a:off x="6692426" y="1449568"/>
            <a:ext cx="4915325" cy="576262"/>
          </a:xfrm>
        </p:spPr>
        <p:txBody>
          <a:bodyPr/>
          <a:lstStyle/>
          <a:p>
            <a:pPr algn="ctr"/>
            <a:r>
              <a:rPr lang="es-ES" dirty="0"/>
              <a:t>Tiempo + tiempo por ecuación</a:t>
            </a:r>
          </a:p>
        </p:txBody>
      </p:sp>
      <p:grpSp>
        <p:nvGrpSpPr>
          <p:cNvPr id="8" name="Grupo 7">
            <a:extLst>
              <a:ext uri="{FF2B5EF4-FFF2-40B4-BE49-F238E27FC236}">
                <a16:creationId xmlns:a16="http://schemas.microsoft.com/office/drawing/2014/main" id="{BF5D7DAD-9494-56B8-76F6-596E4505DEC2}"/>
              </a:ext>
            </a:extLst>
          </p:cNvPr>
          <p:cNvGrpSpPr/>
          <p:nvPr/>
        </p:nvGrpSpPr>
        <p:grpSpPr>
          <a:xfrm>
            <a:off x="1794670" y="5539366"/>
            <a:ext cx="2621144" cy="1108587"/>
            <a:chOff x="1525109" y="5581899"/>
            <a:chExt cx="2621144" cy="1108587"/>
          </a:xfrm>
        </p:grpSpPr>
        <p:sp>
          <p:nvSpPr>
            <p:cNvPr id="12" name="Elipse 11">
              <a:extLst>
                <a:ext uri="{FF2B5EF4-FFF2-40B4-BE49-F238E27FC236}">
                  <a16:creationId xmlns:a16="http://schemas.microsoft.com/office/drawing/2014/main" id="{5D7AED8B-78ED-FAB0-9A89-8D5CA868F2BA}"/>
                </a:ext>
              </a:extLst>
            </p:cNvPr>
            <p:cNvSpPr/>
            <p:nvPr/>
          </p:nvSpPr>
          <p:spPr>
            <a:xfrm>
              <a:off x="1525109" y="5581899"/>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solidFill>
                  <a:schemeClr val="bg1"/>
                </a:solidFill>
              </a:endParaRPr>
            </a:p>
          </p:txBody>
        </p:sp>
        <p:sp>
          <p:nvSpPr>
            <p:cNvPr id="14" name="CuadroTexto 13">
              <a:extLst>
                <a:ext uri="{FF2B5EF4-FFF2-40B4-BE49-F238E27FC236}">
                  <a16:creationId xmlns:a16="http://schemas.microsoft.com/office/drawing/2014/main" id="{5EC7A23A-28C7-6AE5-6413-55F1152157AC}"/>
                </a:ext>
              </a:extLst>
            </p:cNvPr>
            <p:cNvSpPr txBox="1"/>
            <p:nvPr/>
          </p:nvSpPr>
          <p:spPr>
            <a:xfrm>
              <a:off x="1638263" y="5813026"/>
              <a:ext cx="2394835" cy="646331"/>
            </a:xfrm>
            <a:prstGeom prst="rect">
              <a:avLst/>
            </a:prstGeom>
            <a:noFill/>
          </p:spPr>
          <p:txBody>
            <a:bodyPr wrap="square" rtlCol="0">
              <a:spAutoFit/>
            </a:bodyPr>
            <a:lstStyle/>
            <a:p>
              <a:pPr algn="ctr"/>
              <a:r>
                <a:rPr lang="es-ES" b="1" dirty="0">
                  <a:solidFill>
                    <a:schemeClr val="bg1"/>
                  </a:solidFill>
                </a:rPr>
                <a:t>RK4 resolviendo AdvDiff1D</a:t>
              </a:r>
            </a:p>
          </p:txBody>
        </p:sp>
      </p:grpSp>
      <p:pic>
        <p:nvPicPr>
          <p:cNvPr id="9" name="Marcador de contenido 8">
            <a:extLst>
              <a:ext uri="{FF2B5EF4-FFF2-40B4-BE49-F238E27FC236}">
                <a16:creationId xmlns:a16="http://schemas.microsoft.com/office/drawing/2014/main" id="{CF695ACA-AE5D-CD8B-8CFF-0E308DCC7EB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4485" y="2132157"/>
            <a:ext cx="5981515" cy="2990757"/>
          </a:xfrm>
          <a:prstGeom prst="rect">
            <a:avLst/>
          </a:prstGeom>
        </p:spPr>
      </p:pic>
      <p:pic>
        <p:nvPicPr>
          <p:cNvPr id="17" name="Marcador de contenido 16">
            <a:extLst>
              <a:ext uri="{FF2B5EF4-FFF2-40B4-BE49-F238E27FC236}">
                <a16:creationId xmlns:a16="http://schemas.microsoft.com/office/drawing/2014/main" id="{51106693-4B9C-E978-104E-BA2812EF8211}"/>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163411" y="2132156"/>
            <a:ext cx="5981514" cy="2990757"/>
          </a:xfrm>
          <a:prstGeom prst="rect">
            <a:avLst/>
          </a:prstGeom>
        </p:spPr>
      </p:pic>
      <p:grpSp>
        <p:nvGrpSpPr>
          <p:cNvPr id="13" name="Grupo 12">
            <a:extLst>
              <a:ext uri="{FF2B5EF4-FFF2-40B4-BE49-F238E27FC236}">
                <a16:creationId xmlns:a16="http://schemas.microsoft.com/office/drawing/2014/main" id="{6AE93B03-8F7B-E6F6-ECB4-B11BD93537CB}"/>
              </a:ext>
            </a:extLst>
          </p:cNvPr>
          <p:cNvGrpSpPr/>
          <p:nvPr/>
        </p:nvGrpSpPr>
        <p:grpSpPr>
          <a:xfrm>
            <a:off x="7731396" y="5539371"/>
            <a:ext cx="2621144" cy="1108587"/>
            <a:chOff x="7520781" y="5581901"/>
            <a:chExt cx="2621144" cy="1108587"/>
          </a:xfrm>
        </p:grpSpPr>
        <p:sp>
          <p:nvSpPr>
            <p:cNvPr id="16" name="Elipse 15">
              <a:extLst>
                <a:ext uri="{FF2B5EF4-FFF2-40B4-BE49-F238E27FC236}">
                  <a16:creationId xmlns:a16="http://schemas.microsoft.com/office/drawing/2014/main" id="{13D4A6F9-D2F5-E614-9867-78136D9BBA56}"/>
                </a:ext>
              </a:extLst>
            </p:cNvPr>
            <p:cNvSpPr/>
            <p:nvPr/>
          </p:nvSpPr>
          <p:spPr>
            <a:xfrm>
              <a:off x="7520781" y="5581901"/>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solidFill>
                  <a:schemeClr val="bg1"/>
                </a:solidFill>
              </a:endParaRPr>
            </a:p>
          </p:txBody>
        </p:sp>
        <p:sp>
          <p:nvSpPr>
            <p:cNvPr id="20" name="CuadroTexto 19">
              <a:extLst>
                <a:ext uri="{FF2B5EF4-FFF2-40B4-BE49-F238E27FC236}">
                  <a16:creationId xmlns:a16="http://schemas.microsoft.com/office/drawing/2014/main" id="{60D4E59C-57B3-09C1-9BA2-39C32EEA3B91}"/>
                </a:ext>
              </a:extLst>
            </p:cNvPr>
            <p:cNvSpPr txBox="1"/>
            <p:nvPr/>
          </p:nvSpPr>
          <p:spPr>
            <a:xfrm>
              <a:off x="7633935" y="5813025"/>
              <a:ext cx="2394835" cy="646331"/>
            </a:xfrm>
            <a:prstGeom prst="rect">
              <a:avLst/>
            </a:prstGeom>
            <a:noFill/>
          </p:spPr>
          <p:txBody>
            <a:bodyPr wrap="square" rtlCol="0">
              <a:spAutoFit/>
            </a:bodyPr>
            <a:lstStyle/>
            <a:p>
              <a:pPr algn="ctr"/>
              <a:r>
                <a:rPr lang="es-ES" b="1" dirty="0">
                  <a:solidFill>
                    <a:schemeClr val="bg1"/>
                  </a:solidFill>
                </a:rPr>
                <a:t>RK4 resolviendo Brusselator1D</a:t>
              </a:r>
            </a:p>
          </p:txBody>
        </p:sp>
      </p:grpSp>
      <p:sp>
        <p:nvSpPr>
          <p:cNvPr id="4" name="Marcador de número de diapositiva 3">
            <a:extLst>
              <a:ext uri="{FF2B5EF4-FFF2-40B4-BE49-F238E27FC236}">
                <a16:creationId xmlns:a16="http://schemas.microsoft.com/office/drawing/2014/main" id="{B104B5D4-26C9-EE9E-5D34-536A8A37CFB1}"/>
              </a:ext>
            </a:extLst>
          </p:cNvPr>
          <p:cNvSpPr>
            <a:spLocks noGrp="1"/>
          </p:cNvSpPr>
          <p:nvPr>
            <p:ph type="sldNum" sz="quarter" idx="12"/>
          </p:nvPr>
        </p:nvSpPr>
        <p:spPr/>
        <p:txBody>
          <a:bodyPr/>
          <a:lstStyle/>
          <a:p>
            <a:fld id="{E7DC7EB3-C4C6-4D12-A310-6984ACFEFAFF}" type="slidenum">
              <a:rPr lang="en-GB" smtClean="0"/>
              <a:t>23</a:t>
            </a:fld>
            <a:endParaRPr lang="en-GB"/>
          </a:p>
        </p:txBody>
      </p:sp>
      <p:sp>
        <p:nvSpPr>
          <p:cNvPr id="7" name="CuadroTexto 6">
            <a:extLst>
              <a:ext uri="{FF2B5EF4-FFF2-40B4-BE49-F238E27FC236}">
                <a16:creationId xmlns:a16="http://schemas.microsoft.com/office/drawing/2014/main" id="{26EFA0DD-CBA0-8EE2-F4D0-C805E876E6E8}"/>
              </a:ext>
            </a:extLst>
          </p:cNvPr>
          <p:cNvSpPr txBox="1"/>
          <p:nvPr/>
        </p:nvSpPr>
        <p:spPr>
          <a:xfrm>
            <a:off x="114485" y="5122913"/>
            <a:ext cx="5981514" cy="276999"/>
          </a:xfrm>
          <a:prstGeom prst="rect">
            <a:avLst/>
          </a:prstGeom>
          <a:noFill/>
        </p:spPr>
        <p:txBody>
          <a:bodyPr wrap="square" rtlCol="0">
            <a:spAutoFit/>
          </a:bodyPr>
          <a:lstStyle/>
          <a:p>
            <a:pPr algn="ctr"/>
            <a:r>
              <a:rPr lang="es-ES" sz="1200" dirty="0"/>
              <a:t>Tiempo en función del tamaño (elaboración propia)</a:t>
            </a:r>
          </a:p>
        </p:txBody>
      </p:sp>
      <p:sp>
        <p:nvSpPr>
          <p:cNvPr id="11" name="CuadroTexto 10">
            <a:extLst>
              <a:ext uri="{FF2B5EF4-FFF2-40B4-BE49-F238E27FC236}">
                <a16:creationId xmlns:a16="http://schemas.microsoft.com/office/drawing/2014/main" id="{0B5CF543-BAD2-A1E4-2675-C725053A7925}"/>
              </a:ext>
            </a:extLst>
          </p:cNvPr>
          <p:cNvSpPr txBox="1"/>
          <p:nvPr/>
        </p:nvSpPr>
        <p:spPr>
          <a:xfrm>
            <a:off x="6163411" y="5122913"/>
            <a:ext cx="5981514" cy="276999"/>
          </a:xfrm>
          <a:prstGeom prst="rect">
            <a:avLst/>
          </a:prstGeom>
          <a:noFill/>
        </p:spPr>
        <p:txBody>
          <a:bodyPr wrap="square" rtlCol="0">
            <a:spAutoFit/>
          </a:bodyPr>
          <a:lstStyle/>
          <a:p>
            <a:pPr algn="ctr"/>
            <a:r>
              <a:rPr lang="es-ES" sz="1200" dirty="0"/>
              <a:t>Tiempo en función del tamaño (elaboración propia)</a:t>
            </a:r>
          </a:p>
        </p:txBody>
      </p:sp>
    </p:spTree>
    <p:extLst>
      <p:ext uri="{BB962C8B-B14F-4D97-AF65-F5344CB8AC3E}">
        <p14:creationId xmlns:p14="http://schemas.microsoft.com/office/powerpoint/2010/main" val="1081504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01BD76-74A5-F933-1BD1-467F23D6B8C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443EAC3-7DEE-BC70-B682-1399DDCB3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0977EF-B9E2-50FA-B6DF-00E94E986793}"/>
              </a:ext>
            </a:extLst>
          </p:cNvPr>
          <p:cNvSpPr>
            <a:spLocks noGrp="1"/>
          </p:cNvSpPr>
          <p:nvPr>
            <p:ph type="title"/>
          </p:nvPr>
        </p:nvSpPr>
        <p:spPr>
          <a:xfrm>
            <a:off x="648931" y="629266"/>
            <a:ext cx="4344670" cy="1622321"/>
          </a:xfrm>
        </p:spPr>
        <p:txBody>
          <a:bodyPr>
            <a:normAutofit/>
          </a:bodyPr>
          <a:lstStyle/>
          <a:p>
            <a:r>
              <a:rPr lang="es-ES" dirty="0">
                <a:solidFill>
                  <a:srgbClr val="EBEBEB"/>
                </a:solidFill>
              </a:rPr>
              <a:t>CUDA </a:t>
            </a:r>
            <a:r>
              <a:rPr lang="es-ES" dirty="0" err="1">
                <a:solidFill>
                  <a:srgbClr val="EBEBEB"/>
                </a:solidFill>
              </a:rPr>
              <a:t>Graphs</a:t>
            </a:r>
            <a:endParaRPr lang="es-ES" dirty="0">
              <a:solidFill>
                <a:srgbClr val="EBEBEB"/>
              </a:solidFill>
            </a:endParaRPr>
          </a:p>
        </p:txBody>
      </p:sp>
      <p:sp>
        <p:nvSpPr>
          <p:cNvPr id="14" name="Freeform 31">
            <a:extLst>
              <a:ext uri="{FF2B5EF4-FFF2-40B4-BE49-F238E27FC236}">
                <a16:creationId xmlns:a16="http://schemas.microsoft.com/office/drawing/2014/main" id="{657B82EA-713B-70F8-87D9-532158546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24BFA5DF-AA85-B6C6-1CEF-443119B4EA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266D3F5A-F0A4-4E06-C464-E9314DFDA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1259FC74-6E43-D0CD-7DE3-54012F53EF60}"/>
              </a:ext>
            </a:extLst>
          </p:cNvPr>
          <p:cNvSpPr>
            <a:spLocks noGrp="1"/>
          </p:cNvSpPr>
          <p:nvPr>
            <p:ph idx="1"/>
          </p:nvPr>
        </p:nvSpPr>
        <p:spPr>
          <a:xfrm>
            <a:off x="380277" y="2227428"/>
            <a:ext cx="5210977" cy="3785419"/>
          </a:xfrm>
        </p:spPr>
        <p:txBody>
          <a:bodyPr>
            <a:normAutofit/>
          </a:bodyPr>
          <a:lstStyle/>
          <a:p>
            <a:r>
              <a:rPr lang="es-ES" dirty="0">
                <a:solidFill>
                  <a:srgbClr val="EBEBEB"/>
                </a:solidFill>
              </a:rPr>
              <a:t>Representación estática de un conjunto de operaciones y sus dependencias.</a:t>
            </a:r>
          </a:p>
          <a:p>
            <a:r>
              <a:rPr lang="es-ES" noProof="0" dirty="0">
                <a:solidFill>
                  <a:srgbClr val="EBEBEB"/>
                </a:solidFill>
              </a:rPr>
              <a:t>Captura, análisis, optimización, instancia y ejecución</a:t>
            </a:r>
          </a:p>
          <a:p>
            <a:endParaRPr lang="es-ES" noProof="0" dirty="0">
              <a:solidFill>
                <a:srgbClr val="EBEBEB"/>
              </a:solidFill>
            </a:endParaRPr>
          </a:p>
        </p:txBody>
      </p:sp>
      <p:pic>
        <p:nvPicPr>
          <p:cNvPr id="4" name="Imagen 3">
            <a:extLst>
              <a:ext uri="{FF2B5EF4-FFF2-40B4-BE49-F238E27FC236}">
                <a16:creationId xmlns:a16="http://schemas.microsoft.com/office/drawing/2014/main" id="{9599D04A-9586-EEDB-AB67-1934DD040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9460" y="1524793"/>
            <a:ext cx="7382540" cy="3691270"/>
          </a:xfrm>
          <a:prstGeom prst="rect">
            <a:avLst/>
          </a:prstGeom>
        </p:spPr>
      </p:pic>
      <p:sp>
        <p:nvSpPr>
          <p:cNvPr id="7" name="Elipse 6">
            <a:extLst>
              <a:ext uri="{FF2B5EF4-FFF2-40B4-BE49-F238E27FC236}">
                <a16:creationId xmlns:a16="http://schemas.microsoft.com/office/drawing/2014/main" id="{891A6242-7E58-875E-2C92-4DD1F84F840D}"/>
              </a:ext>
            </a:extLst>
          </p:cNvPr>
          <p:cNvSpPr/>
          <p:nvPr/>
        </p:nvSpPr>
        <p:spPr>
          <a:xfrm>
            <a:off x="7520781" y="5581901"/>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solidFill>
                <a:schemeClr val="bg1"/>
              </a:solidFill>
            </a:endParaRPr>
          </a:p>
        </p:txBody>
      </p:sp>
      <p:sp>
        <p:nvSpPr>
          <p:cNvPr id="10" name="CuadroTexto 9">
            <a:extLst>
              <a:ext uri="{FF2B5EF4-FFF2-40B4-BE49-F238E27FC236}">
                <a16:creationId xmlns:a16="http://schemas.microsoft.com/office/drawing/2014/main" id="{0EDB5684-A99F-8372-E9DC-A9DA90421C4A}"/>
              </a:ext>
            </a:extLst>
          </p:cNvPr>
          <p:cNvSpPr txBox="1"/>
          <p:nvPr/>
        </p:nvSpPr>
        <p:spPr>
          <a:xfrm>
            <a:off x="7633935" y="5813025"/>
            <a:ext cx="2394835" cy="646331"/>
          </a:xfrm>
          <a:prstGeom prst="rect">
            <a:avLst/>
          </a:prstGeom>
          <a:noFill/>
        </p:spPr>
        <p:txBody>
          <a:bodyPr wrap="square" rtlCol="0">
            <a:spAutoFit/>
          </a:bodyPr>
          <a:lstStyle/>
          <a:p>
            <a:pPr algn="ctr"/>
            <a:r>
              <a:rPr lang="es-ES" b="1" dirty="0"/>
              <a:t>ABM5 resolviendo Brusselator2D</a:t>
            </a:r>
          </a:p>
        </p:txBody>
      </p:sp>
      <p:sp>
        <p:nvSpPr>
          <p:cNvPr id="3" name="Marcador de número de diapositiva 2">
            <a:extLst>
              <a:ext uri="{FF2B5EF4-FFF2-40B4-BE49-F238E27FC236}">
                <a16:creationId xmlns:a16="http://schemas.microsoft.com/office/drawing/2014/main" id="{4CD40FD1-6322-6774-5484-BB271A325683}"/>
              </a:ext>
            </a:extLst>
          </p:cNvPr>
          <p:cNvSpPr>
            <a:spLocks noGrp="1"/>
          </p:cNvSpPr>
          <p:nvPr>
            <p:ph type="sldNum" sz="quarter" idx="12"/>
          </p:nvPr>
        </p:nvSpPr>
        <p:spPr/>
        <p:txBody>
          <a:bodyPr/>
          <a:lstStyle/>
          <a:p>
            <a:fld id="{E7DC7EB3-C4C6-4D12-A310-6984ACFEFAFF}" type="slidenum">
              <a:rPr lang="en-GB" smtClean="0"/>
              <a:t>24</a:t>
            </a:fld>
            <a:endParaRPr lang="en-GB"/>
          </a:p>
        </p:txBody>
      </p:sp>
      <p:sp>
        <p:nvSpPr>
          <p:cNvPr id="5" name="CuadroTexto 4">
            <a:extLst>
              <a:ext uri="{FF2B5EF4-FFF2-40B4-BE49-F238E27FC236}">
                <a16:creationId xmlns:a16="http://schemas.microsoft.com/office/drawing/2014/main" id="{EC1FD5B7-E51F-67E7-945B-C1989D7293C8}"/>
              </a:ext>
            </a:extLst>
          </p:cNvPr>
          <p:cNvSpPr txBox="1"/>
          <p:nvPr/>
        </p:nvSpPr>
        <p:spPr>
          <a:xfrm>
            <a:off x="6018028" y="5216063"/>
            <a:ext cx="5401339" cy="307777"/>
          </a:xfrm>
          <a:prstGeom prst="rect">
            <a:avLst/>
          </a:prstGeom>
          <a:noFill/>
        </p:spPr>
        <p:txBody>
          <a:bodyPr wrap="square" rtlCol="0">
            <a:spAutoFit/>
          </a:bodyPr>
          <a:lstStyle/>
          <a:p>
            <a:r>
              <a:rPr lang="es-ES" sz="1400" dirty="0"/>
              <a:t>Comparativa con y sin CUDA </a:t>
            </a:r>
            <a:r>
              <a:rPr lang="es-ES" sz="1400" dirty="0" err="1"/>
              <a:t>Graph</a:t>
            </a:r>
            <a:r>
              <a:rPr lang="es-ES" sz="1400" dirty="0"/>
              <a:t> (elaboración propia)</a:t>
            </a:r>
          </a:p>
        </p:txBody>
      </p:sp>
    </p:spTree>
    <p:extLst>
      <p:ext uri="{BB962C8B-B14F-4D97-AF65-F5344CB8AC3E}">
        <p14:creationId xmlns:p14="http://schemas.microsoft.com/office/powerpoint/2010/main" val="3317565329"/>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676481-ACB3-EB55-85A0-B02639C40EED}"/>
              </a:ext>
            </a:extLst>
          </p:cNvPr>
          <p:cNvSpPr>
            <a:spLocks noGrp="1"/>
          </p:cNvSpPr>
          <p:nvPr>
            <p:ph type="title"/>
          </p:nvPr>
        </p:nvSpPr>
        <p:spPr/>
        <p:txBody>
          <a:bodyPr/>
          <a:lstStyle/>
          <a:p>
            <a:r>
              <a:rPr lang="es-ES" dirty="0" err="1"/>
              <a:t>Shuffles</a:t>
            </a:r>
            <a:r>
              <a:rPr lang="es-ES" dirty="0"/>
              <a:t> y </a:t>
            </a:r>
            <a:r>
              <a:rPr lang="es-ES" dirty="0" err="1"/>
              <a:t>grids</a:t>
            </a:r>
            <a:r>
              <a:rPr lang="es-ES" dirty="0"/>
              <a:t> multidimensionales</a:t>
            </a:r>
          </a:p>
        </p:txBody>
      </p:sp>
      <p:sp>
        <p:nvSpPr>
          <p:cNvPr id="3" name="Marcador de contenido 2">
            <a:extLst>
              <a:ext uri="{FF2B5EF4-FFF2-40B4-BE49-F238E27FC236}">
                <a16:creationId xmlns:a16="http://schemas.microsoft.com/office/drawing/2014/main" id="{41C09ECB-563E-B294-47D4-7B5A64202245}"/>
              </a:ext>
            </a:extLst>
          </p:cNvPr>
          <p:cNvSpPr>
            <a:spLocks noGrp="1"/>
          </p:cNvSpPr>
          <p:nvPr>
            <p:ph sz="half" idx="1"/>
          </p:nvPr>
        </p:nvSpPr>
        <p:spPr>
          <a:xfrm>
            <a:off x="419467" y="1603374"/>
            <a:ext cx="4809070" cy="5254626"/>
          </a:xfrm>
        </p:spPr>
        <p:txBody>
          <a:bodyPr>
            <a:normAutofit/>
          </a:bodyPr>
          <a:lstStyle/>
          <a:p>
            <a:r>
              <a:rPr lang="es-ES" b="1" u="sng" dirty="0" err="1">
                <a:solidFill>
                  <a:srgbClr val="EBEBEB"/>
                </a:solidFill>
              </a:rPr>
              <a:t>Shuffles</a:t>
            </a:r>
            <a:endParaRPr lang="es-ES" b="1" u="sng" dirty="0">
              <a:solidFill>
                <a:srgbClr val="EBEBEB"/>
              </a:solidFill>
            </a:endParaRPr>
          </a:p>
          <a:p>
            <a:r>
              <a:rPr lang="es-ES" dirty="0">
                <a:solidFill>
                  <a:srgbClr val="EBEBEB"/>
                </a:solidFill>
              </a:rPr>
              <a:t>Minimizar acceso a memoria</a:t>
            </a:r>
          </a:p>
          <a:p>
            <a:r>
              <a:rPr lang="es-ES" dirty="0">
                <a:solidFill>
                  <a:srgbClr val="EBEBEB"/>
                </a:solidFill>
              </a:rPr>
              <a:t>Instrucciones a nivel de </a:t>
            </a:r>
            <a:r>
              <a:rPr lang="es-ES" dirty="0" err="1">
                <a:solidFill>
                  <a:srgbClr val="EBEBEB"/>
                </a:solidFill>
              </a:rPr>
              <a:t>warp</a:t>
            </a:r>
            <a:endParaRPr lang="es-ES" dirty="0">
              <a:solidFill>
                <a:srgbClr val="EBEBEB"/>
              </a:solidFill>
            </a:endParaRPr>
          </a:p>
          <a:p>
            <a:r>
              <a:rPr lang="es-ES" dirty="0">
                <a:solidFill>
                  <a:srgbClr val="EBEBEB"/>
                </a:solidFill>
              </a:rPr>
              <a:t>Leer valor de un registro sin pasar por la memoria global</a:t>
            </a:r>
          </a:p>
          <a:p>
            <a:endParaRPr lang="es-ES" dirty="0">
              <a:solidFill>
                <a:srgbClr val="EBEBEB"/>
              </a:solidFill>
            </a:endParaRPr>
          </a:p>
          <a:p>
            <a:endParaRPr lang="es-ES" dirty="0">
              <a:solidFill>
                <a:srgbClr val="EBEBEB"/>
              </a:solidFill>
            </a:endParaRPr>
          </a:p>
          <a:p>
            <a:r>
              <a:rPr lang="es-ES" b="1" u="sng" dirty="0" err="1">
                <a:solidFill>
                  <a:srgbClr val="EBEBEB"/>
                </a:solidFill>
              </a:rPr>
              <a:t>Grids</a:t>
            </a:r>
            <a:r>
              <a:rPr lang="es-ES" b="1" u="sng" dirty="0">
                <a:solidFill>
                  <a:srgbClr val="EBEBEB"/>
                </a:solidFill>
              </a:rPr>
              <a:t>  multidimensionales</a:t>
            </a:r>
          </a:p>
          <a:p>
            <a:r>
              <a:rPr lang="es-ES" dirty="0">
                <a:solidFill>
                  <a:srgbClr val="EBEBEB"/>
                </a:solidFill>
              </a:rPr>
              <a:t>Por defecto, bloques y </a:t>
            </a:r>
            <a:r>
              <a:rPr lang="es-ES" dirty="0" err="1">
                <a:solidFill>
                  <a:srgbClr val="EBEBEB"/>
                </a:solidFill>
              </a:rPr>
              <a:t>grids</a:t>
            </a:r>
            <a:r>
              <a:rPr lang="es-ES" dirty="0">
                <a:solidFill>
                  <a:srgbClr val="EBEBEB"/>
                </a:solidFill>
              </a:rPr>
              <a:t> de 1 dimensión</a:t>
            </a:r>
          </a:p>
          <a:p>
            <a:r>
              <a:rPr lang="es-ES" dirty="0">
                <a:solidFill>
                  <a:srgbClr val="EBEBEB"/>
                </a:solidFill>
              </a:rPr>
              <a:t>Podemos especificar múltiples dimensiones</a:t>
            </a:r>
          </a:p>
          <a:p>
            <a:r>
              <a:rPr lang="es-ES" dirty="0">
                <a:solidFill>
                  <a:srgbClr val="EBEBEB"/>
                </a:solidFill>
              </a:rPr>
              <a:t>Dividir cada componente en una dimensión distinta</a:t>
            </a:r>
          </a:p>
          <a:p>
            <a:endParaRPr lang="es-ES" dirty="0">
              <a:solidFill>
                <a:srgbClr val="EBEBEB"/>
              </a:solidFill>
            </a:endParaRPr>
          </a:p>
          <a:p>
            <a:endParaRPr lang="es-ES" dirty="0"/>
          </a:p>
        </p:txBody>
      </p:sp>
      <p:sp>
        <p:nvSpPr>
          <p:cNvPr id="5" name="Marcador de número de diapositiva 4">
            <a:extLst>
              <a:ext uri="{FF2B5EF4-FFF2-40B4-BE49-F238E27FC236}">
                <a16:creationId xmlns:a16="http://schemas.microsoft.com/office/drawing/2014/main" id="{696F4828-FF11-1B98-836E-F453336939AE}"/>
              </a:ext>
            </a:extLst>
          </p:cNvPr>
          <p:cNvSpPr>
            <a:spLocks noGrp="1"/>
          </p:cNvSpPr>
          <p:nvPr>
            <p:ph type="sldNum" sz="quarter" idx="12"/>
          </p:nvPr>
        </p:nvSpPr>
        <p:spPr/>
        <p:txBody>
          <a:bodyPr/>
          <a:lstStyle/>
          <a:p>
            <a:fld id="{E7DC7EB3-C4C6-4D12-A310-6984ACFEFAFF}" type="slidenum">
              <a:rPr lang="en-GB" smtClean="0"/>
              <a:t>25</a:t>
            </a:fld>
            <a:endParaRPr lang="en-GB"/>
          </a:p>
        </p:txBody>
      </p:sp>
      <p:pic>
        <p:nvPicPr>
          <p:cNvPr id="7" name="Imagen 6">
            <a:extLst>
              <a:ext uri="{FF2B5EF4-FFF2-40B4-BE49-F238E27FC236}">
                <a16:creationId xmlns:a16="http://schemas.microsoft.com/office/drawing/2014/main" id="{D72CFDDD-E93D-8BAB-171A-D3FDF5C24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8537" y="1603374"/>
            <a:ext cx="5962202" cy="2072796"/>
          </a:xfrm>
          <a:prstGeom prst="rect">
            <a:avLst/>
          </a:prstGeom>
        </p:spPr>
      </p:pic>
      <p:pic>
        <p:nvPicPr>
          <p:cNvPr id="9" name="Imagen 8">
            <a:extLst>
              <a:ext uri="{FF2B5EF4-FFF2-40B4-BE49-F238E27FC236}">
                <a16:creationId xmlns:a16="http://schemas.microsoft.com/office/drawing/2014/main" id="{96814EE5-5630-F7B8-56CF-08FDBDA53D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8711" y="4140896"/>
            <a:ext cx="7377977" cy="2456433"/>
          </a:xfrm>
          <a:prstGeom prst="rect">
            <a:avLst/>
          </a:prstGeom>
        </p:spPr>
      </p:pic>
      <p:sp>
        <p:nvSpPr>
          <p:cNvPr id="10" name="CuadroTexto 9">
            <a:extLst>
              <a:ext uri="{FF2B5EF4-FFF2-40B4-BE49-F238E27FC236}">
                <a16:creationId xmlns:a16="http://schemas.microsoft.com/office/drawing/2014/main" id="{E941BC27-7477-7CBB-DADC-830DE296662C}"/>
              </a:ext>
            </a:extLst>
          </p:cNvPr>
          <p:cNvSpPr txBox="1"/>
          <p:nvPr/>
        </p:nvSpPr>
        <p:spPr>
          <a:xfrm>
            <a:off x="5228537" y="3676170"/>
            <a:ext cx="3982361" cy="307777"/>
          </a:xfrm>
          <a:prstGeom prst="rect">
            <a:avLst/>
          </a:prstGeom>
          <a:noFill/>
        </p:spPr>
        <p:txBody>
          <a:bodyPr wrap="square" rtlCol="0">
            <a:spAutoFit/>
          </a:bodyPr>
          <a:lstStyle/>
          <a:p>
            <a:r>
              <a:rPr lang="es-ES" sz="1400" dirty="0"/>
              <a:t>Uso de los </a:t>
            </a:r>
            <a:r>
              <a:rPr lang="es-ES" sz="1400" dirty="0" err="1"/>
              <a:t>shuffles</a:t>
            </a:r>
            <a:r>
              <a:rPr lang="es-ES" sz="1400" dirty="0"/>
              <a:t> (</a:t>
            </a:r>
            <a:r>
              <a:rPr lang="es-ES" sz="1400" dirty="0" err="1">
                <a:hlinkClick r:id="rId5"/>
              </a:rPr>
              <a:t>nvidia</a:t>
            </a:r>
            <a:r>
              <a:rPr lang="es-ES" sz="1400" dirty="0"/>
              <a:t>)</a:t>
            </a:r>
          </a:p>
        </p:txBody>
      </p:sp>
      <p:sp>
        <p:nvSpPr>
          <p:cNvPr id="11" name="CuadroTexto 10">
            <a:extLst>
              <a:ext uri="{FF2B5EF4-FFF2-40B4-BE49-F238E27FC236}">
                <a16:creationId xmlns:a16="http://schemas.microsoft.com/office/drawing/2014/main" id="{43B6CE63-1291-E8CA-2418-2E231A991780}"/>
              </a:ext>
            </a:extLst>
          </p:cNvPr>
          <p:cNvSpPr txBox="1"/>
          <p:nvPr/>
        </p:nvSpPr>
        <p:spPr>
          <a:xfrm>
            <a:off x="7546772" y="3845168"/>
            <a:ext cx="4614356" cy="307777"/>
          </a:xfrm>
          <a:prstGeom prst="rect">
            <a:avLst/>
          </a:prstGeom>
          <a:noFill/>
        </p:spPr>
        <p:txBody>
          <a:bodyPr wrap="square" rtlCol="0">
            <a:spAutoFit/>
          </a:bodyPr>
          <a:lstStyle/>
          <a:p>
            <a:r>
              <a:rPr lang="es-ES" sz="1400" dirty="0"/>
              <a:t>Posibles estructuras para un bloque (</a:t>
            </a:r>
            <a:r>
              <a:rPr lang="es-ES" sz="1400" dirty="0" err="1">
                <a:hlinkClick r:id="rId6"/>
              </a:rPr>
              <a:t>researchgate</a:t>
            </a:r>
            <a:r>
              <a:rPr lang="es-ES" sz="1400" dirty="0"/>
              <a:t>)</a:t>
            </a:r>
          </a:p>
        </p:txBody>
      </p:sp>
    </p:spTree>
    <p:extLst>
      <p:ext uri="{BB962C8B-B14F-4D97-AF65-F5344CB8AC3E}">
        <p14:creationId xmlns:p14="http://schemas.microsoft.com/office/powerpoint/2010/main" val="2408084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C77266-4DB9-A6E5-B897-A785CAF0F1E8}"/>
              </a:ext>
            </a:extLst>
          </p:cNvPr>
          <p:cNvSpPr>
            <a:spLocks noGrp="1"/>
          </p:cNvSpPr>
          <p:nvPr>
            <p:ph type="title"/>
          </p:nvPr>
        </p:nvSpPr>
        <p:spPr/>
        <p:txBody>
          <a:bodyPr/>
          <a:lstStyle/>
          <a:p>
            <a:r>
              <a:rPr lang="es-ES" dirty="0"/>
              <a:t>Comparativa</a:t>
            </a:r>
          </a:p>
        </p:txBody>
      </p:sp>
      <p:pic>
        <p:nvPicPr>
          <p:cNvPr id="5" name="Marcador de contenido 4">
            <a:extLst>
              <a:ext uri="{FF2B5EF4-FFF2-40B4-BE49-F238E27FC236}">
                <a16:creationId xmlns:a16="http://schemas.microsoft.com/office/drawing/2014/main" id="{02943F10-E9CC-51E4-A647-BEF0F0465E3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00238" y="1853248"/>
            <a:ext cx="8391523" cy="4195762"/>
          </a:xfrm>
          <a:prstGeom prst="rect">
            <a:avLst/>
          </a:prstGeom>
        </p:spPr>
      </p:pic>
      <p:sp>
        <p:nvSpPr>
          <p:cNvPr id="7" name="Elipse 6">
            <a:extLst>
              <a:ext uri="{FF2B5EF4-FFF2-40B4-BE49-F238E27FC236}">
                <a16:creationId xmlns:a16="http://schemas.microsoft.com/office/drawing/2014/main" id="{FA25B609-6BEB-F23E-7113-1781C24A967C}"/>
              </a:ext>
            </a:extLst>
          </p:cNvPr>
          <p:cNvSpPr/>
          <p:nvPr/>
        </p:nvSpPr>
        <p:spPr>
          <a:xfrm>
            <a:off x="7520781" y="648377"/>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solidFill>
                <a:schemeClr val="bg1"/>
              </a:solidFill>
            </a:endParaRPr>
          </a:p>
        </p:txBody>
      </p:sp>
      <p:sp>
        <p:nvSpPr>
          <p:cNvPr id="9" name="CuadroTexto 8">
            <a:extLst>
              <a:ext uri="{FF2B5EF4-FFF2-40B4-BE49-F238E27FC236}">
                <a16:creationId xmlns:a16="http://schemas.microsoft.com/office/drawing/2014/main" id="{FCF59993-5186-7CD7-4859-634196FA338F}"/>
              </a:ext>
            </a:extLst>
          </p:cNvPr>
          <p:cNvSpPr txBox="1"/>
          <p:nvPr/>
        </p:nvSpPr>
        <p:spPr>
          <a:xfrm>
            <a:off x="7633935" y="879501"/>
            <a:ext cx="2394835" cy="646331"/>
          </a:xfrm>
          <a:prstGeom prst="rect">
            <a:avLst/>
          </a:prstGeom>
          <a:noFill/>
        </p:spPr>
        <p:txBody>
          <a:bodyPr wrap="square" rtlCol="0">
            <a:spAutoFit/>
          </a:bodyPr>
          <a:lstStyle/>
          <a:p>
            <a:pPr algn="ctr"/>
            <a:r>
              <a:rPr lang="es-ES" b="1" dirty="0">
                <a:solidFill>
                  <a:schemeClr val="bg1"/>
                </a:solidFill>
              </a:rPr>
              <a:t>AB4 resolviendo Brusselator1D</a:t>
            </a:r>
          </a:p>
        </p:txBody>
      </p:sp>
      <p:sp>
        <p:nvSpPr>
          <p:cNvPr id="3" name="Marcador de número de diapositiva 2">
            <a:extLst>
              <a:ext uri="{FF2B5EF4-FFF2-40B4-BE49-F238E27FC236}">
                <a16:creationId xmlns:a16="http://schemas.microsoft.com/office/drawing/2014/main" id="{A0819430-C6D7-7BE6-C1D3-06EEAB111D1C}"/>
              </a:ext>
            </a:extLst>
          </p:cNvPr>
          <p:cNvSpPr>
            <a:spLocks noGrp="1"/>
          </p:cNvSpPr>
          <p:nvPr>
            <p:ph type="sldNum" sz="quarter" idx="12"/>
          </p:nvPr>
        </p:nvSpPr>
        <p:spPr/>
        <p:txBody>
          <a:bodyPr/>
          <a:lstStyle/>
          <a:p>
            <a:fld id="{E7DC7EB3-C4C6-4D12-A310-6984ACFEFAFF}" type="slidenum">
              <a:rPr lang="en-GB" smtClean="0"/>
              <a:t>26</a:t>
            </a:fld>
            <a:endParaRPr lang="en-GB"/>
          </a:p>
        </p:txBody>
      </p:sp>
      <p:sp>
        <p:nvSpPr>
          <p:cNvPr id="6" name="CuadroTexto 5">
            <a:extLst>
              <a:ext uri="{FF2B5EF4-FFF2-40B4-BE49-F238E27FC236}">
                <a16:creationId xmlns:a16="http://schemas.microsoft.com/office/drawing/2014/main" id="{12397C3D-0FF7-E869-C731-8F95A7E4B61C}"/>
              </a:ext>
            </a:extLst>
          </p:cNvPr>
          <p:cNvSpPr txBox="1"/>
          <p:nvPr/>
        </p:nvSpPr>
        <p:spPr>
          <a:xfrm>
            <a:off x="1900239" y="6097505"/>
            <a:ext cx="8452302" cy="307777"/>
          </a:xfrm>
          <a:prstGeom prst="rect">
            <a:avLst/>
          </a:prstGeom>
          <a:noFill/>
        </p:spPr>
        <p:txBody>
          <a:bodyPr wrap="square" rtlCol="0">
            <a:spAutoFit/>
          </a:bodyPr>
          <a:lstStyle/>
          <a:p>
            <a:pPr algn="ctr"/>
            <a:r>
              <a:rPr lang="es-ES" sz="1400" dirty="0"/>
              <a:t>Comparativa de ejecución con </a:t>
            </a:r>
            <a:r>
              <a:rPr lang="es-ES" sz="1400" dirty="0" err="1"/>
              <a:t>shuffles</a:t>
            </a:r>
            <a:r>
              <a:rPr lang="es-ES" sz="1400" dirty="0"/>
              <a:t>, y </a:t>
            </a:r>
            <a:r>
              <a:rPr lang="es-ES" sz="1400" dirty="0" err="1"/>
              <a:t>grid</a:t>
            </a:r>
            <a:r>
              <a:rPr lang="es-ES" sz="1400" dirty="0"/>
              <a:t> </a:t>
            </a:r>
            <a:r>
              <a:rPr lang="es-ES" sz="1400" dirty="0" err="1"/>
              <a:t>multidiemensional</a:t>
            </a:r>
            <a:r>
              <a:rPr lang="es-ES" sz="1400" dirty="0"/>
              <a:t> (elaboración propia)</a:t>
            </a:r>
          </a:p>
        </p:txBody>
      </p:sp>
    </p:spTree>
    <p:extLst>
      <p:ext uri="{BB962C8B-B14F-4D97-AF65-F5344CB8AC3E}">
        <p14:creationId xmlns:p14="http://schemas.microsoft.com/office/powerpoint/2010/main" val="2035673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22AF9321-663E-74D0-C5FF-EC76C1DDEF9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9007F28-E15B-BF42-3E5D-758BCE0F7C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A48080D1-F42D-E16C-9CEB-1232E8C3D0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CD23D099-F36B-65A0-E228-7BEC6A830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pic>
        <p:nvPicPr>
          <p:cNvPr id="14" name="Picture 13">
            <a:extLst>
              <a:ext uri="{FF2B5EF4-FFF2-40B4-BE49-F238E27FC236}">
                <a16:creationId xmlns:a16="http://schemas.microsoft.com/office/drawing/2014/main" id="{D38AC9F0-D40A-C305-91E4-C64CCED12C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0FA70C3B-E5DB-020F-863C-A07C3B0419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F02F6652-F6C6-9599-1D47-68A064A71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20" name="Rectangle 19">
            <a:extLst>
              <a:ext uri="{FF2B5EF4-FFF2-40B4-BE49-F238E27FC236}">
                <a16:creationId xmlns:a16="http://schemas.microsoft.com/office/drawing/2014/main" id="{D18A8542-521D-35EE-517A-8727EEEED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s-ES" noProof="0" dirty="0"/>
          </a:p>
        </p:txBody>
      </p:sp>
      <p:sp>
        <p:nvSpPr>
          <p:cNvPr id="22" name="Freeform 36">
            <a:extLst>
              <a:ext uri="{FF2B5EF4-FFF2-40B4-BE49-F238E27FC236}">
                <a16:creationId xmlns:a16="http://schemas.microsoft.com/office/drawing/2014/main" id="{0B40AE42-0C2A-FC3E-30D0-BE79DBD97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s-ES" noProof="0" dirty="0"/>
          </a:p>
        </p:txBody>
      </p:sp>
      <p:sp useBgFill="1">
        <p:nvSpPr>
          <p:cNvPr id="24" name="Freeform: Shape 23">
            <a:extLst>
              <a:ext uri="{FF2B5EF4-FFF2-40B4-BE49-F238E27FC236}">
                <a16:creationId xmlns:a16="http://schemas.microsoft.com/office/drawing/2014/main" id="{67E80B45-5171-3A60-B9EF-DC27244E6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noProof="0" dirty="0">
              <a:solidFill>
                <a:schemeClr val="tx1"/>
              </a:solidFill>
            </a:endParaRPr>
          </a:p>
        </p:txBody>
      </p:sp>
      <p:sp>
        <p:nvSpPr>
          <p:cNvPr id="3" name="Marcador de texto 2">
            <a:extLst>
              <a:ext uri="{FF2B5EF4-FFF2-40B4-BE49-F238E27FC236}">
                <a16:creationId xmlns:a16="http://schemas.microsoft.com/office/drawing/2014/main" id="{A9DC0D07-83B5-AD45-A1B8-0BD0DB0CA6EB}"/>
              </a:ext>
            </a:extLst>
          </p:cNvPr>
          <p:cNvSpPr>
            <a:spLocks noGrp="1"/>
          </p:cNvSpPr>
          <p:nvPr>
            <p:ph type="body" idx="1"/>
          </p:nvPr>
        </p:nvSpPr>
        <p:spPr>
          <a:xfrm>
            <a:off x="1154955" y="4777380"/>
            <a:ext cx="6974911" cy="861420"/>
          </a:xfrm>
        </p:spPr>
        <p:txBody>
          <a:bodyPr vert="horz" lIns="91440" tIns="45720" rIns="91440" bIns="45720" rtlCol="0" anchor="t">
            <a:normAutofit/>
          </a:bodyPr>
          <a:lstStyle/>
          <a:p>
            <a:endParaRPr lang="es-ES" sz="2000" b="0" i="0" kern="1200" cap="all" noProof="0" dirty="0">
              <a:solidFill>
                <a:schemeClr val="tx1">
                  <a:lumMod val="85000"/>
                  <a:lumOff val="15000"/>
                </a:schemeClr>
              </a:solidFill>
              <a:latin typeface="+mj-lt"/>
              <a:ea typeface="+mj-ea"/>
              <a:cs typeface="+mj-cs"/>
            </a:endParaRPr>
          </a:p>
        </p:txBody>
      </p:sp>
      <p:sp>
        <p:nvSpPr>
          <p:cNvPr id="2" name="Título 1">
            <a:extLst>
              <a:ext uri="{FF2B5EF4-FFF2-40B4-BE49-F238E27FC236}">
                <a16:creationId xmlns:a16="http://schemas.microsoft.com/office/drawing/2014/main" id="{03C2EF35-BED3-2EAD-4AFA-447ECBE96299}"/>
              </a:ext>
            </a:extLst>
          </p:cNvPr>
          <p:cNvSpPr>
            <a:spLocks noGrp="1"/>
          </p:cNvSpPr>
          <p:nvPr>
            <p:ph type="title"/>
          </p:nvPr>
        </p:nvSpPr>
        <p:spPr>
          <a:xfrm>
            <a:off x="1154955" y="1447800"/>
            <a:ext cx="7668725" cy="3329581"/>
          </a:xfrm>
        </p:spPr>
        <p:txBody>
          <a:bodyPr vert="horz" lIns="91440" tIns="45720" rIns="91440" bIns="45720" rtlCol="0" anchor="b">
            <a:normAutofit/>
          </a:bodyPr>
          <a:lstStyle/>
          <a:p>
            <a:r>
              <a:rPr lang="es-ES" sz="7200" b="0" i="0" kern="1200" dirty="0">
                <a:solidFill>
                  <a:schemeClr val="tx2"/>
                </a:solidFill>
                <a:latin typeface="+mj-lt"/>
                <a:ea typeface="+mj-ea"/>
                <a:cs typeface="+mj-cs"/>
              </a:rPr>
              <a:t>Conclusiones</a:t>
            </a:r>
            <a:endParaRPr lang="es-ES" sz="7200" b="0" i="0" kern="1200" noProof="0" dirty="0">
              <a:solidFill>
                <a:schemeClr val="tx2"/>
              </a:solidFill>
              <a:latin typeface="+mj-lt"/>
              <a:ea typeface="+mj-ea"/>
              <a:cs typeface="+mj-cs"/>
            </a:endParaRPr>
          </a:p>
        </p:txBody>
      </p:sp>
      <p:sp>
        <p:nvSpPr>
          <p:cNvPr id="26" name="Rectangle 25">
            <a:extLst>
              <a:ext uri="{FF2B5EF4-FFF2-40B4-BE49-F238E27FC236}">
                <a16:creationId xmlns:a16="http://schemas.microsoft.com/office/drawing/2014/main" id="{0298C9B0-AA9F-82E0-7D14-F1F694833A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noProof="0" dirty="0"/>
          </a:p>
        </p:txBody>
      </p:sp>
      <p:sp>
        <p:nvSpPr>
          <p:cNvPr id="4" name="Marcador de número de diapositiva 3">
            <a:extLst>
              <a:ext uri="{FF2B5EF4-FFF2-40B4-BE49-F238E27FC236}">
                <a16:creationId xmlns:a16="http://schemas.microsoft.com/office/drawing/2014/main" id="{0CC057A6-030D-4410-BB6A-A4BD1F139E6B}"/>
              </a:ext>
            </a:extLst>
          </p:cNvPr>
          <p:cNvSpPr>
            <a:spLocks noGrp="1"/>
          </p:cNvSpPr>
          <p:nvPr>
            <p:ph type="sldNum" sz="quarter" idx="12"/>
          </p:nvPr>
        </p:nvSpPr>
        <p:spPr/>
        <p:txBody>
          <a:bodyPr/>
          <a:lstStyle/>
          <a:p>
            <a:fld id="{E7DC7EB3-C4C6-4D12-A310-6984ACFEFAFF}" type="slidenum">
              <a:rPr lang="en-GB" smtClean="0"/>
              <a:t>27</a:t>
            </a:fld>
            <a:endParaRPr lang="en-GB"/>
          </a:p>
        </p:txBody>
      </p:sp>
    </p:spTree>
    <p:extLst>
      <p:ext uri="{BB962C8B-B14F-4D97-AF65-F5344CB8AC3E}">
        <p14:creationId xmlns:p14="http://schemas.microsoft.com/office/powerpoint/2010/main" val="2677481013"/>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3E078-BEF1-B0D4-D735-597AEB5C0F78}"/>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6551AEA4-1846-02E5-6C1B-6CA7354C7D2F}"/>
              </a:ext>
            </a:extLst>
          </p:cNvPr>
          <p:cNvSpPr>
            <a:spLocks noGrp="1"/>
          </p:cNvSpPr>
          <p:nvPr>
            <p:ph idx="1"/>
          </p:nvPr>
        </p:nvSpPr>
        <p:spPr>
          <a:xfrm>
            <a:off x="1104293" y="2042286"/>
            <a:ext cx="8946541" cy="4195481"/>
          </a:xfrm>
        </p:spPr>
        <p:txBody>
          <a:bodyPr/>
          <a:lstStyle/>
          <a:p>
            <a:r>
              <a:rPr lang="es-ES" dirty="0"/>
              <a:t>Experiencia enriquecedora</a:t>
            </a:r>
          </a:p>
          <a:p>
            <a:r>
              <a:rPr lang="es-ES" dirty="0"/>
              <a:t>Base sólida</a:t>
            </a:r>
          </a:p>
          <a:p>
            <a:r>
              <a:rPr lang="es-ES" dirty="0"/>
              <a:t>Múltiples implementaciones, paradigmas, tecnologías…</a:t>
            </a:r>
          </a:p>
          <a:p>
            <a:r>
              <a:rPr lang="es-ES" dirty="0"/>
              <a:t>Análisis de los resultados</a:t>
            </a:r>
          </a:p>
          <a:p>
            <a:r>
              <a:rPr lang="es-ES" dirty="0"/>
              <a:t>Mejoras contundentes en GPU</a:t>
            </a:r>
          </a:p>
          <a:p>
            <a:r>
              <a:rPr lang="es-ES" dirty="0"/>
              <a:t>Herramienta esencial</a:t>
            </a:r>
          </a:p>
        </p:txBody>
      </p:sp>
      <p:sp>
        <p:nvSpPr>
          <p:cNvPr id="4" name="Marcador de número de diapositiva 3">
            <a:extLst>
              <a:ext uri="{FF2B5EF4-FFF2-40B4-BE49-F238E27FC236}">
                <a16:creationId xmlns:a16="http://schemas.microsoft.com/office/drawing/2014/main" id="{1E382BDF-8855-FF00-D897-426BE913E247}"/>
              </a:ext>
            </a:extLst>
          </p:cNvPr>
          <p:cNvSpPr>
            <a:spLocks noGrp="1"/>
          </p:cNvSpPr>
          <p:nvPr>
            <p:ph type="sldNum" sz="quarter" idx="12"/>
          </p:nvPr>
        </p:nvSpPr>
        <p:spPr/>
        <p:txBody>
          <a:bodyPr/>
          <a:lstStyle/>
          <a:p>
            <a:fld id="{E7DC7EB3-C4C6-4D12-A310-6984ACFEFAFF}" type="slidenum">
              <a:rPr lang="en-GB" smtClean="0"/>
              <a:t>28</a:t>
            </a:fld>
            <a:endParaRPr lang="en-GB"/>
          </a:p>
        </p:txBody>
      </p:sp>
    </p:spTree>
    <p:extLst>
      <p:ext uri="{BB962C8B-B14F-4D97-AF65-F5344CB8AC3E}">
        <p14:creationId xmlns:p14="http://schemas.microsoft.com/office/powerpoint/2010/main" val="3980489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4C4C8-846B-191F-1188-F59EAA9224AA}"/>
              </a:ext>
            </a:extLst>
          </p:cNvPr>
          <p:cNvSpPr>
            <a:spLocks noGrp="1"/>
          </p:cNvSpPr>
          <p:nvPr>
            <p:ph type="title"/>
          </p:nvPr>
        </p:nvSpPr>
        <p:spPr/>
        <p:txBody>
          <a:bodyPr/>
          <a:lstStyle/>
          <a:p>
            <a:r>
              <a:rPr lang="es-ES" dirty="0"/>
              <a:t>Planificación</a:t>
            </a:r>
          </a:p>
        </p:txBody>
      </p:sp>
      <p:pic>
        <p:nvPicPr>
          <p:cNvPr id="5" name="Marcador de contenido 4">
            <a:extLst>
              <a:ext uri="{FF2B5EF4-FFF2-40B4-BE49-F238E27FC236}">
                <a16:creationId xmlns:a16="http://schemas.microsoft.com/office/drawing/2014/main" id="{5C6C4BA4-6FAA-000D-D948-422DB2EEE5E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50803" y="1478478"/>
            <a:ext cx="9490393" cy="5001232"/>
          </a:xfrm>
          <a:prstGeom prst="rect">
            <a:avLst/>
          </a:prstGeom>
        </p:spPr>
      </p:pic>
      <p:sp>
        <p:nvSpPr>
          <p:cNvPr id="3" name="Marcador de número de diapositiva 2">
            <a:extLst>
              <a:ext uri="{FF2B5EF4-FFF2-40B4-BE49-F238E27FC236}">
                <a16:creationId xmlns:a16="http://schemas.microsoft.com/office/drawing/2014/main" id="{04F88FD4-71E8-B908-6678-CA7CC6EA03B1}"/>
              </a:ext>
            </a:extLst>
          </p:cNvPr>
          <p:cNvSpPr>
            <a:spLocks noGrp="1"/>
          </p:cNvSpPr>
          <p:nvPr>
            <p:ph type="sldNum" sz="quarter" idx="12"/>
          </p:nvPr>
        </p:nvSpPr>
        <p:spPr/>
        <p:txBody>
          <a:bodyPr/>
          <a:lstStyle/>
          <a:p>
            <a:fld id="{E7DC7EB3-C4C6-4D12-A310-6984ACFEFAFF}" type="slidenum">
              <a:rPr lang="en-GB" smtClean="0"/>
              <a:t>29</a:t>
            </a:fld>
            <a:endParaRPr lang="en-GB"/>
          </a:p>
        </p:txBody>
      </p:sp>
    </p:spTree>
    <p:extLst>
      <p:ext uri="{BB962C8B-B14F-4D97-AF65-F5344CB8AC3E}">
        <p14:creationId xmlns:p14="http://schemas.microsoft.com/office/powerpoint/2010/main" val="4061598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A56C22-1273-5919-CC03-35DA0B4ED8F9}"/>
              </a:ext>
            </a:extLst>
          </p:cNvPr>
          <p:cNvSpPr>
            <a:spLocks noGrp="1"/>
          </p:cNvSpPr>
          <p:nvPr>
            <p:ph type="title"/>
          </p:nvPr>
        </p:nvSpPr>
        <p:spPr/>
        <p:txBody>
          <a:bodyPr/>
          <a:lstStyle/>
          <a:p>
            <a:r>
              <a:rPr lang="es-ES" dirty="0"/>
              <a:t>Análisis de costes</a:t>
            </a:r>
          </a:p>
        </p:txBody>
      </p:sp>
      <p:sp>
        <p:nvSpPr>
          <p:cNvPr id="3" name="Marcador de contenido 2">
            <a:extLst>
              <a:ext uri="{FF2B5EF4-FFF2-40B4-BE49-F238E27FC236}">
                <a16:creationId xmlns:a16="http://schemas.microsoft.com/office/drawing/2014/main" id="{EDC13216-F38A-9893-534A-1530F0B98850}"/>
              </a:ext>
            </a:extLst>
          </p:cNvPr>
          <p:cNvSpPr>
            <a:spLocks noGrp="1"/>
          </p:cNvSpPr>
          <p:nvPr>
            <p:ph idx="1"/>
          </p:nvPr>
        </p:nvSpPr>
        <p:spPr/>
        <p:txBody>
          <a:bodyPr/>
          <a:lstStyle/>
          <a:p>
            <a:r>
              <a:rPr lang="es-ES" dirty="0"/>
              <a:t>Recursos de Software: Todos los programas utilizados en este proyecto son de código abierto y licencia gratuita. Coste: 0€</a:t>
            </a:r>
          </a:p>
          <a:p>
            <a:r>
              <a:rPr lang="es-ES" dirty="0"/>
              <a:t>Recursos de Hardware: Ordenador portátil + Torre</a:t>
            </a:r>
          </a:p>
          <a:p>
            <a:pPr lvl="1"/>
            <a:r>
              <a:rPr lang="es-ES" dirty="0"/>
              <a:t>Amortización portátil: 400€/48 meses * 5.5 meses = 45.83€</a:t>
            </a:r>
          </a:p>
          <a:p>
            <a:pPr lvl="1"/>
            <a:r>
              <a:rPr lang="es-ES" dirty="0"/>
              <a:t>Amortización torre: 1800€/96 meses + 5.5 meses = 103.13€</a:t>
            </a:r>
          </a:p>
          <a:p>
            <a:r>
              <a:rPr lang="es-ES" dirty="0"/>
              <a:t>Recursos humanos</a:t>
            </a:r>
          </a:p>
          <a:p>
            <a:pPr lvl="1"/>
            <a:r>
              <a:rPr lang="es-ES" dirty="0"/>
              <a:t>Salario bruto anual: 17819.00€</a:t>
            </a:r>
          </a:p>
          <a:p>
            <a:pPr lvl="1"/>
            <a:r>
              <a:rPr lang="es-ES" dirty="0"/>
              <a:t>Coste: 17819€ / 1800 horas * 300 horas = 2970€</a:t>
            </a:r>
          </a:p>
          <a:p>
            <a:r>
              <a:rPr lang="es-ES" dirty="0"/>
              <a:t>Coste total: 3118.96€</a:t>
            </a:r>
          </a:p>
        </p:txBody>
      </p:sp>
      <p:sp>
        <p:nvSpPr>
          <p:cNvPr id="4" name="Marcador de número de diapositiva 3">
            <a:extLst>
              <a:ext uri="{FF2B5EF4-FFF2-40B4-BE49-F238E27FC236}">
                <a16:creationId xmlns:a16="http://schemas.microsoft.com/office/drawing/2014/main" id="{BB01E079-3718-C9BD-1B5B-CC270E111ABF}"/>
              </a:ext>
            </a:extLst>
          </p:cNvPr>
          <p:cNvSpPr>
            <a:spLocks noGrp="1"/>
          </p:cNvSpPr>
          <p:nvPr>
            <p:ph type="sldNum" sz="quarter" idx="12"/>
          </p:nvPr>
        </p:nvSpPr>
        <p:spPr/>
        <p:txBody>
          <a:bodyPr/>
          <a:lstStyle/>
          <a:p>
            <a:fld id="{E7DC7EB3-C4C6-4D12-A310-6984ACFEFAFF}" type="slidenum">
              <a:rPr lang="en-GB" smtClean="0"/>
              <a:t>30</a:t>
            </a:fld>
            <a:endParaRPr lang="en-GB"/>
          </a:p>
        </p:txBody>
      </p:sp>
    </p:spTree>
    <p:extLst>
      <p:ext uri="{BB962C8B-B14F-4D97-AF65-F5344CB8AC3E}">
        <p14:creationId xmlns:p14="http://schemas.microsoft.com/office/powerpoint/2010/main" val="719810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A110B-446A-0AFE-9049-10145D67B124}"/>
              </a:ext>
            </a:extLst>
          </p:cNvPr>
          <p:cNvSpPr>
            <a:spLocks noGrp="1"/>
          </p:cNvSpPr>
          <p:nvPr>
            <p:ph type="title"/>
          </p:nvPr>
        </p:nvSpPr>
        <p:spPr/>
        <p:txBody>
          <a:bodyPr/>
          <a:lstStyle/>
          <a:p>
            <a:r>
              <a:rPr lang="es-ES" dirty="0"/>
              <a:t>Trabajo futuro</a:t>
            </a:r>
          </a:p>
        </p:txBody>
      </p:sp>
      <p:sp>
        <p:nvSpPr>
          <p:cNvPr id="3" name="Marcador de contenido 2">
            <a:extLst>
              <a:ext uri="{FF2B5EF4-FFF2-40B4-BE49-F238E27FC236}">
                <a16:creationId xmlns:a16="http://schemas.microsoft.com/office/drawing/2014/main" id="{96FB750C-A066-7173-433C-54C943E4737E}"/>
              </a:ext>
            </a:extLst>
          </p:cNvPr>
          <p:cNvSpPr>
            <a:spLocks noGrp="1"/>
          </p:cNvSpPr>
          <p:nvPr>
            <p:ph idx="1"/>
          </p:nvPr>
        </p:nvSpPr>
        <p:spPr/>
        <p:txBody>
          <a:bodyPr/>
          <a:lstStyle/>
          <a:p>
            <a:r>
              <a:rPr lang="es-ES" dirty="0"/>
              <a:t>Hacer un estudio del error, para poder comparar más justamente los métodos entre ellos</a:t>
            </a:r>
          </a:p>
          <a:p>
            <a:r>
              <a:rPr lang="es-ES" dirty="0"/>
              <a:t>Tamaños de paso variable (frente al paso fijo que hemos utilizado)</a:t>
            </a:r>
          </a:p>
          <a:p>
            <a:r>
              <a:rPr lang="es-ES" dirty="0"/>
              <a:t>Visualización gráfica de la evolución de los resultados a lo largo del tiempo</a:t>
            </a:r>
          </a:p>
        </p:txBody>
      </p:sp>
      <p:sp>
        <p:nvSpPr>
          <p:cNvPr id="4" name="Marcador de número de diapositiva 3">
            <a:extLst>
              <a:ext uri="{FF2B5EF4-FFF2-40B4-BE49-F238E27FC236}">
                <a16:creationId xmlns:a16="http://schemas.microsoft.com/office/drawing/2014/main" id="{0A7CEC0F-BEB4-4AF5-90D9-CCB897F6E492}"/>
              </a:ext>
            </a:extLst>
          </p:cNvPr>
          <p:cNvSpPr>
            <a:spLocks noGrp="1"/>
          </p:cNvSpPr>
          <p:nvPr>
            <p:ph type="sldNum" sz="quarter" idx="12"/>
          </p:nvPr>
        </p:nvSpPr>
        <p:spPr/>
        <p:txBody>
          <a:bodyPr/>
          <a:lstStyle/>
          <a:p>
            <a:fld id="{E7DC7EB3-C4C6-4D12-A310-6984ACFEFAFF}" type="slidenum">
              <a:rPr lang="en-GB" smtClean="0"/>
              <a:t>31</a:t>
            </a:fld>
            <a:endParaRPr lang="en-GB"/>
          </a:p>
        </p:txBody>
      </p:sp>
    </p:spTree>
    <p:extLst>
      <p:ext uri="{BB962C8B-B14F-4D97-AF65-F5344CB8AC3E}">
        <p14:creationId xmlns:p14="http://schemas.microsoft.com/office/powerpoint/2010/main" val="2568774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6B698-AA8B-9E6A-1F11-1EB37C5FD932}"/>
              </a:ext>
            </a:extLst>
          </p:cNvPr>
          <p:cNvSpPr>
            <a:spLocks noGrp="1"/>
          </p:cNvSpPr>
          <p:nvPr>
            <p:ph type="title"/>
          </p:nvPr>
        </p:nvSpPr>
        <p:spPr/>
        <p:txBody>
          <a:bodyPr/>
          <a:lstStyle/>
          <a:p>
            <a:r>
              <a:rPr lang="es-ES" dirty="0"/>
              <a:t>Términos importantes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970709-CD72-ABC0-AF0B-C4A143674CE1}"/>
                  </a:ext>
                </a:extLst>
              </p:cNvPr>
              <p:cNvSpPr>
                <a:spLocks noGrp="1"/>
              </p:cNvSpPr>
              <p:nvPr>
                <p:ph sz="half" idx="1"/>
              </p:nvPr>
            </p:nvSpPr>
            <p:spPr>
              <a:xfrm>
                <a:off x="1102986" y="1276693"/>
                <a:ext cx="4396339" cy="2278635"/>
              </a:xfrm>
            </p:spPr>
            <p:txBody>
              <a:bodyPr>
                <a:normAutofit/>
              </a:bodyPr>
              <a:lstStyle/>
              <a:p>
                <a:r>
                  <a:rPr lang="en-US" sz="2200" b="1" dirty="0">
                    <a:solidFill>
                      <a:srgbClr val="EBEBEB"/>
                    </a:solidFill>
                  </a:rPr>
                  <a:t>Speedup</a:t>
                </a:r>
                <a:r>
                  <a:rPr lang="en-US" sz="2200" dirty="0">
                    <a:solidFill>
                      <a:srgbClr val="EBEBEB"/>
                    </a:solidFill>
                  </a:rPr>
                  <a:t>: </a:t>
                </a:r>
                <a14:m>
                  <m:oMath xmlns:m="http://schemas.openxmlformats.org/officeDocument/2006/math">
                    <m:f>
                      <m:fPr>
                        <m:ctrlPr>
                          <a:rPr lang="en-GB" sz="2200" i="1">
                            <a:solidFill>
                              <a:srgbClr val="EBEBEB"/>
                            </a:solidFill>
                            <a:latin typeface="Cambria Math" panose="02040503050406030204" pitchFamily="18" charset="0"/>
                          </a:rPr>
                        </m:ctrlPr>
                      </m:fPr>
                      <m:num>
                        <m:sSub>
                          <m:sSubPr>
                            <m:ctrlPr>
                              <a:rPr lang="en-GB" sz="2200" i="1">
                                <a:solidFill>
                                  <a:srgbClr val="EBEBEB"/>
                                </a:solidFill>
                                <a:latin typeface="Cambria Math" panose="02040503050406030204" pitchFamily="18" charset="0"/>
                              </a:rPr>
                            </m:ctrlPr>
                          </m:sSubPr>
                          <m:e>
                            <m:r>
                              <m:rPr>
                                <m:sty m:val="p"/>
                              </m:rPr>
                              <a:rPr lang="en-GB" sz="2200" i="1">
                                <a:solidFill>
                                  <a:srgbClr val="EBEBEB"/>
                                </a:solidFill>
                                <a:latin typeface="Cambria Math" panose="02040503050406030204" pitchFamily="18" charset="0"/>
                              </a:rPr>
                              <m:t>t</m:t>
                            </m:r>
                          </m:e>
                          <m:sub>
                            <m:r>
                              <m:rPr>
                                <m:sty m:val="p"/>
                              </m:rPr>
                              <a:rPr lang="en-GB" sz="2200" i="1">
                                <a:solidFill>
                                  <a:srgbClr val="EBEBEB"/>
                                </a:solidFill>
                                <a:latin typeface="Cambria Math" panose="02040503050406030204" pitchFamily="18" charset="0"/>
                              </a:rPr>
                              <m:t>secuencial</m:t>
                            </m:r>
                          </m:sub>
                        </m:sSub>
                      </m:num>
                      <m:den>
                        <m:sSub>
                          <m:sSubPr>
                            <m:ctrlPr>
                              <a:rPr lang="en-GB" sz="2200" i="1">
                                <a:solidFill>
                                  <a:srgbClr val="EBEBEB"/>
                                </a:solidFill>
                                <a:latin typeface="Cambria Math" panose="02040503050406030204" pitchFamily="18" charset="0"/>
                              </a:rPr>
                            </m:ctrlPr>
                          </m:sSubPr>
                          <m:e>
                            <m:r>
                              <m:rPr>
                                <m:sty m:val="p"/>
                              </m:rPr>
                              <a:rPr lang="en-GB" sz="2200" i="1">
                                <a:solidFill>
                                  <a:srgbClr val="EBEBEB"/>
                                </a:solidFill>
                                <a:latin typeface="Cambria Math" panose="02040503050406030204" pitchFamily="18" charset="0"/>
                              </a:rPr>
                              <m:t>t</m:t>
                            </m:r>
                          </m:e>
                          <m:sub>
                            <m:r>
                              <m:rPr>
                                <m:sty m:val="p"/>
                              </m:rPr>
                              <a:rPr lang="en-GB" sz="2200" i="1">
                                <a:solidFill>
                                  <a:srgbClr val="EBEBEB"/>
                                </a:solidFill>
                                <a:latin typeface="Cambria Math" panose="02040503050406030204" pitchFamily="18" charset="0"/>
                              </a:rPr>
                              <m:t>paralelo</m:t>
                            </m:r>
                          </m:sub>
                        </m:sSub>
                      </m:den>
                    </m:f>
                  </m:oMath>
                </a14:m>
                <a:endParaRPr lang="en-US" sz="2200" dirty="0">
                  <a:solidFill>
                    <a:srgbClr val="EBEBEB"/>
                  </a:solidFill>
                </a:endParaRPr>
              </a:p>
              <a:p>
                <a:r>
                  <a:rPr lang="en-US" sz="2200" u="sng" dirty="0">
                    <a:solidFill>
                      <a:srgbClr val="EBEBEB"/>
                    </a:solidFill>
                  </a:rPr>
                  <a:t>Ley de Aldahl</a:t>
                </a:r>
              </a:p>
              <a:p>
                <a14:m>
                  <m:oMath xmlns:m="http://schemas.openxmlformats.org/officeDocument/2006/math">
                    <m:r>
                      <a:rPr lang="en-GB" sz="2200" i="1">
                        <a:solidFill>
                          <a:srgbClr val="EBEBEB"/>
                        </a:solidFill>
                        <a:latin typeface="Cambria Math" panose="02040503050406030204" pitchFamily="18" charset="0"/>
                      </a:rPr>
                      <m:t>𝑆</m:t>
                    </m:r>
                    <m:d>
                      <m:dPr>
                        <m:ctrlPr>
                          <a:rPr lang="en-GB" sz="2200" i="1">
                            <a:solidFill>
                              <a:srgbClr val="EBEBEB"/>
                            </a:solidFill>
                            <a:latin typeface="Cambria Math" panose="02040503050406030204" pitchFamily="18" charset="0"/>
                          </a:rPr>
                        </m:ctrlPr>
                      </m:dPr>
                      <m:e>
                        <m:r>
                          <a:rPr lang="en-GB" sz="2200" i="1">
                            <a:solidFill>
                              <a:srgbClr val="EBEBEB"/>
                            </a:solidFill>
                            <a:latin typeface="Cambria Math" panose="02040503050406030204" pitchFamily="18" charset="0"/>
                          </a:rPr>
                          <m:t>𝑝</m:t>
                        </m:r>
                      </m:e>
                    </m:d>
                    <m:r>
                      <a:rPr lang="en-GB" sz="2200" i="1">
                        <a:solidFill>
                          <a:srgbClr val="EBEBEB"/>
                        </a:solidFill>
                        <a:latin typeface="Cambria Math" panose="02040503050406030204" pitchFamily="18" charset="0"/>
                      </a:rPr>
                      <m:t>=</m:t>
                    </m:r>
                    <m:f>
                      <m:fPr>
                        <m:ctrlPr>
                          <a:rPr lang="en-GB" sz="2200" i="1">
                            <a:solidFill>
                              <a:srgbClr val="EBEBEB"/>
                            </a:solidFill>
                            <a:latin typeface="Cambria Math" panose="02040503050406030204" pitchFamily="18" charset="0"/>
                          </a:rPr>
                        </m:ctrlPr>
                      </m:fPr>
                      <m:num>
                        <m:r>
                          <a:rPr lang="en-GB" sz="2200" i="1">
                            <a:solidFill>
                              <a:srgbClr val="EBEBEB"/>
                            </a:solidFill>
                            <a:latin typeface="Cambria Math" panose="02040503050406030204" pitchFamily="18" charset="0"/>
                          </a:rPr>
                          <m:t>1</m:t>
                        </m:r>
                      </m:num>
                      <m:den>
                        <m:r>
                          <m:rPr>
                            <m:sty m:val="p"/>
                          </m:rPr>
                          <a:rPr lang="en-GB" sz="2200" b="0" i="1" smtClean="0">
                            <a:solidFill>
                              <a:srgbClr val="EBEBEB"/>
                            </a:solidFill>
                            <a:latin typeface="Cambria Math" panose="02040503050406030204" pitchFamily="18" charset="0"/>
                          </a:rPr>
                          <m:t>s</m:t>
                        </m:r>
                        <m:r>
                          <a:rPr lang="en-GB" sz="2200" i="1">
                            <a:solidFill>
                              <a:srgbClr val="EBEBEB"/>
                            </a:solidFill>
                            <a:latin typeface="Cambria Math" panose="02040503050406030204" pitchFamily="18" charset="0"/>
                          </a:rPr>
                          <m:t>+</m:t>
                        </m:r>
                        <m:r>
                          <a:rPr lang="en-GB" sz="2200" i="1">
                            <a:solidFill>
                              <a:srgbClr val="EBEBEB"/>
                            </a:solidFill>
                            <a:latin typeface="Cambria Math" panose="02040503050406030204" pitchFamily="18" charset="0"/>
                          </a:rPr>
                          <m:t>𝑓</m:t>
                        </m:r>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n</m:t>
                        </m:r>
                      </m:den>
                    </m:f>
                  </m:oMath>
                </a14:m>
                <a:endParaRPr lang="en-US" sz="2200" dirty="0">
                  <a:solidFill>
                    <a:srgbClr val="EBEBEB"/>
                  </a:solidFill>
                </a:endParaRPr>
              </a:p>
              <a:p>
                <a:endParaRPr lang="es-ES" sz="2200" dirty="0"/>
              </a:p>
            </p:txBody>
          </p:sp>
        </mc:Choice>
        <mc:Fallback xmlns="">
          <p:sp>
            <p:nvSpPr>
              <p:cNvPr id="3" name="Marcador de contenido 2">
                <a:extLst>
                  <a:ext uri="{FF2B5EF4-FFF2-40B4-BE49-F238E27FC236}">
                    <a16:creationId xmlns:a16="http://schemas.microsoft.com/office/drawing/2014/main" id="{51970709-CD72-ABC0-AF0B-C4A143674CE1}"/>
                  </a:ext>
                </a:extLst>
              </p:cNvPr>
              <p:cNvSpPr>
                <a:spLocks noGrp="1" noRot="1" noChangeAspect="1" noMove="1" noResize="1" noEditPoints="1" noAdjustHandles="1" noChangeArrowheads="1" noChangeShapeType="1" noTextEdit="1"/>
              </p:cNvSpPr>
              <p:nvPr>
                <p:ph sz="half" idx="1"/>
              </p:nvPr>
            </p:nvSpPr>
            <p:spPr>
              <a:xfrm>
                <a:off x="1102986" y="1276693"/>
                <a:ext cx="4396339" cy="2278635"/>
              </a:xfrm>
              <a:blipFill>
                <a:blip r:embed="rId3"/>
                <a:stretch>
                  <a:fillRect l="-9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C8F4046A-C692-39F0-2C18-60427BAF7524}"/>
                  </a:ext>
                </a:extLst>
              </p:cNvPr>
              <p:cNvSpPr>
                <a:spLocks noGrp="1"/>
              </p:cNvSpPr>
              <p:nvPr>
                <p:ph sz="half" idx="2"/>
              </p:nvPr>
            </p:nvSpPr>
            <p:spPr>
              <a:xfrm>
                <a:off x="5956200" y="1276692"/>
                <a:ext cx="4396341" cy="2278635"/>
              </a:xfrm>
            </p:spPr>
            <p:txBody>
              <a:bodyPr>
                <a:normAutofit/>
              </a:bodyPr>
              <a:lstStyle/>
              <a:p>
                <a:r>
                  <a:rPr lang="en-US" sz="2200" b="1" dirty="0">
                    <a:solidFill>
                      <a:srgbClr val="EBEBEB"/>
                    </a:solidFill>
                  </a:rPr>
                  <a:t>Eficiencia</a:t>
                </a:r>
                <a:r>
                  <a:rPr lang="en-US" sz="2200" dirty="0">
                    <a:solidFill>
                      <a:srgbClr val="EBEBEB"/>
                    </a:solidFill>
                  </a:rPr>
                  <a:t>: </a:t>
                </a:r>
                <a14:m>
                  <m:oMath xmlns:m="http://schemas.openxmlformats.org/officeDocument/2006/math">
                    <m:f>
                      <m:fPr>
                        <m:ctrlPr>
                          <a:rPr lang="en-GB" sz="2200" i="1">
                            <a:solidFill>
                              <a:srgbClr val="EBEBEB"/>
                            </a:solidFill>
                            <a:latin typeface="Cambria Math" panose="02040503050406030204" pitchFamily="18" charset="0"/>
                          </a:rPr>
                        </m:ctrlPr>
                      </m:fPr>
                      <m:num>
                        <m:r>
                          <m:rPr>
                            <m:sty m:val="p"/>
                          </m:rPr>
                          <a:rPr lang="en-GB" sz="2200" i="1">
                            <a:solidFill>
                              <a:srgbClr val="EBEBEB"/>
                            </a:solidFill>
                            <a:latin typeface="Cambria Math" panose="02040503050406030204" pitchFamily="18" charset="0"/>
                          </a:rPr>
                          <m:t>Speedup</m:t>
                        </m:r>
                      </m:num>
                      <m:den>
                        <m:r>
                          <m:rPr>
                            <m:sty m:val="p"/>
                          </m:rPr>
                          <a:rPr lang="en-GB" sz="2200" i="1">
                            <a:solidFill>
                              <a:srgbClr val="EBEBEB"/>
                            </a:solidFill>
                            <a:latin typeface="Cambria Math" panose="02040503050406030204" pitchFamily="18" charset="0"/>
                          </a:rPr>
                          <m:t>n</m:t>
                        </m:r>
                        <m:r>
                          <a:rPr lang="en-GB" sz="2200" i="1">
                            <a:solidFill>
                              <a:srgbClr val="EBEBEB"/>
                            </a:solidFill>
                            <a:latin typeface="Cambria Math" panose="02040503050406030204" pitchFamily="18" charset="0"/>
                          </a:rPr>
                          <m:t>º </m:t>
                        </m:r>
                        <m:r>
                          <m:rPr>
                            <m:sty m:val="p"/>
                          </m:rPr>
                          <a:rPr lang="en-GB" sz="2200" i="1">
                            <a:solidFill>
                              <a:srgbClr val="EBEBEB"/>
                            </a:solidFill>
                            <a:latin typeface="Cambria Math" panose="02040503050406030204" pitchFamily="18" charset="0"/>
                          </a:rPr>
                          <m:t>cores</m:t>
                        </m:r>
                      </m:den>
                    </m:f>
                  </m:oMath>
                </a14:m>
                <a:endParaRPr lang="en-US" sz="2200" dirty="0">
                  <a:solidFill>
                    <a:srgbClr val="EBEBEB"/>
                  </a:solidFill>
                </a:endParaRPr>
              </a:p>
              <a:p>
                <a:r>
                  <a:rPr lang="en-US" sz="2200" u="sng" dirty="0">
                    <a:solidFill>
                      <a:srgbClr val="EBEBEB"/>
                    </a:solidFill>
                  </a:rPr>
                  <a:t>Ley de Gustafson</a:t>
                </a:r>
              </a:p>
              <a:p>
                <a14:m>
                  <m:oMath xmlns:m="http://schemas.openxmlformats.org/officeDocument/2006/math">
                    <m:r>
                      <m:rPr>
                        <m:sty m:val="p"/>
                      </m:rPr>
                      <a:rPr lang="en-GB" sz="2200" i="1">
                        <a:solidFill>
                          <a:srgbClr val="EBEBEB"/>
                        </a:solidFill>
                        <a:latin typeface="Cambria Math" panose="02040503050406030204" pitchFamily="18" charset="0"/>
                      </a:rPr>
                      <m:t>S</m:t>
                    </m:r>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p</m:t>
                    </m:r>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s</m:t>
                    </m:r>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f</m:t>
                    </m:r>
                    <m:r>
                      <a:rPr lang="en-GB" sz="2200" i="1">
                        <a:solidFill>
                          <a:srgbClr val="EBEBEB"/>
                        </a:solidFill>
                        <a:latin typeface="Cambria Math" panose="02040503050406030204" pitchFamily="18" charset="0"/>
                      </a:rPr>
                      <m:t>∗</m:t>
                    </m:r>
                    <m:r>
                      <m:rPr>
                        <m:sty m:val="p"/>
                      </m:rPr>
                      <a:rPr lang="en-GB" sz="2200" i="1">
                        <a:solidFill>
                          <a:srgbClr val="EBEBEB"/>
                        </a:solidFill>
                        <a:latin typeface="Cambria Math" panose="02040503050406030204" pitchFamily="18" charset="0"/>
                      </a:rPr>
                      <m:t>n</m:t>
                    </m:r>
                  </m:oMath>
                </a14:m>
                <a:endParaRPr lang="en-US" sz="2200" u="sng" dirty="0">
                  <a:solidFill>
                    <a:srgbClr val="EBEBEB"/>
                  </a:solidFill>
                </a:endParaRPr>
              </a:p>
              <a:p>
                <a:endParaRPr lang="es-ES" sz="2200" dirty="0"/>
              </a:p>
            </p:txBody>
          </p:sp>
        </mc:Choice>
        <mc:Fallback xmlns="">
          <p:sp>
            <p:nvSpPr>
              <p:cNvPr id="4" name="Marcador de contenido 3">
                <a:extLst>
                  <a:ext uri="{FF2B5EF4-FFF2-40B4-BE49-F238E27FC236}">
                    <a16:creationId xmlns:a16="http://schemas.microsoft.com/office/drawing/2014/main" id="{C8F4046A-C692-39F0-2C18-60427BAF7524}"/>
                  </a:ext>
                </a:extLst>
              </p:cNvPr>
              <p:cNvSpPr>
                <a:spLocks noGrp="1" noRot="1" noChangeAspect="1" noMove="1" noResize="1" noEditPoints="1" noAdjustHandles="1" noChangeArrowheads="1" noChangeShapeType="1" noTextEdit="1"/>
              </p:cNvSpPr>
              <p:nvPr>
                <p:ph sz="half" idx="2"/>
              </p:nvPr>
            </p:nvSpPr>
            <p:spPr>
              <a:xfrm>
                <a:off x="5956200" y="1276692"/>
                <a:ext cx="4396341" cy="2278635"/>
              </a:xfrm>
              <a:blipFill>
                <a:blip r:embed="rId4"/>
                <a:stretch>
                  <a:fillRect l="-832"/>
                </a:stretch>
              </a:blipFill>
            </p:spPr>
            <p:txBody>
              <a:bodyPr/>
              <a:lstStyle/>
              <a:p>
                <a:r>
                  <a:rPr lang="es-ES">
                    <a:noFill/>
                  </a:rPr>
                  <a:t> </a:t>
                </a:r>
              </a:p>
            </p:txBody>
          </p:sp>
        </mc:Fallback>
      </mc:AlternateContent>
      <p:sp>
        <p:nvSpPr>
          <p:cNvPr id="5" name="Marcador de número de diapositiva 4">
            <a:extLst>
              <a:ext uri="{FF2B5EF4-FFF2-40B4-BE49-F238E27FC236}">
                <a16:creationId xmlns:a16="http://schemas.microsoft.com/office/drawing/2014/main" id="{66569843-65CA-6655-7BF6-C558A602FC5E}"/>
              </a:ext>
            </a:extLst>
          </p:cNvPr>
          <p:cNvSpPr>
            <a:spLocks noGrp="1"/>
          </p:cNvSpPr>
          <p:nvPr>
            <p:ph type="sldNum" sz="quarter" idx="12"/>
          </p:nvPr>
        </p:nvSpPr>
        <p:spPr/>
        <p:txBody>
          <a:bodyPr/>
          <a:lstStyle/>
          <a:p>
            <a:fld id="{E7DC7EB3-C4C6-4D12-A310-6984ACFEFAFF}" type="slidenum">
              <a:rPr lang="en-GB" smtClean="0"/>
              <a:t>32</a:t>
            </a:fld>
            <a:endParaRPr lang="en-GB"/>
          </a:p>
        </p:txBody>
      </p:sp>
      <p:grpSp>
        <p:nvGrpSpPr>
          <p:cNvPr id="12" name="Grupo 11">
            <a:extLst>
              <a:ext uri="{FF2B5EF4-FFF2-40B4-BE49-F238E27FC236}">
                <a16:creationId xmlns:a16="http://schemas.microsoft.com/office/drawing/2014/main" id="{1819097C-3B65-E99D-3FB1-4FE5A2EEA643}"/>
              </a:ext>
            </a:extLst>
          </p:cNvPr>
          <p:cNvGrpSpPr/>
          <p:nvPr/>
        </p:nvGrpSpPr>
        <p:grpSpPr>
          <a:xfrm>
            <a:off x="243565" y="3147232"/>
            <a:ext cx="5548804" cy="3711044"/>
            <a:chOff x="243565" y="3147232"/>
            <a:chExt cx="5548804" cy="3711044"/>
          </a:xfrm>
        </p:grpSpPr>
        <p:pic>
          <p:nvPicPr>
            <p:cNvPr id="7" name="Imagen 6">
              <a:extLst>
                <a:ext uri="{FF2B5EF4-FFF2-40B4-BE49-F238E27FC236}">
                  <a16:creationId xmlns:a16="http://schemas.microsoft.com/office/drawing/2014/main" id="{E5C1F172-DFDE-FA10-600E-CBE71E367A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565" y="3147232"/>
              <a:ext cx="5548804" cy="3403267"/>
            </a:xfrm>
            <a:prstGeom prst="rect">
              <a:avLst/>
            </a:prstGeom>
          </p:spPr>
        </p:pic>
        <p:sp>
          <p:nvSpPr>
            <p:cNvPr id="10" name="CuadroTexto 9">
              <a:extLst>
                <a:ext uri="{FF2B5EF4-FFF2-40B4-BE49-F238E27FC236}">
                  <a16:creationId xmlns:a16="http://schemas.microsoft.com/office/drawing/2014/main" id="{80D02903-C82C-4646-C7D7-4573BB56F217}"/>
                </a:ext>
              </a:extLst>
            </p:cNvPr>
            <p:cNvSpPr txBox="1"/>
            <p:nvPr/>
          </p:nvSpPr>
          <p:spPr>
            <a:xfrm>
              <a:off x="243565" y="6550499"/>
              <a:ext cx="5548804" cy="307777"/>
            </a:xfrm>
            <a:prstGeom prst="rect">
              <a:avLst/>
            </a:prstGeom>
            <a:noFill/>
          </p:spPr>
          <p:txBody>
            <a:bodyPr wrap="square" rtlCol="0">
              <a:spAutoFit/>
            </a:bodyPr>
            <a:lstStyle/>
            <a:p>
              <a:pPr algn="ctr"/>
              <a:r>
                <a:rPr lang="es-ES" sz="1400" dirty="0"/>
                <a:t>Ley de Amdahl (</a:t>
              </a:r>
              <a:r>
                <a:rPr lang="es-ES" sz="1400" dirty="0" err="1">
                  <a:hlinkClick r:id="rId6"/>
                </a:rPr>
                <a:t>researchgate</a:t>
              </a:r>
              <a:r>
                <a:rPr lang="es-ES" sz="1400" dirty="0"/>
                <a:t>)</a:t>
              </a:r>
            </a:p>
          </p:txBody>
        </p:sp>
      </p:grpSp>
      <p:grpSp>
        <p:nvGrpSpPr>
          <p:cNvPr id="13" name="Grupo 12">
            <a:extLst>
              <a:ext uri="{FF2B5EF4-FFF2-40B4-BE49-F238E27FC236}">
                <a16:creationId xmlns:a16="http://schemas.microsoft.com/office/drawing/2014/main" id="{22AAD64B-5AB6-90B0-2BC5-59909642DCD1}"/>
              </a:ext>
            </a:extLst>
          </p:cNvPr>
          <p:cNvGrpSpPr/>
          <p:nvPr/>
        </p:nvGrpSpPr>
        <p:grpSpPr>
          <a:xfrm>
            <a:off x="6241910" y="2897995"/>
            <a:ext cx="4176745" cy="3960281"/>
            <a:chOff x="6241910" y="2897995"/>
            <a:chExt cx="4176745" cy="3960281"/>
          </a:xfrm>
        </p:grpSpPr>
        <p:pic>
          <p:nvPicPr>
            <p:cNvPr id="9" name="Imagen 8">
              <a:extLst>
                <a:ext uri="{FF2B5EF4-FFF2-40B4-BE49-F238E27FC236}">
                  <a16:creationId xmlns:a16="http://schemas.microsoft.com/office/drawing/2014/main" id="{15311E79-219C-7D27-AC10-03EC62A952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1910" y="2897995"/>
              <a:ext cx="4176745" cy="3652504"/>
            </a:xfrm>
            <a:prstGeom prst="rect">
              <a:avLst/>
            </a:prstGeom>
            <a:solidFill>
              <a:schemeClr val="tx1"/>
            </a:solidFill>
          </p:spPr>
        </p:pic>
        <p:sp>
          <p:nvSpPr>
            <p:cNvPr id="11" name="CuadroTexto 10">
              <a:extLst>
                <a:ext uri="{FF2B5EF4-FFF2-40B4-BE49-F238E27FC236}">
                  <a16:creationId xmlns:a16="http://schemas.microsoft.com/office/drawing/2014/main" id="{5DEE7521-A0EC-6BA6-8D9E-624D89741900}"/>
                </a:ext>
              </a:extLst>
            </p:cNvPr>
            <p:cNvSpPr txBox="1"/>
            <p:nvPr/>
          </p:nvSpPr>
          <p:spPr>
            <a:xfrm>
              <a:off x="6241910" y="6550499"/>
              <a:ext cx="4176745" cy="307777"/>
            </a:xfrm>
            <a:prstGeom prst="rect">
              <a:avLst/>
            </a:prstGeom>
            <a:noFill/>
          </p:spPr>
          <p:txBody>
            <a:bodyPr wrap="square" rtlCol="0">
              <a:spAutoFit/>
            </a:bodyPr>
            <a:lstStyle/>
            <a:p>
              <a:pPr algn="ctr"/>
              <a:r>
                <a:rPr lang="es-ES" sz="1400" dirty="0"/>
                <a:t>Ley de Gustafson (</a:t>
              </a:r>
              <a:r>
                <a:rPr lang="es-ES" sz="1400" dirty="0" err="1">
                  <a:hlinkClick r:id="rId8"/>
                </a:rPr>
                <a:t>researchgate</a:t>
              </a:r>
              <a:r>
                <a:rPr lang="es-ES" sz="1400" dirty="0"/>
                <a:t>)</a:t>
              </a:r>
            </a:p>
          </p:txBody>
        </p:sp>
      </p:grpSp>
    </p:spTree>
    <p:extLst>
      <p:ext uri="{BB962C8B-B14F-4D97-AF65-F5344CB8AC3E}">
        <p14:creationId xmlns:p14="http://schemas.microsoft.com/office/powerpoint/2010/main" val="1112777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DE4F6C-AB3E-F8C1-63FE-FAD1C0467458}"/>
              </a:ext>
            </a:extLst>
          </p:cNvPr>
          <p:cNvSpPr>
            <a:spLocks noGrp="1"/>
          </p:cNvSpPr>
          <p:nvPr>
            <p:ph type="title"/>
          </p:nvPr>
        </p:nvSpPr>
        <p:spPr/>
        <p:txBody>
          <a:bodyPr/>
          <a:lstStyle/>
          <a:p>
            <a:r>
              <a:rPr lang="es-ES" dirty="0"/>
              <a:t>Resultados experimentales</a:t>
            </a:r>
          </a:p>
        </p:txBody>
      </p:sp>
      <p:sp>
        <p:nvSpPr>
          <p:cNvPr id="3" name="Marcador de texto 2">
            <a:extLst>
              <a:ext uri="{FF2B5EF4-FFF2-40B4-BE49-F238E27FC236}">
                <a16:creationId xmlns:a16="http://schemas.microsoft.com/office/drawing/2014/main" id="{FA3A8379-5FB1-6863-0EE9-C056C86A762E}"/>
              </a:ext>
            </a:extLst>
          </p:cNvPr>
          <p:cNvSpPr>
            <a:spLocks noGrp="1"/>
          </p:cNvSpPr>
          <p:nvPr>
            <p:ph type="body" idx="1"/>
          </p:nvPr>
        </p:nvSpPr>
        <p:spPr>
          <a:xfrm>
            <a:off x="772394" y="1938669"/>
            <a:ext cx="4396338" cy="576262"/>
          </a:xfrm>
        </p:spPr>
        <p:txBody>
          <a:bodyPr/>
          <a:lstStyle/>
          <a:p>
            <a:pPr algn="ctr"/>
            <a:r>
              <a:rPr lang="es-ES" dirty="0"/>
              <a:t>Diferentes tamaños</a:t>
            </a:r>
          </a:p>
        </p:txBody>
      </p:sp>
      <p:pic>
        <p:nvPicPr>
          <p:cNvPr id="8" name="Marcador de contenido 7">
            <a:extLst>
              <a:ext uri="{FF2B5EF4-FFF2-40B4-BE49-F238E27FC236}">
                <a16:creationId xmlns:a16="http://schemas.microsoft.com/office/drawing/2014/main" id="{72B65A14-9DCE-9951-74D0-623CA718BA7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99546" y="2533013"/>
            <a:ext cx="5542035" cy="2771017"/>
          </a:xfrm>
          <a:prstGeom prst="rect">
            <a:avLst/>
          </a:prstGeom>
        </p:spPr>
      </p:pic>
      <p:sp>
        <p:nvSpPr>
          <p:cNvPr id="5" name="Marcador de texto 4">
            <a:extLst>
              <a:ext uri="{FF2B5EF4-FFF2-40B4-BE49-F238E27FC236}">
                <a16:creationId xmlns:a16="http://schemas.microsoft.com/office/drawing/2014/main" id="{E060B7F6-5B65-2FAB-9CE3-50E6AD4A58D9}"/>
              </a:ext>
            </a:extLst>
          </p:cNvPr>
          <p:cNvSpPr>
            <a:spLocks noGrp="1"/>
          </p:cNvSpPr>
          <p:nvPr>
            <p:ph type="body" sz="quarter" idx="3"/>
          </p:nvPr>
        </p:nvSpPr>
        <p:spPr>
          <a:xfrm>
            <a:off x="6897447" y="1904999"/>
            <a:ext cx="4396339" cy="576262"/>
          </a:xfrm>
        </p:spPr>
        <p:txBody>
          <a:bodyPr/>
          <a:lstStyle/>
          <a:p>
            <a:pPr algn="ctr"/>
            <a:r>
              <a:rPr lang="es-ES" dirty="0" err="1"/>
              <a:t>Speedup</a:t>
            </a:r>
            <a:r>
              <a:rPr lang="es-ES" dirty="0"/>
              <a:t> y eficiencia</a:t>
            </a:r>
          </a:p>
        </p:txBody>
      </p:sp>
      <p:pic>
        <p:nvPicPr>
          <p:cNvPr id="10" name="Marcador de contenido 9">
            <a:extLst>
              <a:ext uri="{FF2B5EF4-FFF2-40B4-BE49-F238E27FC236}">
                <a16:creationId xmlns:a16="http://schemas.microsoft.com/office/drawing/2014/main" id="{3A58AFF0-5328-9FAA-9317-827229FB6D96}"/>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198781" y="2533013"/>
            <a:ext cx="5793673" cy="2896837"/>
          </a:xfrm>
          <a:prstGeom prst="rect">
            <a:avLst/>
          </a:prstGeom>
        </p:spPr>
      </p:pic>
      <p:grpSp>
        <p:nvGrpSpPr>
          <p:cNvPr id="9" name="Grupo 8">
            <a:extLst>
              <a:ext uri="{FF2B5EF4-FFF2-40B4-BE49-F238E27FC236}">
                <a16:creationId xmlns:a16="http://schemas.microsoft.com/office/drawing/2014/main" id="{AB1C0EC0-B61B-0F7F-A065-6E047B50962C}"/>
              </a:ext>
            </a:extLst>
          </p:cNvPr>
          <p:cNvGrpSpPr/>
          <p:nvPr/>
        </p:nvGrpSpPr>
        <p:grpSpPr>
          <a:xfrm>
            <a:off x="1339701" y="5691014"/>
            <a:ext cx="2621144" cy="1108587"/>
            <a:chOff x="1339701" y="5691014"/>
            <a:chExt cx="2621144" cy="1108587"/>
          </a:xfrm>
        </p:grpSpPr>
        <p:sp>
          <p:nvSpPr>
            <p:cNvPr id="12" name="Elipse 11">
              <a:extLst>
                <a:ext uri="{FF2B5EF4-FFF2-40B4-BE49-F238E27FC236}">
                  <a16:creationId xmlns:a16="http://schemas.microsoft.com/office/drawing/2014/main" id="{CE63C689-8F39-FF7E-1F63-E07011CC77A9}"/>
                </a:ext>
              </a:extLst>
            </p:cNvPr>
            <p:cNvSpPr/>
            <p:nvPr/>
          </p:nvSpPr>
          <p:spPr>
            <a:xfrm>
              <a:off x="1339701" y="5691014"/>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dirty="0">
                <a:solidFill>
                  <a:schemeClr val="bg1"/>
                </a:solidFill>
              </a:endParaRPr>
            </a:p>
          </p:txBody>
        </p:sp>
        <p:sp>
          <p:nvSpPr>
            <p:cNvPr id="14" name="CuadroTexto 13">
              <a:extLst>
                <a:ext uri="{FF2B5EF4-FFF2-40B4-BE49-F238E27FC236}">
                  <a16:creationId xmlns:a16="http://schemas.microsoft.com/office/drawing/2014/main" id="{E64DFEE0-E534-6EBC-79C9-6DDA0B2240D5}"/>
                </a:ext>
              </a:extLst>
            </p:cNvPr>
            <p:cNvSpPr txBox="1"/>
            <p:nvPr/>
          </p:nvSpPr>
          <p:spPr>
            <a:xfrm>
              <a:off x="1452855" y="5922141"/>
              <a:ext cx="2394835" cy="646331"/>
            </a:xfrm>
            <a:prstGeom prst="rect">
              <a:avLst/>
            </a:prstGeom>
            <a:noFill/>
          </p:spPr>
          <p:txBody>
            <a:bodyPr wrap="square" rtlCol="0">
              <a:spAutoFit/>
            </a:bodyPr>
            <a:lstStyle/>
            <a:p>
              <a:pPr algn="ctr"/>
              <a:r>
                <a:rPr lang="es-ES" b="1" dirty="0">
                  <a:solidFill>
                    <a:schemeClr val="bg1"/>
                  </a:solidFill>
                </a:rPr>
                <a:t>ABM4 resolviendo Brusselator2D</a:t>
              </a:r>
            </a:p>
          </p:txBody>
        </p:sp>
      </p:grpSp>
      <p:grpSp>
        <p:nvGrpSpPr>
          <p:cNvPr id="15" name="Grupo 14">
            <a:extLst>
              <a:ext uri="{FF2B5EF4-FFF2-40B4-BE49-F238E27FC236}">
                <a16:creationId xmlns:a16="http://schemas.microsoft.com/office/drawing/2014/main" id="{A0D8A8FC-6F43-FED1-54F2-7ADC5EC99DC1}"/>
              </a:ext>
            </a:extLst>
          </p:cNvPr>
          <p:cNvGrpSpPr/>
          <p:nvPr/>
        </p:nvGrpSpPr>
        <p:grpSpPr>
          <a:xfrm>
            <a:off x="7520781" y="5656332"/>
            <a:ext cx="2621144" cy="1108587"/>
            <a:chOff x="7520781" y="5581901"/>
            <a:chExt cx="2621144" cy="1108587"/>
          </a:xfrm>
        </p:grpSpPr>
        <p:sp>
          <p:nvSpPr>
            <p:cNvPr id="16" name="Elipse 15">
              <a:extLst>
                <a:ext uri="{FF2B5EF4-FFF2-40B4-BE49-F238E27FC236}">
                  <a16:creationId xmlns:a16="http://schemas.microsoft.com/office/drawing/2014/main" id="{A46A9DF8-477B-8FB1-368C-2EB7C282D345}"/>
                </a:ext>
              </a:extLst>
            </p:cNvPr>
            <p:cNvSpPr/>
            <p:nvPr/>
          </p:nvSpPr>
          <p:spPr>
            <a:xfrm>
              <a:off x="7520781" y="5581901"/>
              <a:ext cx="2621144" cy="11085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s-ES">
                <a:solidFill>
                  <a:schemeClr val="bg1"/>
                </a:solidFill>
              </a:endParaRPr>
            </a:p>
          </p:txBody>
        </p:sp>
        <p:sp>
          <p:nvSpPr>
            <p:cNvPr id="18" name="CuadroTexto 17">
              <a:extLst>
                <a:ext uri="{FF2B5EF4-FFF2-40B4-BE49-F238E27FC236}">
                  <a16:creationId xmlns:a16="http://schemas.microsoft.com/office/drawing/2014/main" id="{B8A36517-4D05-2BCA-F33A-E20DF973D2F6}"/>
                </a:ext>
              </a:extLst>
            </p:cNvPr>
            <p:cNvSpPr txBox="1"/>
            <p:nvPr/>
          </p:nvSpPr>
          <p:spPr>
            <a:xfrm>
              <a:off x="7819343" y="5813028"/>
              <a:ext cx="2024020" cy="646331"/>
            </a:xfrm>
            <a:prstGeom prst="rect">
              <a:avLst/>
            </a:prstGeom>
            <a:noFill/>
          </p:spPr>
          <p:txBody>
            <a:bodyPr wrap="square" rtlCol="0">
              <a:spAutoFit/>
            </a:bodyPr>
            <a:lstStyle/>
            <a:p>
              <a:pPr algn="ctr"/>
              <a:r>
                <a:rPr lang="es-ES" b="1" dirty="0">
                  <a:solidFill>
                    <a:schemeClr val="bg1"/>
                  </a:solidFill>
                </a:rPr>
                <a:t>Sólo paralelismo de operaciones</a:t>
              </a:r>
            </a:p>
          </p:txBody>
        </p:sp>
      </p:grpSp>
      <p:sp>
        <p:nvSpPr>
          <p:cNvPr id="4" name="Marcador de número de diapositiva 3">
            <a:extLst>
              <a:ext uri="{FF2B5EF4-FFF2-40B4-BE49-F238E27FC236}">
                <a16:creationId xmlns:a16="http://schemas.microsoft.com/office/drawing/2014/main" id="{ED87E10D-E672-6464-D421-78FF8DB2CDFB}"/>
              </a:ext>
            </a:extLst>
          </p:cNvPr>
          <p:cNvSpPr>
            <a:spLocks noGrp="1"/>
          </p:cNvSpPr>
          <p:nvPr>
            <p:ph type="sldNum" sz="quarter" idx="12"/>
          </p:nvPr>
        </p:nvSpPr>
        <p:spPr/>
        <p:txBody>
          <a:bodyPr/>
          <a:lstStyle/>
          <a:p>
            <a:fld id="{E7DC7EB3-C4C6-4D12-A310-6984ACFEFAFF}" type="slidenum">
              <a:rPr lang="en-GB" smtClean="0"/>
              <a:t>33</a:t>
            </a:fld>
            <a:endParaRPr lang="en-GB"/>
          </a:p>
        </p:txBody>
      </p:sp>
      <p:sp>
        <p:nvSpPr>
          <p:cNvPr id="7" name="CuadroTexto 6">
            <a:extLst>
              <a:ext uri="{FF2B5EF4-FFF2-40B4-BE49-F238E27FC236}">
                <a16:creationId xmlns:a16="http://schemas.microsoft.com/office/drawing/2014/main" id="{27E25576-F5FA-2FF0-F5BA-DFBE17EC8C09}"/>
              </a:ext>
            </a:extLst>
          </p:cNvPr>
          <p:cNvSpPr txBox="1"/>
          <p:nvPr/>
        </p:nvSpPr>
        <p:spPr>
          <a:xfrm>
            <a:off x="737724" y="5281095"/>
            <a:ext cx="4465678" cy="276999"/>
          </a:xfrm>
          <a:prstGeom prst="rect">
            <a:avLst/>
          </a:prstGeom>
          <a:noFill/>
        </p:spPr>
        <p:txBody>
          <a:bodyPr wrap="square" rtlCol="0">
            <a:spAutoFit/>
          </a:bodyPr>
          <a:lstStyle/>
          <a:p>
            <a:pPr algn="ctr"/>
            <a:r>
              <a:rPr lang="es-ES" sz="1200" dirty="0"/>
              <a:t>Comparativa con tres tamaños (elaboración propia)</a:t>
            </a:r>
          </a:p>
        </p:txBody>
      </p:sp>
      <p:sp>
        <p:nvSpPr>
          <p:cNvPr id="13" name="CuadroTexto 12">
            <a:extLst>
              <a:ext uri="{FF2B5EF4-FFF2-40B4-BE49-F238E27FC236}">
                <a16:creationId xmlns:a16="http://schemas.microsoft.com/office/drawing/2014/main" id="{E5C542D9-D259-77EA-D027-6F8A16385BF9}"/>
              </a:ext>
            </a:extLst>
          </p:cNvPr>
          <p:cNvSpPr txBox="1"/>
          <p:nvPr/>
        </p:nvSpPr>
        <p:spPr>
          <a:xfrm>
            <a:off x="6993232" y="5401596"/>
            <a:ext cx="4465678" cy="276999"/>
          </a:xfrm>
          <a:prstGeom prst="rect">
            <a:avLst/>
          </a:prstGeom>
          <a:noFill/>
        </p:spPr>
        <p:txBody>
          <a:bodyPr wrap="square" rtlCol="0">
            <a:spAutoFit/>
          </a:bodyPr>
          <a:lstStyle/>
          <a:p>
            <a:pPr algn="ctr"/>
            <a:r>
              <a:rPr lang="es-ES" sz="1200" dirty="0"/>
              <a:t>Comparativa con tres tamaños (elaboración propia)</a:t>
            </a:r>
          </a:p>
        </p:txBody>
      </p:sp>
    </p:spTree>
    <p:extLst>
      <p:ext uri="{BB962C8B-B14F-4D97-AF65-F5344CB8AC3E}">
        <p14:creationId xmlns:p14="http://schemas.microsoft.com/office/powerpoint/2010/main" val="1911761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65B512B-5CC4-95C7-DE90-A9BCD7B6BF9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5FC68C5-44A3-5AA5-9967-2242BE19EB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6B9BE15-ADF1-F67F-3DFB-8EB40459AE4A}"/>
              </a:ext>
            </a:extLst>
          </p:cNvPr>
          <p:cNvSpPr>
            <a:spLocks noGrp="1"/>
          </p:cNvSpPr>
          <p:nvPr>
            <p:ph type="title"/>
          </p:nvPr>
        </p:nvSpPr>
        <p:spPr>
          <a:xfrm>
            <a:off x="648930" y="629266"/>
            <a:ext cx="4760351" cy="1622321"/>
          </a:xfrm>
        </p:spPr>
        <p:txBody>
          <a:bodyPr>
            <a:normAutofit/>
          </a:bodyPr>
          <a:lstStyle/>
          <a:p>
            <a:r>
              <a:rPr lang="es-ES" dirty="0">
                <a:solidFill>
                  <a:srgbClr val="EBEBEB"/>
                </a:solidFill>
              </a:rPr>
              <a:t>CUDA</a:t>
            </a:r>
          </a:p>
        </p:txBody>
      </p:sp>
      <p:sp>
        <p:nvSpPr>
          <p:cNvPr id="14" name="Freeform 31">
            <a:extLst>
              <a:ext uri="{FF2B5EF4-FFF2-40B4-BE49-F238E27FC236}">
                <a16:creationId xmlns:a16="http://schemas.microsoft.com/office/drawing/2014/main" id="{1CAEA57E-92BA-4FBD-5E47-9E81DE6A7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6" name="Freeform: Shape 15">
            <a:extLst>
              <a:ext uri="{FF2B5EF4-FFF2-40B4-BE49-F238E27FC236}">
                <a16:creationId xmlns:a16="http://schemas.microsoft.com/office/drawing/2014/main" id="{B6F1FA6C-2BE7-7233-0D30-95E9113FC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s-ES"/>
          </a:p>
        </p:txBody>
      </p:sp>
      <p:sp>
        <p:nvSpPr>
          <p:cNvPr id="18" name="Rectangle 17">
            <a:extLst>
              <a:ext uri="{FF2B5EF4-FFF2-40B4-BE49-F238E27FC236}">
                <a16:creationId xmlns:a16="http://schemas.microsoft.com/office/drawing/2014/main" id="{1C181519-E2A9-9DE9-1369-44EEC9AB2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
          </a:p>
        </p:txBody>
      </p:sp>
      <p:sp>
        <p:nvSpPr>
          <p:cNvPr id="9" name="Content Placeholder 8">
            <a:extLst>
              <a:ext uri="{FF2B5EF4-FFF2-40B4-BE49-F238E27FC236}">
                <a16:creationId xmlns:a16="http://schemas.microsoft.com/office/drawing/2014/main" id="{3AB8EDA2-3F10-F467-B739-5853455E46C4}"/>
              </a:ext>
            </a:extLst>
          </p:cNvPr>
          <p:cNvSpPr>
            <a:spLocks noGrp="1"/>
          </p:cNvSpPr>
          <p:nvPr>
            <p:ph idx="1"/>
          </p:nvPr>
        </p:nvSpPr>
        <p:spPr>
          <a:xfrm>
            <a:off x="339178" y="1816931"/>
            <a:ext cx="5210977" cy="3785419"/>
          </a:xfrm>
        </p:spPr>
        <p:txBody>
          <a:bodyPr>
            <a:normAutofit/>
          </a:bodyPr>
          <a:lstStyle/>
          <a:p>
            <a:r>
              <a:rPr lang="es-ES" sz="2400" noProof="0" dirty="0">
                <a:solidFill>
                  <a:srgbClr val="EBEBEB"/>
                </a:solidFill>
              </a:rPr>
              <a:t>Diferentes </a:t>
            </a:r>
            <a:r>
              <a:rPr lang="es-ES" sz="2400" b="1" noProof="0" dirty="0">
                <a:solidFill>
                  <a:srgbClr val="EBEBEB"/>
                </a:solidFill>
              </a:rPr>
              <a:t>memorias</a:t>
            </a:r>
            <a:r>
              <a:rPr lang="es-ES" sz="2400" dirty="0">
                <a:solidFill>
                  <a:srgbClr val="EBEBEB"/>
                </a:solidFill>
              </a:rPr>
              <a:t>:</a:t>
            </a:r>
            <a:r>
              <a:rPr lang="es-ES" sz="2400" noProof="0" dirty="0">
                <a:solidFill>
                  <a:srgbClr val="EBEBEB"/>
                </a:solidFill>
              </a:rPr>
              <a:t> registros, constante, </a:t>
            </a:r>
            <a:r>
              <a:rPr lang="es-ES" sz="2400" noProof="0" dirty="0" err="1">
                <a:solidFill>
                  <a:srgbClr val="EBEBEB"/>
                </a:solidFill>
              </a:rPr>
              <a:t>shared</a:t>
            </a:r>
            <a:r>
              <a:rPr lang="es-ES" sz="2400" noProof="0" dirty="0">
                <a:solidFill>
                  <a:srgbClr val="EBEBEB"/>
                </a:solidFill>
              </a:rPr>
              <a:t>, global</a:t>
            </a:r>
          </a:p>
          <a:p>
            <a:r>
              <a:rPr lang="es-ES" sz="2400" dirty="0">
                <a:solidFill>
                  <a:srgbClr val="EBEBEB"/>
                </a:solidFill>
              </a:rPr>
              <a:t>Coalescencia</a:t>
            </a:r>
          </a:p>
          <a:p>
            <a:r>
              <a:rPr lang="es-ES" sz="2400" noProof="0" dirty="0">
                <a:solidFill>
                  <a:srgbClr val="EBEBEB"/>
                </a:solidFill>
              </a:rPr>
              <a:t>Divergencia de </a:t>
            </a:r>
            <a:r>
              <a:rPr lang="es-ES" sz="2400" noProof="0" dirty="0" err="1">
                <a:solidFill>
                  <a:srgbClr val="EBEBEB"/>
                </a:solidFill>
              </a:rPr>
              <a:t>warps</a:t>
            </a:r>
            <a:endParaRPr lang="es-ES" sz="2400" noProof="0" dirty="0">
              <a:solidFill>
                <a:srgbClr val="EBEBEB"/>
              </a:solidFill>
            </a:endParaRPr>
          </a:p>
          <a:p>
            <a:r>
              <a:rPr lang="es-ES" sz="2400" dirty="0" err="1">
                <a:solidFill>
                  <a:srgbClr val="EBEBEB"/>
                </a:solidFill>
              </a:rPr>
              <a:t>Grid</a:t>
            </a:r>
            <a:r>
              <a:rPr lang="es-ES" sz="2400" dirty="0">
                <a:solidFill>
                  <a:srgbClr val="EBEBEB"/>
                </a:solidFill>
              </a:rPr>
              <a:t> contiene (</a:t>
            </a:r>
            <a:r>
              <a:rPr lang="es-ES" sz="2400" dirty="0" err="1">
                <a:solidFill>
                  <a:srgbClr val="EBEBEB"/>
                </a:solidFill>
              </a:rPr>
              <a:t>x,y,z</a:t>
            </a:r>
            <a:r>
              <a:rPr lang="es-ES" sz="2400" dirty="0">
                <a:solidFill>
                  <a:srgbClr val="EBEBEB"/>
                </a:solidFill>
              </a:rPr>
              <a:t>) bloques</a:t>
            </a:r>
          </a:p>
          <a:p>
            <a:r>
              <a:rPr lang="es-ES" sz="2400" noProof="0" dirty="0">
                <a:solidFill>
                  <a:srgbClr val="EBEBEB"/>
                </a:solidFill>
              </a:rPr>
              <a:t>Bloque contiene (</a:t>
            </a:r>
            <a:r>
              <a:rPr lang="es-ES" sz="2400" noProof="0" dirty="0" err="1">
                <a:solidFill>
                  <a:srgbClr val="EBEBEB"/>
                </a:solidFill>
              </a:rPr>
              <a:t>x,y,z</a:t>
            </a:r>
            <a:r>
              <a:rPr lang="es-ES" sz="2400" noProof="0" dirty="0">
                <a:solidFill>
                  <a:srgbClr val="EBEBEB"/>
                </a:solidFill>
              </a:rPr>
              <a:t>) hilos</a:t>
            </a:r>
          </a:p>
        </p:txBody>
      </p:sp>
      <p:sp>
        <p:nvSpPr>
          <p:cNvPr id="3" name="Marcador de número de diapositiva 2">
            <a:extLst>
              <a:ext uri="{FF2B5EF4-FFF2-40B4-BE49-F238E27FC236}">
                <a16:creationId xmlns:a16="http://schemas.microsoft.com/office/drawing/2014/main" id="{4C8BC861-31D7-3AF1-994A-8924AB237EC0}"/>
              </a:ext>
            </a:extLst>
          </p:cNvPr>
          <p:cNvSpPr>
            <a:spLocks noGrp="1"/>
          </p:cNvSpPr>
          <p:nvPr>
            <p:ph type="sldNum" sz="quarter" idx="12"/>
          </p:nvPr>
        </p:nvSpPr>
        <p:spPr/>
        <p:txBody>
          <a:bodyPr/>
          <a:lstStyle/>
          <a:p>
            <a:fld id="{E7DC7EB3-C4C6-4D12-A310-6984ACFEFAFF}" type="slidenum">
              <a:rPr lang="en-GB" smtClean="0"/>
              <a:t>34</a:t>
            </a:fld>
            <a:endParaRPr lang="en-GB"/>
          </a:p>
        </p:txBody>
      </p:sp>
      <p:grpSp>
        <p:nvGrpSpPr>
          <p:cNvPr id="8" name="Grupo 7">
            <a:extLst>
              <a:ext uri="{FF2B5EF4-FFF2-40B4-BE49-F238E27FC236}">
                <a16:creationId xmlns:a16="http://schemas.microsoft.com/office/drawing/2014/main" id="{56DA5A7E-5C08-9E6C-F8BF-8ACCF6A2B117}"/>
              </a:ext>
            </a:extLst>
          </p:cNvPr>
          <p:cNvGrpSpPr/>
          <p:nvPr/>
        </p:nvGrpSpPr>
        <p:grpSpPr>
          <a:xfrm>
            <a:off x="5548276" y="679572"/>
            <a:ext cx="4869920" cy="5782216"/>
            <a:chOff x="5548276" y="679572"/>
            <a:chExt cx="4869920" cy="5782216"/>
          </a:xfrm>
        </p:grpSpPr>
        <p:pic>
          <p:nvPicPr>
            <p:cNvPr id="4" name="Imagen 3">
              <a:extLst>
                <a:ext uri="{FF2B5EF4-FFF2-40B4-BE49-F238E27FC236}">
                  <a16:creationId xmlns:a16="http://schemas.microsoft.com/office/drawing/2014/main" id="{DD24F29B-D462-01BD-C0EF-604EBD8B0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8276" y="679572"/>
              <a:ext cx="4869920" cy="5389265"/>
            </a:xfrm>
            <a:prstGeom prst="rect">
              <a:avLst/>
            </a:prstGeom>
          </p:spPr>
        </p:pic>
        <p:sp>
          <p:nvSpPr>
            <p:cNvPr id="5" name="CuadroTexto 4">
              <a:extLst>
                <a:ext uri="{FF2B5EF4-FFF2-40B4-BE49-F238E27FC236}">
                  <a16:creationId xmlns:a16="http://schemas.microsoft.com/office/drawing/2014/main" id="{E35B919D-753C-11E0-B1C7-2A7A2C522806}"/>
                </a:ext>
              </a:extLst>
            </p:cNvPr>
            <p:cNvSpPr txBox="1"/>
            <p:nvPr/>
          </p:nvSpPr>
          <p:spPr>
            <a:xfrm>
              <a:off x="5635256" y="6092456"/>
              <a:ext cx="4717284" cy="369332"/>
            </a:xfrm>
            <a:prstGeom prst="rect">
              <a:avLst/>
            </a:prstGeom>
            <a:noFill/>
          </p:spPr>
          <p:txBody>
            <a:bodyPr wrap="square" rtlCol="0">
              <a:spAutoFit/>
            </a:bodyPr>
            <a:lstStyle/>
            <a:p>
              <a:pPr algn="ctr"/>
              <a:r>
                <a:rPr lang="es-ES" dirty="0"/>
                <a:t>Estructura de hilos CUDA (</a:t>
              </a:r>
              <a:r>
                <a:rPr lang="es-ES" dirty="0" err="1">
                  <a:hlinkClick r:id="rId4"/>
                </a:rPr>
                <a:t>damavis</a:t>
              </a:r>
              <a:r>
                <a:rPr lang="es-ES" dirty="0"/>
                <a:t>)</a:t>
              </a:r>
            </a:p>
          </p:txBody>
        </p:sp>
      </p:grpSp>
    </p:spTree>
    <p:extLst>
      <p:ext uri="{BB962C8B-B14F-4D97-AF65-F5344CB8AC3E}">
        <p14:creationId xmlns:p14="http://schemas.microsoft.com/office/powerpoint/2010/main" val="1285607475"/>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0</TotalTime>
  <Words>4851</Words>
  <Application>Microsoft Office PowerPoint</Application>
  <PresentationFormat>Panorámica</PresentationFormat>
  <Paragraphs>384</Paragraphs>
  <Slides>34</Slides>
  <Notes>33</Notes>
  <HiddenSlides>6</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Aptos</vt:lpstr>
      <vt:lpstr>Cambria Math</vt:lpstr>
      <vt:lpstr>Century Gothic</vt:lpstr>
      <vt:lpstr>Wingdings 3</vt:lpstr>
      <vt:lpstr>Ion</vt:lpstr>
      <vt:lpstr>Estudio e implementación paralela de métodos explícitos multipaso</vt:lpstr>
      <vt:lpstr>Índice</vt:lpstr>
      <vt:lpstr>Introducción</vt:lpstr>
      <vt:lpstr>Objetivos</vt:lpstr>
      <vt:lpstr>Métodos numéricos y EDOs</vt:lpstr>
      <vt:lpstr>Tipos de métodos numéricos</vt:lpstr>
      <vt:lpstr>Método de Euler</vt:lpstr>
      <vt:lpstr>Métodos de Runge-Kutta</vt:lpstr>
      <vt:lpstr>Métodos de Adams-Bashforth</vt:lpstr>
      <vt:lpstr>Métodos de Adams-Bashforth-Moulton</vt:lpstr>
      <vt:lpstr>Problemas de prueba</vt:lpstr>
      <vt:lpstr>Tecnologías de paralelismo</vt:lpstr>
      <vt:lpstr>OpenMP</vt:lpstr>
      <vt:lpstr>CUDA</vt:lpstr>
      <vt:lpstr>Implementación multihebra</vt:lpstr>
      <vt:lpstr>Implementación secuencial</vt:lpstr>
      <vt:lpstr>Paralelismo por operaciones</vt:lpstr>
      <vt:lpstr>Paralelismo por componentes</vt:lpstr>
      <vt:lpstr>Resultados experimentales</vt:lpstr>
      <vt:lpstr>Implementación para GPU</vt:lpstr>
      <vt:lpstr>Planteamiento</vt:lpstr>
      <vt:lpstr>Resultados experimentales</vt:lpstr>
      <vt:lpstr>Resultados experimentales</vt:lpstr>
      <vt:lpstr>CUDA Graphs</vt:lpstr>
      <vt:lpstr>Shuffles y grids multidimensionales</vt:lpstr>
      <vt:lpstr>Comparativa</vt:lpstr>
      <vt:lpstr>Conclusiones</vt:lpstr>
      <vt:lpstr>Conclusiones</vt:lpstr>
      <vt:lpstr>Planificación</vt:lpstr>
      <vt:lpstr>Análisis de costes</vt:lpstr>
      <vt:lpstr>Trabajo futuro</vt:lpstr>
      <vt:lpstr>Términos importantes</vt:lpstr>
      <vt:lpstr>Resultados experimentales</vt:lpstr>
      <vt:lpstr>CUDA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Pepe Navarro</dc:creator>
  <cp:lastModifiedBy>Pepe Navarro</cp:lastModifiedBy>
  <cp:revision>21</cp:revision>
  <dcterms:created xsi:type="dcterms:W3CDTF">2026-09-07T14:32:40Z</dcterms:created>
  <dcterms:modified xsi:type="dcterms:W3CDTF">2026-09-09T14:39:39Z</dcterms:modified>
</cp:coreProperties>
</file>